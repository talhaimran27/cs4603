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64"/>
  </p:notesMasterIdLst>
  <p:sldIdLst>
    <p:sldId id="256" r:id="rId5"/>
    <p:sldId id="257" r:id="rId6"/>
    <p:sldId id="278" r:id="rId7"/>
    <p:sldId id="259" r:id="rId8"/>
    <p:sldId id="260" r:id="rId9"/>
    <p:sldId id="261" r:id="rId10"/>
    <p:sldId id="262" r:id="rId11"/>
    <p:sldId id="263" r:id="rId12"/>
    <p:sldId id="264" r:id="rId13"/>
    <p:sldId id="265" r:id="rId14"/>
    <p:sldId id="270" r:id="rId15"/>
    <p:sldId id="266" r:id="rId16"/>
    <p:sldId id="267" r:id="rId17"/>
    <p:sldId id="275" r:id="rId18"/>
    <p:sldId id="268" r:id="rId19"/>
    <p:sldId id="271" r:id="rId20"/>
    <p:sldId id="272" r:id="rId21"/>
    <p:sldId id="269" r:id="rId22"/>
    <p:sldId id="309" r:id="rId23"/>
    <p:sldId id="276" r:id="rId24"/>
    <p:sldId id="279" r:id="rId25"/>
    <p:sldId id="282" r:id="rId26"/>
    <p:sldId id="299" r:id="rId27"/>
    <p:sldId id="300" r:id="rId28"/>
    <p:sldId id="302" r:id="rId29"/>
    <p:sldId id="303" r:id="rId30"/>
    <p:sldId id="304" r:id="rId31"/>
    <p:sldId id="301" r:id="rId32"/>
    <p:sldId id="312" r:id="rId33"/>
    <p:sldId id="314" r:id="rId34"/>
    <p:sldId id="313" r:id="rId35"/>
    <p:sldId id="311" r:id="rId36"/>
    <p:sldId id="315" r:id="rId37"/>
    <p:sldId id="316" r:id="rId38"/>
    <p:sldId id="317" r:id="rId39"/>
    <p:sldId id="318" r:id="rId40"/>
    <p:sldId id="319" r:id="rId41"/>
    <p:sldId id="306" r:id="rId42"/>
    <p:sldId id="307" r:id="rId43"/>
    <p:sldId id="323" r:id="rId44"/>
    <p:sldId id="324" r:id="rId45"/>
    <p:sldId id="325" r:id="rId46"/>
    <p:sldId id="322" r:id="rId47"/>
    <p:sldId id="308" r:id="rId48"/>
    <p:sldId id="283" r:id="rId49"/>
    <p:sldId id="286" r:id="rId50"/>
    <p:sldId id="321" r:id="rId51"/>
    <p:sldId id="287" r:id="rId52"/>
    <p:sldId id="289" r:id="rId53"/>
    <p:sldId id="290" r:id="rId54"/>
    <p:sldId id="294" r:id="rId55"/>
    <p:sldId id="296" r:id="rId56"/>
    <p:sldId id="297" r:id="rId57"/>
    <p:sldId id="292" r:id="rId58"/>
    <p:sldId id="293" r:id="rId59"/>
    <p:sldId id="291" r:id="rId60"/>
    <p:sldId id="298" r:id="rId61"/>
    <p:sldId id="284" r:id="rId62"/>
    <p:sldId id="288" r:id="rId63"/>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9F6666-6F64-4DA4-9420-1679018BF37A}">
          <p14:sldIdLst>
            <p14:sldId id="256"/>
            <p14:sldId id="257"/>
            <p14:sldId id="278"/>
            <p14:sldId id="259"/>
            <p14:sldId id="260"/>
            <p14:sldId id="261"/>
            <p14:sldId id="262"/>
            <p14:sldId id="263"/>
            <p14:sldId id="264"/>
            <p14:sldId id="265"/>
            <p14:sldId id="270"/>
            <p14:sldId id="266"/>
            <p14:sldId id="267"/>
            <p14:sldId id="275"/>
            <p14:sldId id="268"/>
            <p14:sldId id="271"/>
            <p14:sldId id="272"/>
            <p14:sldId id="269"/>
            <p14:sldId id="309"/>
            <p14:sldId id="276"/>
            <p14:sldId id="279"/>
            <p14:sldId id="282"/>
            <p14:sldId id="299"/>
            <p14:sldId id="300"/>
            <p14:sldId id="302"/>
            <p14:sldId id="303"/>
            <p14:sldId id="304"/>
            <p14:sldId id="301"/>
            <p14:sldId id="312"/>
            <p14:sldId id="314"/>
            <p14:sldId id="313"/>
            <p14:sldId id="311"/>
            <p14:sldId id="315"/>
            <p14:sldId id="316"/>
            <p14:sldId id="317"/>
            <p14:sldId id="318"/>
            <p14:sldId id="319"/>
            <p14:sldId id="306"/>
            <p14:sldId id="307"/>
            <p14:sldId id="323"/>
            <p14:sldId id="324"/>
            <p14:sldId id="325"/>
            <p14:sldId id="322"/>
            <p14:sldId id="308"/>
            <p14:sldId id="283"/>
            <p14:sldId id="286"/>
            <p14:sldId id="321"/>
            <p14:sldId id="287"/>
            <p14:sldId id="289"/>
            <p14:sldId id="290"/>
            <p14:sldId id="294"/>
            <p14:sldId id="296"/>
            <p14:sldId id="297"/>
            <p14:sldId id="292"/>
            <p14:sldId id="293"/>
            <p14:sldId id="291"/>
            <p14:sldId id="298"/>
            <p14:sldId id="284"/>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405" autoAdjust="0"/>
  </p:normalViewPr>
  <p:slideViewPr>
    <p:cSldViewPr snapToGrid="0">
      <p:cViewPr varScale="1">
        <p:scale>
          <a:sx n="135" d="100"/>
          <a:sy n="135" d="100"/>
        </p:scale>
        <p:origin x="12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microsoft.com/office/2016/11/relationships/changesInfo" Target="changesInfos/changesInfo1.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Khawaja" userId="3007506b-7ebc-404c-ab57-170804597705" providerId="ADAL" clId="{50CDB642-D7A3-4E73-A88A-E3E702E1330F}"/>
    <pc:docChg chg="undo custSel addSld delSld modSld sldOrd">
      <pc:chgData name="Ali Khawaja" userId="3007506b-7ebc-404c-ab57-170804597705" providerId="ADAL" clId="{50CDB642-D7A3-4E73-A88A-E3E702E1330F}" dt="2026-07-05T06:40:39.693" v="3215" actId="20577"/>
      <pc:docMkLst>
        <pc:docMk/>
      </pc:docMkLst>
      <pc:sldChg chg="modSp mod">
        <pc:chgData name="Ali Khawaja" userId="3007506b-7ebc-404c-ab57-170804597705" providerId="ADAL" clId="{50CDB642-D7A3-4E73-A88A-E3E702E1330F}" dt="2026-07-05T06:39:58.892" v="3214" actId="20577"/>
        <pc:sldMkLst>
          <pc:docMk/>
          <pc:sldMk cId="4265649163" sldId="256"/>
        </pc:sldMkLst>
        <pc:spChg chg="mod">
          <ac:chgData name="Ali Khawaja" userId="3007506b-7ebc-404c-ab57-170804597705" providerId="ADAL" clId="{50CDB642-D7A3-4E73-A88A-E3E702E1330F}" dt="2026-07-05T06:39:58.892" v="3214" actId="20577"/>
          <ac:spMkLst>
            <pc:docMk/>
            <pc:sldMk cId="4265649163" sldId="256"/>
            <ac:spMk id="3" creationId="{E4F8BC61-E415-71E1-3C9E-053F14EDC779}"/>
          </ac:spMkLst>
        </pc:spChg>
      </pc:sldChg>
      <pc:sldChg chg="modSp mod">
        <pc:chgData name="Ali Khawaja" userId="3007506b-7ebc-404c-ab57-170804597705" providerId="ADAL" clId="{50CDB642-D7A3-4E73-A88A-E3E702E1330F}" dt="2026-07-05T06:40:39.693" v="3215" actId="20577"/>
        <pc:sldMkLst>
          <pc:docMk/>
          <pc:sldMk cId="3605148863" sldId="278"/>
        </pc:sldMkLst>
        <pc:spChg chg="mod">
          <ac:chgData name="Ali Khawaja" userId="3007506b-7ebc-404c-ab57-170804597705" providerId="ADAL" clId="{50CDB642-D7A3-4E73-A88A-E3E702E1330F}" dt="2026-07-05T06:40:39.693" v="3215" actId="20577"/>
          <ac:spMkLst>
            <pc:docMk/>
            <pc:sldMk cId="3605148863" sldId="278"/>
            <ac:spMk id="3" creationId="{DEB364F1-CADF-4A63-9BB7-986D65907A4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F74A65-EA60-42B2-BC09-40F4B7FFF06D}" type="datetimeFigureOut">
              <a:rPr lang="en-US" smtClean="0"/>
              <a:t>7/5/2026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DC44F-4169-44A5-99EC-A1590678F4DB}" type="slidenum">
              <a:rPr lang="en-US" smtClean="0"/>
              <a:t>‹#›</a:t>
            </a:fld>
            <a:endParaRPr lang="en-US"/>
          </a:p>
        </p:txBody>
      </p:sp>
    </p:spTree>
    <p:extLst>
      <p:ext uri="{BB962C8B-B14F-4D97-AF65-F5344CB8AC3E}">
        <p14:creationId xmlns:p14="http://schemas.microsoft.com/office/powerpoint/2010/main" val="572069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cs.langchain.com/langsmith/agent-server"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cs.langchain.com/oss/python/langgraph/durable-execution#determinism-and-consistent-replay" TargetMode="External"/><Relationship Id="rId4" Type="http://schemas.openxmlformats.org/officeDocument/2006/relationships/hyperlink" Target="https://docs.langchain.com/oss/python/langgraph/functional-api#task" TargetMode="External"/><Relationship Id="rId5" Type="http://schemas.openxmlformats.org/officeDocument/2006/relationships/hyperlink" Target="https://docs.langchain.com/oss/python/langgraph/graph-api" TargetMode="External"/><Relationship Id="rId6" Type="http://schemas.openxmlformats.org/officeDocument/2006/relationships/hyperlink" Target="https://docs.langchain.com/oss/python/langgraph/functional-api"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Important distinction: LangGraph is the orchestration layer, NOT the agent logic itself. Think of it as the 'operating system' for agents.</a:t>
            </a:r>
          </a:p>
          <a:p/>
          <a:p>
            <a:r>
              <a:t>LangChain provides higher-level agent abstractions (like create_react_agent) that are built ON TOP of LangGraph. You can use LangGraph without LangChain — it's framework-agnostic.</a:t>
            </a:r>
          </a:p>
          <a:p/>
          <a:p>
            <a:r>
              <a:t>The official docs describe LangGraph as: 'A low-level orchestration framework and runtime for building, managing, and deploying long-running, stateful agents.' The emphasis on 'long-running' is critical — this isn't just for quick request-response; it's for agents that may run for minutes or hours, maintaining state throughout.</a:t>
            </a:r>
          </a:p>
        </p:txBody>
      </p:sp>
      <p:sp>
        <p:nvSpPr>
          <p:cNvPr id="4" name="Slide Number Placeholder 3"/>
          <p:cNvSpPr>
            <a:spLocks noGrp="1"/>
          </p:cNvSpPr>
          <p:nvPr>
            <p:ph type="sldNum" sz="quarter" idx="5"/>
          </p:nvPr>
        </p:nvSpPr>
        <p:spPr/>
        <p:txBody>
          <a:bodyPr/>
          <a:lstStyle/>
          <a:p>
            <a:fld id="{8C5DC44F-4169-44A5-99EC-A1590678F4DB}" type="slidenum">
              <a:rPr lang="en-US" smtClean="0"/>
              <a:t>3</a:t>
            </a:fld>
            <a:endParaRPr lang="en-US"/>
          </a:p>
        </p:txBody>
      </p:sp>
    </p:spTree>
    <p:extLst>
      <p:ext uri="{BB962C8B-B14F-4D97-AF65-F5344CB8AC3E}">
        <p14:creationId xmlns:p14="http://schemas.microsoft.com/office/powerpoint/2010/main" val="4154161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code example shows all three types of edges:</a:t>
            </a:r>
          </a:p>
          <a:p/>
          <a:p>
            <a:r>
              <a:t>1. builder.add_edge(START, 'node_1') — fixed edge from entry to node_1</a:t>
            </a:r>
          </a:p>
          <a:p>
            <a:r>
              <a:t>2. builder.add_conditional_edges('node_1', decide_mood) — conditional edge from node_1 </a:t>
            </a:r>
          </a:p>
          <a:p>
            <a:r>
              <a:t>3. builder.add_edge('node_2', END) and builder.add_edge('node_3', END) — fixed edges to exit</a:t>
            </a:r>
          </a:p>
          <a:p/>
          <a:p>
            <a:r>
              <a:t>The decide_mood function is the router — it returns either 'node_2' or 'node_3' based on some condition (e.g., random choice, state value, LLM decision).</a:t>
            </a:r>
          </a:p>
          <a:p/>
          <a:p>
            <a:r>
              <a:t>After compile(), we can visualize the graph with draw_mermaid_png() — this generates a diagram showing all nodes and edges, which is invaluable for debugging complex graphs.</a:t>
            </a:r>
          </a:p>
          <a:p/>
          <a:p>
            <a:r>
              <a:t>Demo: Run 2.simple_graph.ipynb</a:t>
            </a:r>
          </a:p>
        </p:txBody>
      </p:sp>
      <p:sp>
        <p:nvSpPr>
          <p:cNvPr id="4" name="Slide Number Placeholder 3"/>
          <p:cNvSpPr>
            <a:spLocks noGrp="1"/>
          </p:cNvSpPr>
          <p:nvPr>
            <p:ph type="sldNum" sz="quarter" idx="5"/>
          </p:nvPr>
        </p:nvSpPr>
        <p:spPr/>
        <p:txBody>
          <a:bodyPr/>
          <a:lstStyle/>
          <a:p>
            <a:fld id="{8C5DC44F-4169-44A5-99EC-A1590678F4DB}" type="slidenum">
              <a:rPr lang="en-US" smtClean="0"/>
              <a:t>9</a:t>
            </a:fld>
            <a:endParaRPr lang="en-US"/>
          </a:p>
        </p:txBody>
      </p:sp>
    </p:spTree>
    <p:extLst>
      <p:ext uri="{BB962C8B-B14F-4D97-AF65-F5344CB8AC3E}">
        <p14:creationId xmlns:p14="http://schemas.microsoft.com/office/powerpoint/2010/main" val="211756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diagram shows the key difference between a Router and an Agent:</a:t>
            </a:r>
          </a:p>
          <a:p/>
          <a:p>
            <a:r>
              <a:t>ROUTER: LLM → tools → END (one-shot tool use)</a:t>
            </a:r>
          </a:p>
          <a:p>
            <a:r>
              <a:t>AGENT: LLM → tools → LLM → tools → LLM → END (loop until done)</a:t>
            </a:r>
          </a:p>
          <a:p/>
          <a:p>
            <a:r>
              <a:t>The agent can call multiple tools in sequence, using each tool's result to decide what to do next. This is the ReAct (Reason-Act-Observe) pattern:</a:t>
            </a:r>
          </a:p>
          <a:p>
            <a:r>
              <a:t>- Reason: LLM decides what tool to call</a:t>
            </a:r>
          </a:p>
          <a:p>
            <a:r>
              <a:t>- Act: Tool executes</a:t>
            </a:r>
          </a:p>
          <a:p>
            <a:r>
              <a:t>- Observe: LLM sees the result and decides whether to call another tool or respond</a:t>
            </a:r>
          </a:p>
          <a:p/>
          <a:p>
            <a:r>
              <a:t>The loop continues until the LLM generates a response without tool calls.</a:t>
            </a:r>
          </a:p>
        </p:txBody>
      </p:sp>
      <p:sp>
        <p:nvSpPr>
          <p:cNvPr id="4" name="Slide Number Placeholder 3"/>
          <p:cNvSpPr>
            <a:spLocks noGrp="1"/>
          </p:cNvSpPr>
          <p:nvPr>
            <p:ph type="sldNum" sz="quarter" idx="5"/>
          </p:nvPr>
        </p:nvSpPr>
        <p:spPr/>
        <p:txBody>
          <a:bodyPr/>
          <a:lstStyle/>
          <a:p>
            <a:fld id="{8C5DC44F-4169-44A5-99EC-A1590678F4DB}" type="slidenum">
              <a:rPr lang="en-US" smtClean="0"/>
              <a:t>19</a:t>
            </a:fld>
            <a:endParaRPr lang="en-US"/>
          </a:p>
        </p:txBody>
      </p:sp>
    </p:spTree>
    <p:extLst>
      <p:ext uri="{BB962C8B-B14F-4D97-AF65-F5344CB8AC3E}">
        <p14:creationId xmlns:p14="http://schemas.microsoft.com/office/powerpoint/2010/main" val="527011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Per-invocation vs Per-thread in practice:</a:t>
            </a:r>
          </a:p>
          <a:p/>
          <a:p>
            <a:r>
              <a:t>PER-INVOCATION (most common):</a:t>
            </a:r>
          </a:p>
          <a:p>
            <a:r>
              <a:t>config = {'configurable': {'thread_id': '1'}}</a:t>
            </a:r>
          </a:p>
          <a:p>
            <a:r>
              <a:t>response1 = agent.invoke({'messages': [{'content': 'Tell me about apples'}]}, config)</a:t>
            </a:r>
          </a:p>
          <a:p>
            <a:r>
              <a:t># Subagent processes 4 messages</a:t>
            </a:r>
          </a:p>
          <a:p>
            <a:r>
              <a:t>response2 = agent.invoke({'messages': [{'content': 'Tell me about bananas'}]}, config)</a:t>
            </a:r>
          </a:p>
          <a:p>
            <a:r>
              <a:t># Subagent starts FRESH — still 4 messages, not 8</a:t>
            </a:r>
          </a:p>
          <a:p/>
          <a:p>
            <a:r>
              <a:t>PER-THREAD (accumulating):</a:t>
            </a:r>
          </a:p>
          <a:p>
            <a:r>
              <a:t># Same setup but subgraph compiled with checkpointer=True</a:t>
            </a:r>
          </a:p>
          <a:p>
            <a:r>
              <a:t>response1 = agent.invoke(...)  # 4 messages</a:t>
            </a:r>
          </a:p>
          <a:p>
            <a:r>
              <a:t>response2 = agent.invoke(...)  # 8 messages (remembers apples!)</a:t>
            </a:r>
          </a:p>
          <a:p/>
          <a:p>
            <a:r>
              <a:t>Choose per-invocation unless you specifically need the subagent to remember previous interactions.</a:t>
            </a:r>
          </a:p>
        </p:txBody>
      </p:sp>
      <p:sp>
        <p:nvSpPr>
          <p:cNvPr id="4" name="Slide Number Placeholder 3"/>
          <p:cNvSpPr>
            <a:spLocks noGrp="1"/>
          </p:cNvSpPr>
          <p:nvPr>
            <p:ph type="sldNum" sz="quarter" idx="5"/>
          </p:nvPr>
        </p:nvSpPr>
        <p:spPr/>
        <p:txBody>
          <a:bodyPr/>
          <a:lstStyle/>
          <a:p>
            <a:fld id="{8C5DC44F-4169-44A5-99EC-A1590678F4DB}" type="slidenum">
              <a:rPr lang="en-US" smtClean="0"/>
              <a:t>31</a:t>
            </a:fld>
            <a:endParaRPr lang="en-US"/>
          </a:p>
        </p:txBody>
      </p:sp>
    </p:spTree>
    <p:extLst>
      <p:ext uri="{BB962C8B-B14F-4D97-AF65-F5344CB8AC3E}">
        <p14:creationId xmlns:p14="http://schemas.microsoft.com/office/powerpoint/2010/main" val="114908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LangGraph's persistence layer has two complementary systems:</a:t>
            </a:r>
          </a:p>
          <a:p/>
          <a:p>
            <a:r>
              <a:t>1. CHECKPOINTERS (short-term, thread-scoped):</a:t>
            </a:r>
          </a:p>
          <a:p>
            <a:r>
              <a:t>   - Save graph state snapshots at every super-step</a:t>
            </a:r>
          </a:p>
          <a:p>
            <a:r>
              <a:t>   - Organized by thread_id — each conversation is a thread</a:t>
            </a:r>
          </a:p>
          <a:p>
            <a:r>
              <a:t>   - Enable: memory, fault-tolerance, HITL, time-travel</a:t>
            </a:r>
          </a:p>
          <a:p/>
          <a:p>
            <a:r>
              <a:t>2. STORES (long-term, cross-thread):</a:t>
            </a:r>
          </a:p>
          <a:p>
            <a:r>
              <a:t>   - Persistent key-value store that survives across threads</a:t>
            </a:r>
          </a:p>
          <a:p>
            <a:r>
              <a:t>   - For user profiles, preferences, learned patterns</a:t>
            </a:r>
          </a:p>
          <a:p>
            <a:r>
              <a:t>   - Namespace-based organization for multi-tenant isolation</a:t>
            </a:r>
          </a:p>
          <a:p/>
          <a:p>
            <a:r>
              <a:t>A checkpoint is created at each 'super-step' — one tick of the graph where all scheduled nodes for that step run. For a simple graph START→A→B→END, there are 4 checkpoints.</a:t>
            </a:r>
          </a:p>
          <a:p/>
          <a:p>
            <a:r>
              <a:t>Demo: 13.persistence_and_tasks.ipynb</a:t>
            </a:r>
          </a:p>
        </p:txBody>
      </p:sp>
      <p:sp>
        <p:nvSpPr>
          <p:cNvPr id="4" name="Slide Number Placeholder 3"/>
          <p:cNvSpPr>
            <a:spLocks noGrp="1"/>
          </p:cNvSpPr>
          <p:nvPr>
            <p:ph type="sldNum" sz="quarter" idx="5"/>
          </p:nvPr>
        </p:nvSpPr>
        <p:spPr/>
        <p:txBody>
          <a:bodyPr/>
          <a:lstStyle/>
          <a:p>
            <a:fld id="{8C5DC44F-4169-44A5-99EC-A1590678F4DB}" type="slidenum">
              <a:rPr lang="en-US" smtClean="0"/>
              <a:t>38</a:t>
            </a:fld>
            <a:endParaRPr lang="en-US"/>
          </a:p>
        </p:txBody>
      </p:sp>
    </p:spTree>
    <p:extLst>
      <p:ext uri="{BB962C8B-B14F-4D97-AF65-F5344CB8AC3E}">
        <p14:creationId xmlns:p14="http://schemas.microsoft.com/office/powerpoint/2010/main" val="1582939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Durable execution is what makes LangGraph production-ready. If a process crashes mid-run, it can resume from the last saved checkpoint instead of starting over.</a:t>
            </a:r>
          </a:p>
          <a:p/>
          <a:p>
            <a:r>
              <a:t>Three requirements for durable execution:</a:t>
            </a:r>
          </a:p>
          <a:p>
            <a:r>
              <a:t>1. A checkpointer (saves progress)</a:t>
            </a:r>
          </a:p>
          <a:p>
            <a:r>
              <a:t>2. A thread_id (identifies the execution instance)</a:t>
            </a:r>
          </a:p>
          <a:p>
            <a:r>
              <a:t>3. Tasks wrapping non-deterministic work (prevents replay issues)</a:t>
            </a:r>
          </a:p>
          <a:p/>
          <a:p>
            <a:r>
              <a:t>Without durability, a crash during a 10-step agent workflow means re-running ALL steps. With durability, we resume from step 8 (or wherever we crashed).</a:t>
            </a:r>
          </a:p>
          <a:p/>
          <a:p>
            <a:r>
              <a:t>This is especially important for:</a:t>
            </a:r>
          </a:p>
          <a:p>
            <a:r>
              <a:t>- Long-running research agents</a:t>
            </a:r>
          </a:p>
          <a:p>
            <a:r>
              <a:t>- Multi-step data processing pipelines</a:t>
            </a:r>
          </a:p>
          <a:p>
            <a:r>
              <a:t>- Workflows with expensive API calls</a:t>
            </a:r>
          </a:p>
          <a:p>
            <a:r>
              <a:t>- Any agent that interacts with external systems</a:t>
            </a:r>
          </a:p>
        </p:txBody>
      </p:sp>
      <p:sp>
        <p:nvSpPr>
          <p:cNvPr id="4" name="Slide Number Placeholder 3"/>
          <p:cNvSpPr>
            <a:spLocks noGrp="1"/>
          </p:cNvSpPr>
          <p:nvPr>
            <p:ph type="sldNum" sz="quarter" idx="5"/>
          </p:nvPr>
        </p:nvSpPr>
        <p:spPr/>
        <p:txBody>
          <a:bodyPr/>
          <a:lstStyle/>
          <a:p>
            <a:fld id="{8C5DC44F-4169-44A5-99EC-A1590678F4DB}" type="slidenum">
              <a:rPr lang="en-US" smtClean="0"/>
              <a:t>39</a:t>
            </a:fld>
            <a:endParaRPr lang="en-US"/>
          </a:p>
        </p:txBody>
      </p:sp>
    </p:spTree>
    <p:extLst>
      <p:ext uri="{BB962C8B-B14F-4D97-AF65-F5344CB8AC3E}">
        <p14:creationId xmlns:p14="http://schemas.microsoft.com/office/powerpoint/2010/main" val="1212830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Compare the two versions:</a:t>
            </a:r>
          </a:p>
          <a:p/>
          <a:p>
            <a:r>
              <a:t>WITHOUT @task:</a:t>
            </a:r>
          </a:p>
          <a:p>
            <a:r>
              <a:t>def call_api(state):</a:t>
            </a:r>
          </a:p>
          <a:p>
            <a:r>
              <a:t>    result = requests.get(state['url']).text[:100]</a:t>
            </a:r>
          </a:p>
          <a:p>
            <a:r>
              <a:t>    return {'result': result}</a:t>
            </a:r>
          </a:p>
          <a:p>
            <a:r>
              <a:t># Problem: Replayed → makes another HTTP request</a:t>
            </a:r>
          </a:p>
          <a:p/>
          <a:p>
            <a:r>
              <a:t>WITH @task:</a:t>
            </a:r>
          </a:p>
          <a:p>
            <a:r>
              <a:t>@task</a:t>
            </a:r>
          </a:p>
          <a:p>
            <a:r>
              <a:t>def _make_request(url):</a:t>
            </a:r>
          </a:p>
          <a:p>
            <a:r>
              <a:t>    return requests.get(url).text[:100]</a:t>
            </a:r>
          </a:p>
          <a:p/>
          <a:p>
            <a:r>
              <a:t>def call_api(state):</a:t>
            </a:r>
          </a:p>
          <a:p>
            <a:r>
              <a:t>    result = _make_request(state['url'])</a:t>
            </a:r>
          </a:p>
          <a:p>
            <a:r>
              <a:t>    return {'result': result}</a:t>
            </a:r>
          </a:p>
          <a:p>
            <a:r>
              <a:t># Correct: Replayed → returns cached result</a:t>
            </a:r>
          </a:p>
          <a:p/>
          <a:p>
            <a:r>
              <a:t>The @task function:</a:t>
            </a:r>
          </a:p>
          <a:p>
            <a:r>
              <a:t>1. First run: Executes normally, caches result in checkpoint</a:t>
            </a:r>
          </a:p>
          <a:p>
            <a:r>
              <a:t>2. Replay: Returns cached result without executing</a:t>
            </a:r>
          </a:p>
          <a:p>
            <a:r>
              <a:t>3. Different inputs: Executes again (cache is per-input)</a:t>
            </a:r>
          </a:p>
          <a:p/>
          <a:p>
            <a:r>
              <a:t>Note: @task is from the Functional API (langgraph.func.task). It works inside StateGraph nodes.</a:t>
            </a:r>
          </a:p>
        </p:txBody>
      </p:sp>
      <p:sp>
        <p:nvSpPr>
          <p:cNvPr id="4" name="Slide Number Placeholder 3"/>
          <p:cNvSpPr>
            <a:spLocks noGrp="1"/>
          </p:cNvSpPr>
          <p:nvPr>
            <p:ph type="sldNum" sz="quarter" idx="5"/>
          </p:nvPr>
        </p:nvSpPr>
        <p:spPr/>
        <p:txBody>
          <a:bodyPr/>
          <a:lstStyle/>
          <a:p>
            <a:fld id="{8C5DC44F-4169-44A5-99EC-A1590678F4DB}" type="slidenum">
              <a:rPr lang="en-US" smtClean="0"/>
              <a:t>44</a:t>
            </a:fld>
            <a:endParaRPr lang="en-US"/>
          </a:p>
        </p:txBody>
      </p:sp>
    </p:spTree>
    <p:extLst>
      <p:ext uri="{BB962C8B-B14F-4D97-AF65-F5344CB8AC3E}">
        <p14:creationId xmlns:p14="http://schemas.microsoft.com/office/powerpoint/2010/main" val="2124128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LangSmith Deployment (also called LangGraph Platform) is the production runtime for LangGraph agents.</a:t>
            </a:r>
          </a:p>
          <a:p/>
          <a:p>
            <a:r>
              <a:t>Key value proposition: You write graph code, and LangSmith handles:</a:t>
            </a:r>
          </a:p>
          <a:p>
            <a:r>
              <a:t>- State management (PostgreSQL-backed persistence)</a:t>
            </a:r>
          </a:p>
          <a:p>
            <a:r>
              <a:t>- Scaling (horizontal scaling of agent workloads)</a:t>
            </a:r>
          </a:p>
          <a:p>
            <a:r>
              <a:t>- Monitoring (traces, metrics, debugging)</a:t>
            </a:r>
          </a:p>
          <a:p>
            <a:r>
              <a:t>- API endpoints (REST API for your agents)</a:t>
            </a:r>
          </a:p>
          <a:p>
            <a:r>
              <a:t>- Persistence layer (checkpointing, stores)</a:t>
            </a:r>
          </a:p>
          <a:p/>
          <a:p>
            <a:r>
              <a:t>It's framework-agnostic — you can deploy LangGraph graphs OR other agent frameworks. The deployment layer doesn't care about your graph internals.</a:t>
            </a:r>
          </a:p>
          <a:p/>
          <a:p>
            <a:r>
              <a:t>Three deployment options:</a:t>
            </a:r>
          </a:p>
          <a:p>
            <a:r>
              <a:t>1. Cloud (hosted by LangChain): Fastest to set up</a:t>
            </a:r>
          </a:p>
          <a:p>
            <a:r>
              <a:t>2. Self-hosted: Deploy on your own infrastructure</a:t>
            </a:r>
          </a:p>
          <a:p>
            <a:r>
              <a:t>3. Hybrid: LangChain manages orchestration, you manage compute</a:t>
            </a:r>
          </a:p>
        </p:txBody>
      </p:sp>
      <p:sp>
        <p:nvSpPr>
          <p:cNvPr id="4" name="Slide Number Placeholder 3"/>
          <p:cNvSpPr>
            <a:spLocks noGrp="1"/>
          </p:cNvSpPr>
          <p:nvPr>
            <p:ph type="sldNum" sz="quarter" idx="5"/>
          </p:nvPr>
        </p:nvSpPr>
        <p:spPr/>
        <p:txBody>
          <a:bodyPr/>
          <a:lstStyle/>
          <a:p>
            <a:fld id="{8C5DC44F-4169-44A5-99EC-A1590678F4DB}" type="slidenum">
              <a:rPr lang="en-US" smtClean="0"/>
              <a:t>46</a:t>
            </a:fld>
            <a:endParaRPr lang="en-US"/>
          </a:p>
        </p:txBody>
      </p:sp>
    </p:spTree>
    <p:extLst>
      <p:ext uri="{BB962C8B-B14F-4D97-AF65-F5344CB8AC3E}">
        <p14:creationId xmlns:p14="http://schemas.microsoft.com/office/powerpoint/2010/main" val="1683109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Assistants decouple configuration from code. Your graph defines the STRUCTURE (nodes, edges, logic), and assistants define the BEHAVIOR (which model to use, what prompt, which tools).</a:t>
            </a:r>
          </a:p>
          <a:p/>
          <a:p>
            <a:r>
              <a:t>This means one graph can power multiple assistants:</a:t>
            </a:r>
          </a:p>
          <a:p>
            <a:r>
              <a:t>- 'Blog Writer' assistant: Uses GPT-4, creative writing prompt, web search tool</a:t>
            </a:r>
          </a:p>
          <a:p>
            <a:r>
              <a:t>- 'Technical Writer' assistant: Uses GPT-4, technical prompt, documentation search tool</a:t>
            </a:r>
          </a:p>
          <a:p>
            <a:r>
              <a:t>- 'Summarizer' assistant: Uses GPT-3.5 (cheaper), summarization prompt, no tools</a:t>
            </a:r>
          </a:p>
          <a:p/>
          <a:p>
            <a:r>
              <a:t>All three use the same graph architecture but produce very different behavior.</a:t>
            </a:r>
          </a:p>
        </p:txBody>
      </p:sp>
      <p:sp>
        <p:nvSpPr>
          <p:cNvPr id="4" name="Slide Number Placeholder 3"/>
          <p:cNvSpPr>
            <a:spLocks noGrp="1"/>
          </p:cNvSpPr>
          <p:nvPr>
            <p:ph type="sldNum" sz="quarter" idx="5"/>
          </p:nvPr>
        </p:nvSpPr>
        <p:spPr/>
        <p:txBody>
          <a:bodyPr/>
          <a:lstStyle/>
          <a:p>
            <a:fld id="{8C5DC44F-4169-44A5-99EC-A1590678F4DB}" type="slidenum">
              <a:rPr lang="en-US" smtClean="0"/>
              <a:t>49</a:t>
            </a:fld>
            <a:endParaRPr lang="en-US"/>
          </a:p>
        </p:txBody>
      </p:sp>
    </p:spTree>
    <p:extLst>
      <p:ext uri="{BB962C8B-B14F-4D97-AF65-F5344CB8AC3E}">
        <p14:creationId xmlns:p14="http://schemas.microsoft.com/office/powerpoint/2010/main" val="1263715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Creating and using an assistant via the SDK:</a:t>
            </a:r>
          </a:p>
          <a:p/>
          <a:p>
            <a:r>
              <a:t># Create an assistant with specific configuration</a:t>
            </a:r>
          </a:p>
          <a:p>
            <a:r>
              <a:t>assistant = await client.assistants.create(</a:t>
            </a:r>
          </a:p>
          <a:p>
            <a:r>
              <a:t>    'writing_agent',  # graph name from langgraph.json</a:t>
            </a:r>
          </a:p>
          <a:p>
            <a:r>
              <a:t>    context={'model_name': 'openai'},</a:t>
            </a:r>
          </a:p>
          <a:p>
            <a:r>
              <a:t>    name='Blog Writer'</a:t>
            </a:r>
          </a:p>
          <a:p>
            <a:r>
              <a:t>)</a:t>
            </a:r>
          </a:p>
          <a:p/>
          <a:p>
            <a:r>
              <a:t># Use the assistant to process a request</a:t>
            </a:r>
          </a:p>
          <a:p>
            <a:r>
              <a:t>result = await client.runs.wait(</a:t>
            </a:r>
          </a:p>
          <a:p>
            <a:r>
              <a:t>    thread['thread_id'],</a:t>
            </a:r>
          </a:p>
          <a:p>
            <a:r>
              <a:t>    assistant['assistant_id'],</a:t>
            </a:r>
          </a:p>
          <a:p>
            <a:r>
              <a:t>    input={'messages': [...]},</a:t>
            </a:r>
          </a:p>
          <a:p>
            <a:r>
              <a:t>)</a:t>
            </a:r>
          </a:p>
          <a:p/>
          <a:p>
            <a:r>
              <a:t>The assistant_id is what you pass to runs — it tells the server WHICH configuration to use when running the graph.</a:t>
            </a:r>
          </a:p>
        </p:txBody>
      </p:sp>
      <p:sp>
        <p:nvSpPr>
          <p:cNvPr id="4" name="Slide Number Placeholder 3"/>
          <p:cNvSpPr>
            <a:spLocks noGrp="1"/>
          </p:cNvSpPr>
          <p:nvPr>
            <p:ph type="sldNum" sz="quarter" idx="5"/>
          </p:nvPr>
        </p:nvSpPr>
        <p:spPr/>
        <p:txBody>
          <a:bodyPr/>
          <a:lstStyle/>
          <a:p>
            <a:fld id="{8C5DC44F-4169-44A5-99EC-A1590678F4DB}" type="slidenum">
              <a:rPr lang="en-US" smtClean="0"/>
              <a:t>50</a:t>
            </a:fld>
            <a:endParaRPr lang="en-US"/>
          </a:p>
        </p:txBody>
      </p:sp>
    </p:spTree>
    <p:extLst>
      <p:ext uri="{BB962C8B-B14F-4D97-AF65-F5344CB8AC3E}">
        <p14:creationId xmlns:p14="http://schemas.microsoft.com/office/powerpoint/2010/main" val="1804845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langgraph.json is the entry point for LangGraph CLI and Agent Server. It defines:</a:t>
            </a:r>
          </a:p>
          <a:p/>
          <a:p>
            <a:r>
              <a:t>1. GRAPHS: Which Python modules contain your graph definitions, and what variable names to look for</a:t>
            </a:r>
          </a:p>
          <a:p>
            <a:r>
              <a:t>2. DEPENDENCIES: What packages to install in the server environment</a:t>
            </a:r>
          </a:p>
          <a:p>
            <a:r>
              <a:t>3. ENV: Path to your .env file for secrets</a:t>
            </a:r>
          </a:p>
          <a:p/>
          <a:p>
            <a:r>
              <a:t>Think of it like a Dockerfile + docker-compose.yml for your agent application. It tells the runtime everything it needs to build and start your agent server.</a:t>
            </a:r>
          </a:p>
          <a:p/>
          <a:p>
            <a:r>
              <a:t>At runtime, the LangGraph CLI reads this file, installs dependencies, imports your graphs, and starts an Agent Server that exposes REST API endpoints for runs, threads, assistants, and store operations.</a:t>
            </a:r>
          </a:p>
        </p:txBody>
      </p:sp>
      <p:sp>
        <p:nvSpPr>
          <p:cNvPr id="4" name="Slide Number Placeholder 3"/>
          <p:cNvSpPr>
            <a:spLocks noGrp="1"/>
          </p:cNvSpPr>
          <p:nvPr>
            <p:ph type="sldNum" sz="quarter" idx="5"/>
          </p:nvPr>
        </p:nvSpPr>
        <p:spPr/>
        <p:txBody>
          <a:bodyPr/>
          <a:lstStyle/>
          <a:p>
            <a:fld id="{8C5DC44F-4169-44A5-99EC-A1590678F4DB}" type="slidenum">
              <a:rPr lang="en-US" smtClean="0"/>
              <a:t>54</a:t>
            </a:fld>
            <a:endParaRPr lang="en-US"/>
          </a:p>
        </p:txBody>
      </p:sp>
    </p:spTree>
    <p:extLst>
      <p:ext uri="{BB962C8B-B14F-4D97-AF65-F5344CB8AC3E}">
        <p14:creationId xmlns:p14="http://schemas.microsoft.com/office/powerpoint/2010/main" val="341695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Example langgraph.json with multiple graphs:</a:t>
            </a:r>
          </a:p>
          <a:p/>
          <a:p>
            <a:r>
              <a:t>{</a:t>
            </a:r>
          </a:p>
          <a:p>
            <a:r>
              <a:t>    'dependencies': ['./', 'langchain_openai'],</a:t>
            </a:r>
          </a:p>
          <a:p>
            <a:r>
              <a:t>    'graphs': {</a:t>
            </a:r>
          </a:p>
          <a:p>
            <a:r>
              <a:t>        'research': './my_agent/research.py:graph',</a:t>
            </a:r>
          </a:p>
          <a:p>
            <a:r>
              <a:t>        'sql': './my_agent/sql.py:graph',</a:t>
            </a:r>
          </a:p>
          <a:p>
            <a:r>
              <a:t>        'writer': './my_agent/writer.py:graph',</a:t>
            </a:r>
          </a:p>
          <a:p>
            <a:r>
              <a:t>        'supervisor': './my_agent/supervisor.py:graph'</a:t>
            </a:r>
          </a:p>
          <a:p>
            <a:r>
              <a:t>    },</a:t>
            </a:r>
          </a:p>
          <a:p>
            <a:r>
              <a:t>    'env': './.env'</a:t>
            </a:r>
          </a:p>
          <a:p>
            <a:r>
              <a:t>}</a:t>
            </a:r>
          </a:p>
          <a:p/>
          <a:p>
            <a:r>
              <a:t>Each graph entry maps a name to a Python module:variable path. The CLI imports the module and accesses the variable to get the compiled graph.</a:t>
            </a:r>
          </a:p>
          <a:p/>
          <a:p>
            <a:r>
              <a:t>This multi-graph setup is common in production — you deploy several related agents in one server, each accessible by its graph name.</a:t>
            </a:r>
          </a:p>
        </p:txBody>
      </p:sp>
      <p:sp>
        <p:nvSpPr>
          <p:cNvPr id="4" name="Slide Number Placeholder 3"/>
          <p:cNvSpPr>
            <a:spLocks noGrp="1"/>
          </p:cNvSpPr>
          <p:nvPr>
            <p:ph type="sldNum" sz="quarter" idx="5"/>
          </p:nvPr>
        </p:nvSpPr>
        <p:spPr/>
        <p:txBody>
          <a:bodyPr/>
          <a:lstStyle/>
          <a:p>
            <a:fld id="{8C5DC44F-4169-44A5-99EC-A1590678F4DB}" type="slidenum">
              <a:rPr lang="en-US" smtClean="0"/>
              <a:t>55</a:t>
            </a:fld>
            <a:endParaRPr lang="en-US"/>
          </a:p>
        </p:txBody>
      </p:sp>
    </p:spTree>
    <p:extLst>
      <p:ext uri="{BB962C8B-B14F-4D97-AF65-F5344CB8AC3E}">
        <p14:creationId xmlns:p14="http://schemas.microsoft.com/office/powerpoint/2010/main" val="4118131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The local development server gives you:</a:t>
            </a:r>
          </a:p>
          <a:p/>
          <a:p>
            <a:r>
              <a:t>1. API at http://127.0.0.1:2024 — REST endpoints for all operations</a:t>
            </a:r>
          </a:p>
          <a:p>
            <a:r>
              <a:t>2. Studio UI via LangSmith — Visual interface for testing your agents</a:t>
            </a:r>
          </a:p>
          <a:p>
            <a:r>
              <a:t>3. API Docs at /docs — OpenAPI documentation for all endpoints</a:t>
            </a:r>
          </a:p>
          <a:p/>
          <a:p>
            <a:r>
              <a:t>Key features for development:</a:t>
            </a:r>
          </a:p>
          <a:p>
            <a:r>
              <a:t>- Test your agents interactively through the Studio UI</a:t>
            </a:r>
          </a:p>
          <a:p>
            <a:r>
              <a:t>- Inspect thread state and checkpoint history</a:t>
            </a:r>
          </a:p>
          <a:p>
            <a:r>
              <a:t>- Test streaming behavior</a:t>
            </a:r>
          </a:p>
          <a:p>
            <a:r>
              <a:t>- Debug agent decision-making</a:t>
            </a:r>
          </a:p>
          <a:p/>
          <a:p>
            <a:r>
              <a:t>Remember: This is an IN-MEMORY server. Data is lost on restart. For persistent development, use langgraph up with Docker.</a:t>
            </a:r>
          </a:p>
          <a:p/>
          <a:p>
            <a:r>
              <a:t>Demo: 11b.deployment.ipynb</a:t>
            </a:r>
          </a:p>
        </p:txBody>
      </p:sp>
      <p:sp>
        <p:nvSpPr>
          <p:cNvPr id="4" name="Slide Number Placeholder 3"/>
          <p:cNvSpPr>
            <a:spLocks noGrp="1"/>
          </p:cNvSpPr>
          <p:nvPr>
            <p:ph type="sldNum" sz="quarter" idx="5"/>
          </p:nvPr>
        </p:nvSpPr>
        <p:spPr/>
        <p:txBody>
          <a:bodyPr/>
          <a:lstStyle/>
          <a:p>
            <a:fld id="{8C5DC44F-4169-44A5-99EC-A1590678F4DB}" type="slidenum">
              <a:rPr lang="en-US" smtClean="0"/>
              <a:t>59</a:t>
            </a:fld>
            <a:endParaRPr lang="en-US"/>
          </a:p>
        </p:txBody>
      </p:sp>
    </p:spTree>
    <p:extLst>
      <p:ext uri="{BB962C8B-B14F-4D97-AF65-F5344CB8AC3E}">
        <p14:creationId xmlns:p14="http://schemas.microsoft.com/office/powerpoint/2010/main" val="2783841309"/>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LangGraph module. LangGraph is an open-source framework built by LangChain Inc that models AI workflows as graphs rather than chains. This is a fundamental shift in how we think about building AI applications — instead of linear pipelines, we now have stateful, multi-step, multi-actor architectures.</a:t>
            </a:r>
          </a:p>
          <a:p/>
          <a:p>
            <a:r>
              <a:t>Key message: LangGraph gives us the low-level control to build sophisticated agent systems that can loop, branch, persist state, and coordinate multiple actors.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LangGraph was purpose-built for cognitive architectures — systems where an LLM doesn't just answer questions but reasons, plans, and acts over multiple steps.</a:t>
            </a:r>
          </a:p>
          <a:p/>
          <a:p>
            <a:r>
              <a:t>The four pillars:</a:t>
            </a:r>
          </a:p>
          <a:p>
            <a:r>
              <a:t>- Multiactor: Multiple LLMs or agents collaborating</a:t>
            </a:r>
          </a:p>
          <a:p>
            <a:r>
              <a:t>- Multistep: Complex workflows that require several rounds of processing  </a:t>
            </a:r>
          </a:p>
          <a:p>
            <a:r>
              <a:t>- Stateful: State persists across steps, enabling memory and context</a:t>
            </a:r>
          </a:p>
          <a:p>
            <a:r>
              <a:t>- Cognitive architectures: Systems that can reason, plan, and adapt</a:t>
            </a:r>
          </a:p>
          <a:p/>
          <a:p>
            <a:r>
              <a:t>The key insight is that a chain (A→B→C) is too rigid for real agent workflows. Agents need to loop back, branch conditionally, and make decisions at runtime. A graph naturally models this.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multiactor concept is central to modern AI systems. Just as a software team has frontend developers, backend developers, and QA engineers, an AI system can have specialist agents.</a:t>
            </a:r>
          </a:p>
          <a:p/>
          <a:p>
            <a:r>
              <a:t>Each actor brings different capabilities:</a:t>
            </a:r>
          </a:p>
          <a:p>
            <a:r>
              <a:t>- Different prompts optimize for different tasks</a:t>
            </a:r>
          </a:p>
          <a:p>
            <a:r>
              <a:t>- Different tools give access to different data sources</a:t>
            </a:r>
          </a:p>
          <a:p>
            <a:r>
              <a:t>- Different models can be used (e.g., a fast model for routing, a powerful model for reasoning)</a:t>
            </a:r>
          </a:p>
          <a:p>
            <a:r>
              <a:t>- MCP servers provide standardized tool interfaces</a:t>
            </a:r>
          </a:p>
          <a:p/>
          <a:p>
            <a:r>
              <a:t>The power comes from composition — a research agent paired with a writing agent can produce better content than either alone. This is the foundation for the multi-agent patterns we'll explore later.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three foundational concepts that LangGraph provides for coordination:</a:t>
            </a:r>
          </a:p>
          <a:p/>
          <a:p>
            <a:r>
              <a:t>1. GRAPH STRUCTURE: Nodes are the actors (Python functions), edges define how work flows between them. This is a Directed Acyclic Graph (DAG) — though with conditional edges, we can create cycles (loops).</a:t>
            </a:r>
          </a:p>
          <a:p/>
          <a:p>
            <a:r>
              <a:t>2. CENTRAL STATE: All actors read from and write to a single shared state object. This eliminates the need for message-passing between actors. The state is the 'single source of truth.'</a:t>
            </a:r>
          </a:p>
          <a:p/>
          <a:p>
            <a:r>
              <a:t>3. PERSISTENCE: By snapshotting state at each step, we get:</a:t>
            </a:r>
          </a:p>
          <a:p>
            <a:r>
              <a:t>   - Error recovery: Resume from last good state</a:t>
            </a:r>
          </a:p>
          <a:p>
            <a:r>
              <a:t>   - Human-in-the-loop: Pause, let a human review, then continue</a:t>
            </a:r>
          </a:p>
          <a:p>
            <a:r>
              <a:t>   - Time-travel debugging: Inspect or replay any past state</a:t>
            </a:r>
          </a:p>
          <a:p/>
          <a:p>
            <a:r>
              <a:t>These three capabilities — graph structure, central state, and persistence — are what make LangGraph uniquely powerful for building production agent systems.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formalize the three building blocks:</a:t>
            </a:r>
          </a:p>
          <a:p/>
          <a:p>
            <a:r>
              <a:t>STATE: A TypedDict (or Pydantic model) that defines the shape of data flowing through the graph. Every node receives the current state and returns updates to it. State is NOT replaced — it's merged according to reducer functions.</a:t>
            </a:r>
          </a:p>
          <a:p/>
          <a:p>
            <a:r>
              <a:t>NODES: Pure Python functions. They take state as input and return a dict of state updates. Nodes can call LLMs, execute tools, perform calculations — anything. The key insight: nodes are NOT limited to LLM calls.</a:t>
            </a:r>
          </a:p>
          <a:p/>
          <a:p>
            <a:r>
              <a:t>EDGES: Two types:</a:t>
            </a:r>
          </a:p>
          <a:p>
            <a:r>
              <a:t>- Fixed edges: Deterministic flow (always go from A to B)</a:t>
            </a:r>
          </a:p>
          <a:p>
            <a:r>
              <a:t>- Conditional edges: A Python function examines the current state and returns which node to visit next. This is what enables branching and looping.</a:t>
            </a:r>
          </a:p>
          <a:p/>
          <a:p>
            <a:r>
              <a:t>The DAG structure means there's always a clear entry point (START) and exit point (END), with well-defined paths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transition slide into our first hands-on demo. We'll build a simple graph step by step to see how all three building blocks (state, nodes, edges) come together.</a:t>
            </a:r>
          </a:p>
          <a:p/>
          <a:p>
            <a:r>
              <a:t>Refer to notebook: 1.hello_world.ipynb — this shows the absolute minimal graph with two nodes connected by a fixed edge.</a:t>
            </a:r>
          </a:p>
          <a:p/>
          <a:p>
            <a:r>
              <a:t>Then we'll move to 2.simple_graph.ipynb which adds conditional edges for branching logic.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the code patterns:</a:t>
            </a:r>
          </a:p>
          <a:p/>
          <a:p>
            <a:r>
              <a:t>StateGraph(State): Creates a graph builder with a specific state schema. The State is a TypedDict that defines what data the graph tracks.</a:t>
            </a:r>
          </a:p>
          <a:p/>
          <a:p>
            <a:r>
              <a:t>add_node('name', function): Registers a Python function as a node. The function receives the full state and returns a dict of updates.</a:t>
            </a:r>
          </a:p>
          <a:p/>
          <a:p>
            <a:r>
              <a:t>add_edge(A, B): Fixed edge — always go from A to B after A completes.</a:t>
            </a:r>
          </a:p>
          <a:p/>
          <a:p>
            <a:r>
              <a:t>add_conditional_edges(A, router_fn): The router function examines state and returns a string naming the next node. This is how we implement branching logic.</a:t>
            </a:r>
          </a:p>
          <a:p/>
          <a:p>
            <a:r>
              <a:t>START and END are special sentinel nodes — START is the entry point, END terminates the graph.</a:t>
            </a:r>
          </a:p>
          <a:p/>
          <a:p>
            <a:r>
              <a:t>compile(): Converts the builder into a runnable graph. This is when LangGraph validates the structure (no orphan nodes, no missing edges, etc.).</a:t>
            </a:r>
          </a:p>
          <a:p/>
          <a:p>
            <a:r>
              <a:t>The compiled graph has .invoke() for single execution and .stream() for streaming output.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edges are what make LangGraph powerful beyond simple chains. The routing function:</a:t>
            </a:r>
          </a:p>
          <a:p>
            <a:r>
              <a:t>- Receives the current state as input</a:t>
            </a:r>
          </a:p>
          <a:p>
            <a:r>
              <a:t>- Returns a string matching a node name</a:t>
            </a:r>
          </a:p>
          <a:p>
            <a:r>
              <a:t>- Can contain ANY Python logic (if/else, LLM calls, ML models, etc.)</a:t>
            </a:r>
          </a:p>
          <a:p/>
          <a:p>
            <a:r>
              <a:t>Type hints matter: Use Literal['node_a', 'node_b'] as the return type — this helps LangGraph validate the graph structure at compile time and enables accurate visualization.</a:t>
            </a:r>
          </a:p>
          <a:p/>
          <a:p>
            <a:r>
              <a:t>In practice, conditional edges are used for:</a:t>
            </a:r>
          </a:p>
          <a:p>
            <a:r>
              <a:t>- Tool routing (did the LLM request a tool call?)</a:t>
            </a:r>
          </a:p>
          <a:p>
            <a:r>
              <a:t>- Classification (which specialist should handle this?)</a:t>
            </a:r>
          </a:p>
          <a:p>
            <a:r>
              <a:t>- Loop control (should we continue or stop?)</a:t>
            </a:r>
          </a:p>
          <a:p>
            <a:r>
              <a:t>- Error handling (retry or fail gracefully?)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notebooks:</a:t>
            </a:r>
          </a:p>
          <a:p>
            <a:r>
              <a:t>- 1.hello_world.ipynb: Minimal 2-node linear graph</a:t>
            </a:r>
          </a:p>
          <a:p>
            <a:r>
              <a:t>- 2.simple_graph.ipynb: Graph with conditional branching</a:t>
            </a:r>
          </a:p>
          <a:p/>
          <a:p>
            <a:r>
              <a:t>Key points to demonstrate:</a:t>
            </a:r>
          </a:p>
          <a:p>
            <a:r>
              <a:t>1. Define a TypedDict state with a 'graph_state' string field</a:t>
            </a:r>
          </a:p>
          <a:p>
            <a:r>
              <a:t>2. Create three node functions that modify the state</a:t>
            </a:r>
          </a:p>
          <a:p>
            <a:r>
              <a:t>3. Wire them with fixed edges and one conditional edge</a:t>
            </a:r>
          </a:p>
          <a:p>
            <a:r>
              <a:t>4. Compile and visualize</a:t>
            </a:r>
          </a:p>
          <a:p>
            <a:r>
              <a:t>5. Run multiple times to show the conditional edge taking different paths</a:t>
            </a:r>
          </a:p>
          <a:p/>
          <a:p>
            <a:r>
              <a:t>Ask students: What happens if the router function returns a node name that doesn't exist? (Answer: LangGraph raises an error at compile time if you use Literal types, or at runtime otherwise.)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Reducers solve a fundamental problem: what happens when multiple nodes try to update the same state key?</a:t>
            </a:r>
          </a:p>
          <a:p/>
          <a:p>
            <a:r>
              <a:t>Without a reducer, the default behavior is LAST WRITE WINS — if Branch A writes messages=[msgA] and Branch B writes messages=[msgB], the final state depends on which branch finishes last. This is non-deterministic and usually wrong.</a:t>
            </a:r>
          </a:p>
          <a:p/>
          <a:p>
            <a:r>
              <a:t>A reducer provides a deterministic merge function. The most common example is add_messages, which APPENDS new messages to the existing list rather than replacing it.</a:t>
            </a:r>
          </a:p>
          <a:p/>
          <a:p>
            <a:r>
              <a:t>Think of reducers like database conflict resolution:</a:t>
            </a:r>
          </a:p>
          <a:p>
            <a:r>
              <a:t>- add_messages → append (list concatenation)</a:t>
            </a:r>
          </a:p>
          <a:p>
            <a:r>
              <a:t>- operator.add → sum (for counters)</a:t>
            </a:r>
          </a:p>
          <a:p>
            <a:r>
              <a:t>- Custom → any merge logic you need</a:t>
            </a:r>
          </a:p>
          <a:p/>
          <a:p>
            <a:r>
              <a:t>Reducers are defined in the state schema using Python's Annotated type: Annotated[list, add_messages] tells LangGraph to use the add_messages reducer for that field.</a:t>
            </a:r>
          </a:p>
          <a:p/>
          <a:p>
            <a:r>
              <a:t>This is crucial for agent architectures where the message history must grow over time, not be overwritten.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reducer patterns from the official docs:</a:t>
            </a:r>
          </a:p>
          <a:p/>
          <a:p>
            <a:r>
              <a:t>1. LIST APPEND (add_messages): Most common. Concatenates message lists. Also handles message updates by ID — if a new message has the same ID as an existing one, it REPLACES that specific message rather than duplicating it.</a:t>
            </a:r>
          </a:p>
          <a:p/>
          <a:p>
            <a:r>
              <a:t>2. LAST WRITE WINS: Default behavior (no reducer). Good for fields like 'current_step' or 'final_answer' where you only want the latest value.</a:t>
            </a:r>
          </a:p>
          <a:p/>
          <a:p>
            <a:r>
              <a:t>3. DICT MERGE: For structured metadata that accumulates from different sources.</a:t>
            </a:r>
          </a:p>
          <a:p/>
          <a:p>
            <a:r>
              <a:t>4. SUM/MAX/MIN: For aggregating metrics across parallel branches.</a:t>
            </a:r>
          </a:p>
          <a:p/>
          <a:p>
            <a:r>
              <a:t>The add_messages reducer is special — it's not just append. From the docs: 'add_messages merges two lists of messages, updating existing messages by ID.' This means you can correct a previous message by sending an update with the same ID.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3.graph_with_reducers.ipynb</a:t>
            </a:r>
          </a:p>
          <a:p/>
          <a:p>
            <a:r>
              <a:t>Key demonstrations:</a:t>
            </a:r>
          </a:p>
          <a:p>
            <a:r>
              <a:t>1. Show messages WITHOUT a reducer — state gets overwritten</a:t>
            </a:r>
          </a:p>
          <a:p>
            <a:r>
              <a:t>2. Show messages WITH add_messages reducer — state accumulates</a:t>
            </a:r>
          </a:p>
          <a:p>
            <a:r>
              <a:t>3. Show MessagesState as a convenience class that includes the reducer</a:t>
            </a:r>
          </a:p>
          <a:p/>
          <a:p>
            <a:r>
              <a:t>MessagesState is defined as:</a:t>
            </a:r>
          </a:p>
          <a:p>
            <a:r>
              <a:t>class MessagesState(TypedDict):</a:t>
            </a:r>
          </a:p>
          <a:p>
            <a:r>
              <a:t>    messages: Annotated[list[AnyMessage], add_messages]</a:t>
            </a:r>
          </a:p>
          <a:p/>
          <a:p>
            <a:r>
              <a:t>This is the most common state schema for conversational agents. Almost every notebook from here on will use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critical behaviors to understand:</a:t>
            </a:r>
          </a:p>
          <a:p/>
          <a:p>
            <a:r>
              <a:t>WITHOUT REDUCER:</a:t>
            </a:r>
          </a:p>
          <a:p>
            <a:r>
              <a:t>state = {'messages': [msg1, msg2]}</a:t>
            </a:r>
          </a:p>
          <a:p>
            <a:r>
              <a:t>node returns {'messages': [msg3]}</a:t>
            </a:r>
          </a:p>
          <a:p>
            <a:r>
              <a:t>result = {'messages': [msg3]}  # LOST msg1 and msg2!</a:t>
            </a:r>
          </a:p>
          <a:p/>
          <a:p>
            <a:r>
              <a:t>WITH add_messages REDUCER:</a:t>
            </a:r>
          </a:p>
          <a:p>
            <a:r>
              <a:t>state = {'messages': [msg1, msg2]}</a:t>
            </a:r>
          </a:p>
          <a:p>
            <a:r>
              <a:t>node returns {'messages': [msg3]}</a:t>
            </a:r>
          </a:p>
          <a:p>
            <a:r>
              <a:t>result = {'messages': [msg1, msg2, msg3]}  # All preserved!</a:t>
            </a:r>
          </a:p>
          <a:p/>
          <a:p>
            <a:r>
              <a:t>This is why MessagesState exists — to prevent the very common bug of accidentally losing conversation history. Every conversational agent should use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MessagesState is a pre-built state class from LangGraph that wraps the most common pattern: a growing list of messages with the add_messages reducer.</a:t>
            </a:r>
          </a:p>
          <a:p/>
          <a:p>
            <a:r>
              <a:t>Under the hood, add_messages does more than simple append:</a:t>
            </a:r>
          </a:p>
          <a:p>
            <a:r>
              <a:t>1. If a new message has the same ID as an existing message, it UPDATES that message in-place</a:t>
            </a:r>
          </a:p>
          <a:p>
            <a:r>
              <a:t>2. If a new message has a different ID (or no ID), it APPENDS to the list</a:t>
            </a:r>
          </a:p>
          <a:p>
            <a:r>
              <a:t>3. Special handling for RemoveMessage — allows deleting messages from history</a:t>
            </a:r>
          </a:p>
          <a:p/>
          <a:p>
            <a:r>
              <a:t>This update-by-ID behavior is important for:</a:t>
            </a:r>
          </a:p>
          <a:p>
            <a:r>
              <a:t>- Tool execution: The ToolMessage replaces a pending tool call</a:t>
            </a:r>
          </a:p>
          <a:p>
            <a:r>
              <a:t>- Message editing: Correcting or summarizing previous messages</a:t>
            </a:r>
          </a:p>
          <a:p>
            <a:r>
              <a:t>- Memory management: Removing old messages to fit context windows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tools_condition is a prebuilt routing function that implements the most common conditional edge pattern in agent architectures.</a:t>
            </a:r>
          </a:p>
          <a:p/>
          <a:p>
            <a:r>
              <a:t>How it works:</a:t>
            </a:r>
          </a:p>
          <a:p>
            <a:r>
              <a:t>1. Looks at the LAST message in the state</a:t>
            </a:r>
          </a:p>
          <a:p>
            <a:r>
              <a:t>2. If it's an AIMessage with tool_calls → returns 'tools' (route to tool execution)</a:t>
            </a:r>
          </a:p>
          <a:p>
            <a:r>
              <a:t>3. If it's an AIMessage without tool_calls → returns '__end__' (agent is done)</a:t>
            </a:r>
          </a:p>
          <a:p/>
          <a:p>
            <a:r>
              <a:t>This replaces 5-10 lines of custom routing code with a single import:</a:t>
            </a:r>
          </a:p>
          <a:p>
            <a:r>
              <a:t>from langgraph.prebuilt import tools_condition</a:t>
            </a:r>
          </a:p>
          <a:p/>
          <a:p>
            <a:r>
              <a:t>Similarly, ToolNode is a prebuilt node that:</a:t>
            </a:r>
          </a:p>
          <a:p>
            <a:r>
              <a:t>1. Reads tool calls from the last AIMessage</a:t>
            </a:r>
          </a:p>
          <a:p>
            <a:r>
              <a:t>2. Executes each tool</a:t>
            </a:r>
          </a:p>
          <a:p>
            <a:r>
              <a:t>3. Returns ToolMessage results to the state</a:t>
            </a:r>
          </a:p>
          <a:p/>
          <a:p>
            <a:r>
              <a:t>Together, tools_condition + ToolNode implement the complete tool execution loop with zero custom code.</a:t>
            </a:r>
          </a:p>
          <a:p/>
          <a:p>
            <a:r>
              <a:t>Demo: 4.tool_calling.ipynb</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5.router.ipynb</a:t>
            </a:r>
          </a:p>
          <a:p/>
          <a:p>
            <a:r>
              <a:t>The router pattern is the first step toward building agents. The graph structure is:</a:t>
            </a:r>
          </a:p>
          <a:p/>
          <a:p>
            <a:r>
              <a:t>START → tool_calling_llm → conditional_edge</a:t>
            </a:r>
          </a:p>
          <a:p>
            <a:r>
              <a:t>  ├→ tools → END (if tool call)</a:t>
            </a:r>
          </a:p>
          <a:p>
            <a:r>
              <a:t>  └→ END (if no tool call)</a:t>
            </a:r>
          </a:p>
          <a:p/>
          <a:p>
            <a:r>
              <a:t>Key insight: The LLM DECIDES the control flow. It either:</a:t>
            </a:r>
          </a:p>
          <a:p>
            <a:r>
              <a:t>- Calls a tool (and we route to the tools node)</a:t>
            </a:r>
          </a:p>
          <a:p>
            <a:r>
              <a:t>- Responds directly (and we end)</a:t>
            </a:r>
          </a:p>
          <a:p/>
          <a:p>
            <a:r>
              <a:t>This is fundamentally different from traditional programming where control flow is determined by the developer. Here, the LLM is the router.</a:t>
            </a:r>
          </a:p>
          <a:p/>
          <a:p>
            <a:r>
              <a:t>Compare this to the Agent pattern (next slide) where after tool execution, we route BACK to the LLM instead of ending.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architecture in detail:</a:t>
            </a:r>
          </a:p>
          <a:p/>
          <a:p>
            <a:r>
              <a:t>1. ASSISTANT NODE: Contains the LLM with bound tools. On each invocation, it receives the full message history (including previous tool results) and decides whether to call another tool or respond.</a:t>
            </a:r>
          </a:p>
          <a:p/>
          <a:p>
            <a:r>
              <a:t>2. TOOLS NODE: Executes whatever tools the LLM requested. Returns ToolMessage results back to the state.</a:t>
            </a:r>
          </a:p>
          <a:p/>
          <a:p>
            <a:r>
              <a:t>3. CONDITIONAL EDGE: Uses tools_condition to check if the LLM's response contains tool calls. If yes → route to tools. If no → end.</a:t>
            </a:r>
          </a:p>
          <a:p/>
          <a:p>
            <a:r>
              <a:t>4. LOOP EDGE: After tools execute, we route BACK to the assistant node. This is what creates the agent loop.</a:t>
            </a:r>
          </a:p>
          <a:p/>
          <a:p>
            <a:r>
              <a:t>The critical edge is tools → assistant. Without this, we'd have a router (one-shot). With it, we have an agent (multi-step reasoning).</a:t>
            </a:r>
          </a:p>
          <a:p/>
          <a:p>
            <a:r>
              <a:t>Demo: 6.agent.ipynb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6.agent.ipynb</a:t>
            </a:r>
          </a:p>
          <a:p/>
          <a:p>
            <a:r>
              <a:t>Set up three tools: add, multiply, divide</a:t>
            </a:r>
          </a:p>
          <a:p>
            <a:r>
              <a:t>System message: 'You are a helpful assistant tasked with performing arithmetic.'</a:t>
            </a:r>
          </a:p>
          <a:p/>
          <a:p>
            <a:r>
              <a:t>Test with: 'Add 3 and 4, then multiply by 2, then divide by 5'</a:t>
            </a:r>
          </a:p>
          <a:p/>
          <a:p>
            <a:r>
              <a:t>Walk through the execution trace:</a:t>
            </a:r>
          </a:p>
          <a:p>
            <a:r>
              <a:t>1. LLM calls add(3, 4) → 7</a:t>
            </a:r>
          </a:p>
          <a:p>
            <a:r>
              <a:t>2. LLM sees 7, calls multiply(7, 2) → 14</a:t>
            </a:r>
          </a:p>
          <a:p>
            <a:r>
              <a:t>3. LLM sees 14, calls divide(14, 5) → 2.8</a:t>
            </a:r>
          </a:p>
          <a:p>
            <a:r>
              <a:t>4. LLM sees 2.8, responds: 'The result is 2.8'</a:t>
            </a:r>
          </a:p>
          <a:p/>
          <a:p>
            <a:r>
              <a:t>Each step shows Reason→Act→Observe in action. The agent autonomously decides to stop after getting the final result.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7.agent-memory.ipynb</a:t>
            </a:r>
          </a:p>
          <a:p/>
          <a:p>
            <a:r>
              <a:t>This notebook demonstrates the problem and solution:</a:t>
            </a:r>
          </a:p>
          <a:p/>
          <a:p>
            <a:r>
              <a:t>WITHOUT MEMORY (no checkpointer):</a:t>
            </a:r>
          </a:p>
          <a:p>
            <a:r>
              <a:t>- Turn 1: 'Add 3 and 4' → 7</a:t>
            </a:r>
          </a:p>
          <a:p>
            <a:r>
              <a:t>- Turn 2: 'Multiply that by 2' → ERROR: 'that' has no referent</a:t>
            </a:r>
          </a:p>
          <a:p/>
          <a:p>
            <a:r>
              <a:t>WITH MEMORY (MemorySaver checkpointer):</a:t>
            </a:r>
          </a:p>
          <a:p>
            <a:r>
              <a:t>- Turn 1: 'Add 3 and 4' → 7</a:t>
            </a:r>
          </a:p>
          <a:p>
            <a:r>
              <a:t>- Turn 2: 'Multiply that by 2' → 14 (knows 'that' = 7)</a:t>
            </a:r>
          </a:p>
          <a:p/>
          <a:p>
            <a:r>
              <a:t>The checkpointer saves the full message history at each step, indexed by thread_id. When we invoke with the same thread_id, the agent picks up the conversation where it left off.</a:t>
            </a:r>
          </a:p>
          <a:p/>
          <a:p>
            <a:r>
              <a:t>config = {'configurable': {'thread_id': '1'}}</a:t>
            </a:r>
          </a:p>
          <a:p/>
          <a:p>
            <a:r>
              <a:t>Different thread_ids = different conversations. Same thread_id = continued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Subgraphs are a powerful composition primitive that enables modular, scalable agent architectures.</a:t>
            </a:r>
          </a:p>
          <a:p/>
          <a:p>
            <a:r>
              <a:t>From the official docs: 'A subgraph is a graph that is used as a node in another graph.'</a:t>
            </a:r>
          </a:p>
          <a:p/>
          <a:p>
            <a:r>
              <a:t>Three key use cases:</a:t>
            </a:r>
          </a:p>
          <a:p>
            <a:r>
              <a:t>1. Multi-agent systems — each agent is a subgraph with its own logic</a:t>
            </a:r>
          </a:p>
          <a:p>
            <a:r>
              <a:t>2. Reusable components — define once, use in multiple parent graphs</a:t>
            </a:r>
          </a:p>
          <a:p>
            <a:r>
              <a:t>3. Distributed development — teams can work on subgraphs independently as long as the interface (input/output schemas) is respected</a:t>
            </a:r>
          </a:p>
          <a:p/>
          <a:p>
            <a:r>
              <a:t>Think of subgraphs like function calls in programming — they encapsulate complexity behind a clean interface.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 A compiled graph IS a callable — it takes state in and returns state out, just like any node function. This means you can use it anywhere a node function is expected.</a:t>
            </a:r>
          </a:p>
          <a:p/>
          <a:p>
            <a:r>
              <a:t>Two patterns for using subgraphs:</a:t>
            </a:r>
          </a:p>
          <a:p>
            <a:r>
              <a:t>1. ADD AS NODE: When parent and subgraph share state keys, pass the compiled subgraph directly to add_node(). No wrapper needed — state flows through automatically.</a:t>
            </a:r>
          </a:p>
          <a:p/>
          <a:p>
            <a:r>
              <a:t>2. CALL INSIDE A NODE: When schemas differ, write a wrapper function that maps parent state to subgraph input and maps subgraph output back to parent state.</a:t>
            </a:r>
          </a:p>
          <a:p/>
          <a:p>
            <a:r>
              <a:t>The choice depends entirely on whether the state schemas are compatible. Shared keys → pattern 1 (simpler). Different keys → pattern 2 (more explicit control).</a:t>
            </a:r>
          </a:p>
          <a:p/>
          <a:p>
            <a:r>
              <a:t>Demo: 11.subgraphs.ipynb</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comparison:</a:t>
            </a:r>
          </a:p>
          <a:p/>
          <a:p>
            <a:r>
              <a:t>PATTERN 1 - Shared State (add_node):</a:t>
            </a:r>
          </a:p>
          <a:p>
            <a:r>
              <a:t>- Simplest approach</a:t>
            </a:r>
          </a:p>
          <a:p>
            <a:r>
              <a:t>- Subgraph reads/writes parent's state channels directly</a:t>
            </a:r>
          </a:p>
          <a:p>
            <a:r>
              <a:t>- Private subgraph keys are invisible to parent</a:t>
            </a:r>
          </a:p>
          <a:p>
            <a:r>
              <a:t>- Example: Both use MessagesState with a 'messages' key</a:t>
            </a:r>
          </a:p>
          <a:p/>
          <a:p>
            <a:r>
              <a:t>PATTERN 2 - Different State (invoke inside node):</a:t>
            </a:r>
          </a:p>
          <a:p>
            <a:r>
              <a:t>- Full control over state transformation</a:t>
            </a:r>
          </a:p>
          <a:p>
            <a:r>
              <a:t>- Common in multi-agent systems where each agent has private state</a:t>
            </a:r>
          </a:p>
          <a:p>
            <a:r>
              <a:t>- Wrapper function handles mapping: parent → subgraph → parent</a:t>
            </a:r>
          </a:p>
          <a:p>
            <a:r>
              <a:t>- Example: Parent has 'foo', subgraph has 'bar' — wrapper maps between them</a:t>
            </a:r>
          </a:p>
          <a:p/>
          <a:p>
            <a:r>
              <a:t>The docs note: 'This is common when you want to keep a private message history for each agent in a multi-agent system.'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pattern for calling a subgraph inside a node:</a:t>
            </a:r>
          </a:p>
          <a:p/>
          <a:p>
            <a:r>
              <a:t>def call_subgraph(state: State):</a:t>
            </a:r>
          </a:p>
          <a:p>
            <a:r>
              <a:t>    # 1. Transform parent state to subgraph state</a:t>
            </a:r>
          </a:p>
          <a:p>
            <a:r>
              <a:t>    subgraph_output = subgraph.invoke({'bar': state['foo']})</a:t>
            </a:r>
          </a:p>
          <a:p>
            <a:r>
              <a:t>    # 2. Transform subgraph output back to parent state</a:t>
            </a:r>
          </a:p>
          <a:p>
            <a:r>
              <a:t>    return {'foo': subgraph_output['bar']}</a:t>
            </a:r>
          </a:p>
          <a:p/>
          <a:p>
            <a:r>
              <a:t>Key points:</a:t>
            </a:r>
          </a:p>
          <a:p>
            <a:r>
              <a:t>- The wrapper function IS the node — it's what you pass to add_node()</a:t>
            </a:r>
          </a:p>
          <a:p>
            <a:r>
              <a:t>- State transformation happens in YOUR code — you have full control</a:t>
            </a:r>
          </a:p>
          <a:p>
            <a:r>
              <a:t>- The subgraph sees ONLY the state you explicitly pass to it</a:t>
            </a:r>
          </a:p>
          <a:p>
            <a:r>
              <a:t>- Parent sees ONLY what you explicitly return</a:t>
            </a:r>
          </a:p>
          <a:p/>
          <a:p>
            <a:r>
              <a:t>This strict isolation is a feature, not a limitation. It prevents state leakage between agents and enables clean interfaces.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pattern — when state schemas are compatible:</a:t>
            </a:r>
          </a:p>
          <a:p/>
          <a:p>
            <a:r>
              <a:t>builder.add_node('analysis', subgraph)  # That's it!</a:t>
            </a:r>
          </a:p>
          <a:p/>
          <a:p>
            <a:r>
              <a:t>LangGraph automatically:</a:t>
            </a:r>
          </a:p>
          <a:p>
            <a:r>
              <a:t>- Routes shared state keys to the subgraph</a:t>
            </a:r>
          </a:p>
          <a:p>
            <a:r>
              <a:t>- Keeps private subgraph keys (keys not in parent schema) invisible to parent</a:t>
            </a:r>
          </a:p>
          <a:p>
            <a:r>
              <a:t>- Returns shared key updates back to parent state</a:t>
            </a:r>
          </a:p>
          <a:p/>
          <a:p>
            <a:r>
              <a:t>Example: If both parent and subgraph have 'messages' and 'foo', but subgraph also has 'bar':</a:t>
            </a:r>
          </a:p>
          <a:p>
            <a:r>
              <a:t>- Parent passes messages and foo to subgraph</a:t>
            </a:r>
          </a:p>
          <a:p>
            <a:r>
              <a:t>- Subgraph can use bar internally</a:t>
            </a:r>
          </a:p>
          <a:p>
            <a:r>
              <a:t>- Parent receives updated messages and foo back</a:t>
            </a:r>
          </a:p>
          <a:p>
            <a:r>
              <a:t>- Parent never sees bar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code:</a:t>
            </a:r>
          </a:p>
          <a:p/>
          <a:p>
            <a:r>
              <a:t>1. Build the subgraph with its own StateGraph, nodes, edges</a:t>
            </a:r>
          </a:p>
          <a:p>
            <a:r>
              <a:t>2. Compile the subgraph: subgraph = sub_builder.compile()</a:t>
            </a:r>
          </a:p>
          <a:p>
            <a:r>
              <a:t>3. Add compiled subgraph as a node: main_builder.add_node('analysis', subgraph)</a:t>
            </a:r>
          </a:p>
          <a:p>
            <a:r>
              <a:t>4. Connect with edges: main_builder.add_edge(START, 'analysis')</a:t>
            </a:r>
          </a:p>
          <a:p/>
          <a:p>
            <a:r>
              <a:t>The subgraph runs as a complete graph internally — its own nodes execute in order, its own conditional edges are evaluated. From the parent's perspective, it's just a single node that happens to have internal structure.</a:t>
            </a:r>
          </a:p>
          <a:p/>
          <a:p>
            <a:r>
              <a:t>This is powerful for organizing complex workflows — each major capability can be its own subgraph with clear boundaries.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Subgraph persistence is inherited from the parent graph's checkpointer. Three modes:</a:t>
            </a:r>
          </a:p>
          <a:p/>
          <a:p>
            <a:r>
              <a:t>1. PER-INVOCATION (default, checkpointer=None):</a:t>
            </a:r>
          </a:p>
          <a:p>
            <a:r>
              <a:t>- Each call starts fresh — no memory of previous calls</a:t>
            </a:r>
          </a:p>
          <a:p>
            <a:r>
              <a:t>- Still supports interrupts and durable execution within a single call</a:t>
            </a:r>
          </a:p>
          <a:p>
            <a:r>
              <a:t>- Best for stateless subagents: 'look up this order', 'summarize this document'</a:t>
            </a:r>
          </a:p>
          <a:p/>
          <a:p>
            <a:r>
              <a:t>2. PER-THREAD (checkpointer=True):</a:t>
            </a:r>
          </a:p>
          <a:p>
            <a:r>
              <a:t>- State accumulates across calls on the same thread</a:t>
            </a:r>
          </a:p>
          <a:p>
            <a:r>
              <a:t>- Good for subagents that need context: research assistants, coding assistants</a:t>
            </a:r>
          </a:p>
          <a:p>
            <a:r>
              <a:t>- Warning: Does NOT support parallel tool calls to the same subgraph</a:t>
            </a:r>
          </a:p>
          <a:p/>
          <a:p>
            <a:r>
              <a:t>3. STATELESS (checkpointer=False):</a:t>
            </a:r>
          </a:p>
          <a:p>
            <a:r>
              <a:t>- No checkpointing at all — runs like a plain function</a:t>
            </a:r>
          </a:p>
          <a:p>
            <a:r>
              <a:t>- No interrupts, no durable execution</a:t>
            </a:r>
          </a:p>
          <a:p>
            <a:r>
              <a:t>- Use when you want raw speed and don't need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capabilities enabled by checkpointer inheritance:</a:t>
            </a:r>
          </a:p>
          <a:p/>
          <a:p>
            <a:r>
              <a:t>1. INTERRUPTS: A subgraph can call interrupt() and pause execution. The parent graph also pauses. When you resume the parent, the subgraph continues from where it stopped. This enables human-in-the-loop at any depth.</a:t>
            </a:r>
          </a:p>
          <a:p/>
          <a:p>
            <a:r>
              <a:t>2. DURABLE EXECUTION: If the process crashes mid-run, LangGraph can resume from the last checkpoint. The subgraph doesn't need to re-run completed steps — their results are already saved.</a:t>
            </a:r>
          </a:p>
          <a:p/>
          <a:p>
            <a:r>
              <a:t>3. STATE INSPECTION: Using get_state(config, subgraphs=True), you can inspect the internal state of subgraphs. This is invaluable for debugging multi-agent systems.</a:t>
            </a:r>
          </a:p>
          <a:p/>
          <a:p>
            <a:r>
              <a:t>Important: The parent MUST be compiled with a checkpointer for any of these features to work in subgraphs.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11.subgraphs.ipynb</a:t>
            </a:r>
          </a:p>
          <a:p/>
          <a:p>
            <a:r>
              <a:t>Walk through:</a:t>
            </a:r>
          </a:p>
          <a:p>
            <a:r>
              <a:t>1. Pattern 1 — Build a subgraph with shared state (both use MessagesState)</a:t>
            </a:r>
          </a:p>
          <a:p>
            <a:r>
              <a:t>2. Pattern 2 — Build a subgraph with different state (parent has 'foo', sub has 'bar')</a:t>
            </a:r>
          </a:p>
          <a:p>
            <a:r>
              <a:t>3. Practical example — Supervisor with research and math subgraphs</a:t>
            </a:r>
          </a:p>
          <a:p>
            <a:r>
              <a:t>4. Persistence — Show per-invocation behavior</a:t>
            </a:r>
          </a:p>
          <a:p/>
          <a:p>
            <a:r>
              <a:t>Key takeaway: Subgraphs are the building blocks of production multi-agent systems. They provide modularity, isolation, and reusability.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is critical for building responsive AI applications. Without streaming, users stare at a blank screen until the entire graph finishes executing — which could be seconds or minutes.</a:t>
            </a:r>
          </a:p>
          <a:p/>
          <a:p>
            <a:r>
              <a:t>LangGraph provides first-class streaming support through two APIs:</a:t>
            </a:r>
          </a:p>
          <a:p>
            <a:r>
              <a:t>1. graph.stream() / graph.astream() — Low-level, mode-based control</a:t>
            </a:r>
          </a:p>
          <a:p>
            <a:r>
              <a:t>2. graph.stream_events() / graph.astream_events() — High-level, recommended for new apps</a:t>
            </a:r>
          </a:p>
          <a:p/>
          <a:p>
            <a:r>
              <a:t>The key concept is STREAM MODES — different modes give you different types of events:</a:t>
            </a:r>
          </a:p>
          <a:p>
            <a:r>
              <a:t>- 'values': Full state snapshot after each step</a:t>
            </a:r>
          </a:p>
          <a:p>
            <a:r>
              <a:t>- 'updates': Only the changes (deltas) after each step</a:t>
            </a:r>
          </a:p>
          <a:p>
            <a:r>
              <a:t>- 'messages': Token-by-token LLM output</a:t>
            </a:r>
          </a:p>
          <a:p>
            <a:r>
              <a:t>- 'custom': Your own progress events from nodes</a:t>
            </a:r>
          </a:p>
          <a:p/>
          <a:p>
            <a:r>
              <a:t>You can combine multiple modes in a single stream call.</a:t>
            </a:r>
          </a:p>
          <a:p/>
          <a:p>
            <a:r>
              <a:t>Demo: 12.streaming.ipynb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stream_mode='updates' is the most commonly used mode. It emits a dict after each node executes, showing ONLY what that node changed.</a:t>
            </a:r>
          </a:p>
          <a:p/>
          <a:p>
            <a:r>
              <a:t>Example output for a tool-calling agent:</a:t>
            </a:r>
          </a:p>
          <a:p>
            <a:r>
              <a:t>Step 1: {'assistant': {'messages': [AIMessage(tool_calls=[...])]}}</a:t>
            </a:r>
          </a:p>
          <a:p>
            <a:r>
              <a:t>Step 2: {'tools': {'messages': [ToolMessage(content='42')]}}</a:t>
            </a:r>
          </a:p>
          <a:p>
            <a:r>
              <a:t>Step 3: {'assistant': {'messages': [AIMessage(content='The answer is 42')]}}</a:t>
            </a:r>
          </a:p>
          <a:p/>
          <a:p>
            <a:r>
              <a:t>Each event shows which node produced it and what state it changed. This is perfect for showing progress in a UI.</a:t>
            </a:r>
          </a:p>
          <a:p/>
          <a:p>
            <a:r>
              <a:t>With version='v2', the output format is standardized as StreamPart dicts:</a:t>
            </a:r>
          </a:p>
          <a:p>
            <a:r>
              <a:t>{'type': 'updates', 'ns': (), 'data': {'node_name': {...}}}</a:t>
            </a:r>
          </a:p>
          <a:p/>
          <a:p>
            <a:r>
              <a:t>The 'ns' (namespace) field shows subgraph nesting — empty tuple for root graph, populated for subgraph events.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stream_mode='messages' gives you token-level streaming from LLM calls. Instead of waiting for the full response, tokens arrive one by one as the LLM generates them.</a:t>
            </a:r>
          </a:p>
          <a:p/>
          <a:p>
            <a:r>
              <a:t>for msg, metadata in graph.stream(inputs, stream_mode='messages'):</a:t>
            </a:r>
          </a:p>
          <a:p>
            <a:r>
              <a:t>    if isinstance(msg, AIMessageChunk):</a:t>
            </a:r>
          </a:p>
          <a:p>
            <a:r>
              <a:t>        print(msg.content, end='', flush=True)</a:t>
            </a:r>
          </a:p>
          <a:p/>
          <a:p>
            <a:r>
              <a:t>This is essential for chat interfaces where users expect to see text appearing in real-time.</a:t>
            </a:r>
          </a:p>
          <a:p/>
          <a:p>
            <a:r>
              <a:t>CUSTOM STREAMING: Nodes can also emit arbitrary events using get_stream_writer():</a:t>
            </a:r>
          </a:p>
          <a:p/>
          <a:p>
            <a:r>
              <a:t>from langgraph.config import get_stream_writer</a:t>
            </a:r>
          </a:p>
          <a:p>
            <a:r>
              <a:t>def my_node(state):</a:t>
            </a:r>
          </a:p>
          <a:p>
            <a:r>
              <a:t>    writer = get_stream_writer()</a:t>
            </a:r>
          </a:p>
          <a:p>
            <a:r>
              <a:t>    writer('Fetching data...')</a:t>
            </a:r>
          </a:p>
          <a:p>
            <a:r>
              <a:t>    # do work</a:t>
            </a:r>
          </a:p>
          <a:p>
            <a:r>
              <a:t>    writer('Processing complete')</a:t>
            </a:r>
          </a:p>
          <a:p>
            <a:r>
              <a:t>    return state</a:t>
            </a:r>
          </a:p>
          <a:p/>
          <a:p>
            <a:r>
              <a:t>Use stream_mode='custom' to receive these events.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Additional streaming modes for advanced use cases:</a:t>
            </a:r>
          </a:p>
          <a:p/>
          <a:p>
            <a:r>
              <a:t>VALUES: Full state snapshot after each step (not just deltas). Useful when you need the complete state, not just changes.</a:t>
            </a:r>
          </a:p>
          <a:p/>
          <a:p>
            <a:r>
              <a:t>CHECKPOINTS: Emits checkpoint events in the same format as get_state(). Useful for monitoring persistence.</a:t>
            </a:r>
          </a:p>
          <a:p/>
          <a:p>
            <a:r>
              <a:t>TASKS: Task start/finish events with results and errors. Good for tracking execution progress.</a:t>
            </a:r>
          </a:p>
          <a:p/>
          <a:p>
            <a:r>
              <a:t>DEBUG: Everything — combines checkpoints and tasks with extra metadata. Use for development and troubleshooting.</a:t>
            </a:r>
          </a:p>
          <a:p/>
          <a:p>
            <a:r>
              <a:t>You can combine modes: stream_mode=['updates', 'messages'] gives you both state changes AND token streaming in the same stream.</a:t>
            </a:r>
          </a:p>
          <a:p/>
          <a:p>
            <a:r>
              <a:t>With version='v2', all modes use the same StreamPart format, making it easy to filter: if chunk['type'] == 'messages': ...</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the Persistence section. We've seen how to stream graph execution in real-time. Now let's look at how LangGraph saves and restores state — the foundation for memory, durability, and time-travel debugging.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durability modes control WHEN checkpoints are persisted:</a:t>
            </a:r>
          </a:p>
          <a:p/>
          <a:p>
            <a:r>
              <a:t>EXIT MODE (default):</a:t>
            </a:r>
          </a:p>
          <a:p>
            <a:r>
              <a:t>- Checkpoint saved only when graph exits (success, error, or interrupt)</a:t>
            </a:r>
          </a:p>
          <a:p>
            <a:r>
              <a:t>- Fastest — no I/O during execution</a:t>
            </a:r>
          </a:p>
          <a:p>
            <a:r>
              <a:t>- Risk: If process crashes mid-run, intermediate progress is lost</a:t>
            </a:r>
          </a:p>
          <a:p>
            <a:r>
              <a:t>- Use for: Simple agents, development, low-risk workflows</a:t>
            </a:r>
          </a:p>
          <a:p/>
          <a:p>
            <a:r>
              <a:t>ASYNC MODE:</a:t>
            </a:r>
          </a:p>
          <a:p>
            <a:r>
              <a:t>- Checkpoint saved asynchronously while next step starts</a:t>
            </a:r>
          </a:p>
          <a:p>
            <a:r>
              <a:t>- Good balance of speed and durability</a:t>
            </a:r>
          </a:p>
          <a:p>
            <a:r>
              <a:t>- Small risk: If crash happens at exactly the wrong moment, latest checkpoint may not be written</a:t>
            </a:r>
          </a:p>
          <a:p>
            <a:r>
              <a:t>- Use for: Most production applications</a:t>
            </a:r>
          </a:p>
          <a:p/>
          <a:p>
            <a:r>
              <a:t>SYNC MODE:</a:t>
            </a:r>
          </a:p>
          <a:p>
            <a:r>
              <a:t>- Checkpoint saved synchronously BEFORE next step starts</a:t>
            </a:r>
          </a:p>
          <a:p>
            <a:r>
              <a:t>- Strongest guarantee — no data loss possible</a:t>
            </a:r>
          </a:p>
          <a:p>
            <a:r>
              <a:t>- Slowest — adds I/O latency between every step</a:t>
            </a:r>
          </a:p>
          <a:p>
            <a:r>
              <a:t>- Use for: Critical workflows where losing ANY step is unacceptable</a:t>
            </a:r>
          </a:p>
          <a:p/>
          <a:p>
            <a:r>
              <a:t>Set with: graph.invoke(input, config, checkpoint_during='async')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decorator is critical for correct durable execution. Without it, replayed nodes will re-execute ALL their code — including API calls, file writes, and random operations.</a:t>
            </a:r>
          </a:p>
          <a:p/>
          <a:p>
            <a:r>
              <a:t>Example problem:</a:t>
            </a:r>
          </a:p>
          <a:p>
            <a:r>
              <a:t>def my_node(state):</a:t>
            </a:r>
          </a:p>
          <a:p>
            <a:r>
              <a:t>    result = requests.get('https://api.example.com/data')  # Side effect!</a:t>
            </a:r>
          </a:p>
          <a:p>
            <a:r>
              <a:t>    random_id = uuid.uuid4()  # Non-deterministic!</a:t>
            </a:r>
          </a:p>
          <a:p>
            <a:r>
              <a:t>    return {'data': result.text, 'id': random_id}</a:t>
            </a:r>
          </a:p>
          <a:p/>
          <a:p>
            <a:r>
              <a:t>If this node is replayed from a checkpoint, it makes ANOTHER API call and generates a DIFFERENT random ID. This is incorrect.</a:t>
            </a:r>
          </a:p>
          <a:p/>
          <a:p>
            <a:r>
              <a:t>Solution — wrap in @task:</a:t>
            </a:r>
          </a:p>
          <a:p>
            <a:r>
              <a:t>@task</a:t>
            </a:r>
          </a:p>
          <a:p>
            <a:r>
              <a:t>def fetch_data(url):</a:t>
            </a:r>
          </a:p>
          <a:p>
            <a:r>
              <a:t>    return requests.get(url).text</a:t>
            </a:r>
          </a:p>
          <a:p/>
          <a:p>
            <a:r>
              <a:t>The @task decorator caches the result. On replay, the cached result is returned without re-executing the code.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guidance for choosing durability modes:</a:t>
            </a:r>
          </a:p>
          <a:p/>
          <a:p>
            <a:r>
              <a:t>EXIT: Use during development and testing. The fastest option, and you probably don't care about crash recovery in a notebook.</a:t>
            </a:r>
          </a:p>
          <a:p/>
          <a:p>
            <a:r>
              <a:t>ASYNC: Use for most production deployments. The tiny risk of losing the latest checkpoint is acceptable for 99% of use cases. The performance benefit over sync mode is significant.</a:t>
            </a:r>
          </a:p>
          <a:p/>
          <a:p>
            <a:r>
              <a:t>SYNC: Use when compliance or business rules require zero data loss. Examples: financial transactions, medical record processing, audit-trail-required workflows.</a:t>
            </a:r>
          </a:p>
          <a:p/>
          <a:p>
            <a:r>
              <a:t>Remember: Durability only matters for the LATEST step. All previously completed steps are already persisted regardless of mode.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of thumb: If code inside a node does ANYTHING other than pure computation, wrap it in @task.</a:t>
            </a:r>
          </a:p>
          <a:p/>
          <a:p>
            <a:r>
              <a:t>Needs @task:</a:t>
            </a:r>
          </a:p>
          <a:p>
            <a:r>
              <a:t>- API calls (requests.get, OpenAI calls)</a:t>
            </a:r>
          </a:p>
          <a:p>
            <a:r>
              <a:t>- Database writes</a:t>
            </a:r>
          </a:p>
          <a:p>
            <a:r>
              <a:t>- File system operations</a:t>
            </a:r>
          </a:p>
          <a:p>
            <a:r>
              <a:t>- Random number generation</a:t>
            </a:r>
          </a:p>
          <a:p>
            <a:r>
              <a:t>- Current time/date</a:t>
            </a:r>
          </a:p>
          <a:p/>
          <a:p>
            <a:r>
              <a:t>Does NOT need @task:</a:t>
            </a:r>
          </a:p>
          <a:p>
            <a:r>
              <a:t>- String formatting</a:t>
            </a:r>
          </a:p>
          <a:p>
            <a:r>
              <a:t>- Math calculations</a:t>
            </a:r>
          </a:p>
          <a:p>
            <a:r>
              <a:t>- Dictionary manipulation</a:t>
            </a:r>
          </a:p>
          <a:p>
            <a:r>
              <a:t>- Anything that produces the same output for the same input</a:t>
            </a:r>
          </a:p>
          <a:p/>
          <a:p>
            <a:r>
              <a:t>LangGraph does NOT resume from the exact line where it crashed. It restarts from the last checkpoint boundary and REPLAYS the node. Tasks prevent the replayed code from having side effects.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to the Deployment section. We've covered all the building blocks: graphs, state, reducers, tools, agents, memory, subgraphs, streaming, and persistence. Now let's look at how to take these graphs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deployment layer provides five key capabilities:</a:t>
            </a:r>
          </a:p>
          <a:p/>
          <a:p>
            <a:r>
              <a:t>1. DURABLE EXECUTION: Checkpointing with PostgreSQL-backed persistence. Agents can run for hours and survive crashes.</a:t>
            </a:r>
          </a:p>
          <a:p/>
          <a:p>
            <a:r>
              <a:t>2. API ENDPOINTS: Every deployed graph gets REST endpoints for invoke, stream, create threads, manage assistants.</a:t>
            </a:r>
          </a:p>
          <a:p/>
          <a:p>
            <a:r>
              <a:t>3. MONITORING: Built-in integration with LangSmith tracing. Every step of every agent run is logged and searchable.</a:t>
            </a:r>
          </a:p>
          <a:p/>
          <a:p>
            <a:r>
              <a:t>4. DEPLOYMENT INFRASTRUCTURE: Docker-based deployment with auto-scaling, health checks, and rollback support.</a:t>
            </a:r>
          </a:p>
          <a:p/>
          <a:p>
            <a:r>
              <a:t>5. MEMORY: Both short-term (thread checkpoints) and long-term (Store) memory are managed by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Server is what actually runs your graphs. When you deploy to LangSmith, you're deploying to an Agent Server instance.</a:t>
            </a:r>
          </a:p>
          <a:p/>
          <a:p>
            <a:r>
              <a:t>The API is built around four core concepts — we'll cover each in the next slides:</a:t>
            </a:r>
          </a:p>
          <a:p>
            <a:r>
              <a:t>1. Assistants: Configured instances of your graphs</a:t>
            </a:r>
          </a:p>
          <a:p>
            <a:r>
              <a:t>2. Threads: Conversation sessions with persistent state</a:t>
            </a:r>
          </a:p>
          <a:p>
            <a:r>
              <a:t>3. Runs: Individual invocations of a graph</a:t>
            </a:r>
          </a:p>
          <a:p>
            <a:r>
              <a:t>4. Store: Long-term memory layer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Store is LangGraph's long-term memory layer. While checkpointers handle thread-scoped state (conversation history), the Store handles cross-thread data.</a:t>
            </a:r>
          </a:p>
          <a:p/>
          <a:p>
            <a:r>
              <a:t>Key design decisions:</a:t>
            </a:r>
          </a:p>
          <a:p>
            <a:r>
              <a:t>1. Namespace-based: Data is organized under hierarchical namespaces like ('users', 'user123')</a:t>
            </a:r>
          </a:p>
          <a:p>
            <a:r>
              <a:t>2. Key-value: Each item has a key and a JSON value document</a:t>
            </a:r>
          </a:p>
          <a:p>
            <a:r>
              <a:t>3. Searchable: You can filter by field values and use semantic ranking</a:t>
            </a:r>
          </a:p>
          <a:p>
            <a:r>
              <a:t>4. Multi-tenant: Include tenant ID in namespace for data isolation</a:t>
            </a:r>
          </a:p>
          <a:p/>
          <a:p>
            <a:r>
              <a:t>The Store is automatically managed by the Agent Server — you don't configure it in your graph code. This decouples persistence from application logic.</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Store API examples:</a:t>
            </a:r>
          </a:p>
          <a:p/>
          <a:p>
            <a:r>
              <a:t>WRITE:</a:t>
            </a:r>
          </a:p>
          <a:p>
            <a:r>
              <a:t>await client.store.put_item(['users', 'user123'], 'profile', {'name': 'Ahmed', 'preferences': {'tone': 'concise'}})</a:t>
            </a:r>
          </a:p>
          <a:p/>
          <a:p>
            <a:r>
              <a:t>READ:</a:t>
            </a:r>
          </a:p>
          <a:p>
            <a:r>
              <a:t>item = await client.store.get_item(['users', 'user123'], 'profile')</a:t>
            </a:r>
          </a:p>
          <a:p/>
          <a:p>
            <a:r>
              <a:t>SEARCH:</a:t>
            </a:r>
          </a:p>
          <a:p>
            <a:r>
              <a:t>results = await client.store.search_items(['users'], filter={'preferences.language': 'en'})</a:t>
            </a:r>
          </a:p>
          <a:p/>
          <a:p>
            <a:r>
              <a:t>LIST NAMESPACES:</a:t>
            </a:r>
          </a:p>
          <a:p>
            <a:r>
              <a:t>namespaces = await client.store.list_namespaces()</a:t>
            </a:r>
          </a:p>
          <a:p/>
          <a:p>
            <a:r>
              <a:t>Best practice: Use tenant-specific namespaces like ('tenant_a', 'customers', 'c42') to prevent data leakage in multi-tenant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Multi-tenancy with the Store:</a:t>
            </a:r>
          </a:p>
          <a:p/>
          <a:p>
            <a:r>
              <a:t>Namespace pattern: (tenant_id, resource_type, resource_id)</a:t>
            </a:r>
          </a:p>
          <a:p>
            <a:r>
              <a:t>Example: ('tenant_a', 'customers', 'c42')</a:t>
            </a:r>
          </a:p>
          <a:p/>
          <a:p>
            <a:r>
              <a:t>This gives you:</a:t>
            </a:r>
          </a:p>
          <a:p>
            <a:r>
              <a:t>1. DATA ISOLATION: search_items(['tenant_a']) only returns tenant_a's data</a:t>
            </a:r>
          </a:p>
          <a:p>
            <a:r>
              <a:t>2. CLEAN BOUNDARIES: No accidental cross-tenant queries</a:t>
            </a:r>
          </a:p>
          <a:p>
            <a:r>
              <a:t>3. EASY ENFORCEMENT: Middleware can validate tenant_id before any Store operation</a:t>
            </a:r>
          </a:p>
          <a:p/>
          <a:p>
            <a:r>
              <a:t>The Store uses PostgreSQL by default but supports custom implementations. In production, you'd typically add encryption at rest and audit logging on top of the basic Store.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Dependencies in langgraph.json tell the CLI what to install:</a:t>
            </a:r>
          </a:p>
          <a:p/>
          <a:p>
            <a:r>
              <a:t>'./' or '.' — Install the current project as a package. Looks for pyproject.toml, setup.py, or requirements.txt in the specified directory.</a:t>
            </a:r>
          </a:p>
          <a:p/>
          <a:p>
            <a:r>
              <a:t>'./my_package' — Install a local subdirectory as a package.</a:t>
            </a:r>
          </a:p>
          <a:p/>
          <a:p>
            <a:r>
              <a:t>'langchain_openai' — Install from PyPI (or whatever package index is configured).</a:t>
            </a:r>
          </a:p>
          <a:p/>
          <a:p>
            <a:r>
              <a:t>Important: Point to DIRECTORIES, not files. The CLI will find the right setup file automatically.</a:t>
            </a:r>
          </a:p>
          <a:p/>
          <a:p>
            <a:r>
              <a:t>The CLI runs dependency installation when you do:</a:t>
            </a:r>
          </a:p>
          <a:p>
            <a:r>
              <a:t>- langgraph dev (development server)</a:t>
            </a:r>
          </a:p>
          <a:p>
            <a:r>
              <a:t>- langgraph build (Docker image)</a:t>
            </a:r>
          </a:p>
          <a:p>
            <a:r>
              <a:t>- langgraph up (start server)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LangGraph CLI provides several commands for development and deployment:</a:t>
            </a:r>
          </a:p>
          <a:p/>
          <a:p>
            <a:r>
              <a:t>langgraph dev: Start a local development server at http://127.0.0.1:2024</a:t>
            </a:r>
          </a:p>
          <a:p>
            <a:r>
              <a:t>- In-memory persistence (data lost on restart)</a:t>
            </a:r>
          </a:p>
          <a:p>
            <a:r>
              <a:t>- Hot-reload on code changes</a:t>
            </a:r>
          </a:p>
          <a:p>
            <a:r>
              <a:t>- Opens LangSmith Studio UI for testing</a:t>
            </a:r>
          </a:p>
          <a:p/>
          <a:p>
            <a:r>
              <a:t>langgraph build: Build a Docker image of your agent server</a:t>
            </a:r>
          </a:p>
          <a:p>
            <a:r>
              <a:t>- Packages your code and dependencies</a:t>
            </a:r>
          </a:p>
          <a:p>
            <a:r>
              <a:t>- Ready for deployment to any Docker host</a:t>
            </a:r>
          </a:p>
          <a:p/>
          <a:p>
            <a:r>
              <a:t>langgraph up: Start a production-ready server</a:t>
            </a:r>
          </a:p>
          <a:p>
            <a:r>
              <a:t>- Uses Docker Compose under the hood</a:t>
            </a:r>
          </a:p>
          <a:p>
            <a:r>
              <a:t>- PostgreSQL for persistent storage</a:t>
            </a:r>
          </a:p>
          <a:p>
            <a:r>
              <a:t>- Ready for production traffic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LangGraph CLI uses the langgraph.json to configure the server. Important: Use langgraph dev for development and testing only. For production, use LangSmith Deployment which provides:</a:t>
            </a:r>
          </a:p>
          <a:p>
            <a:r>
              <a:t>- Managed PostgreSQL for checkpointing and Store</a:t>
            </a:r>
          </a:p>
          <a:p>
            <a:r>
              <a:t>- Auto-scaling based on agent workload</a:t>
            </a:r>
          </a:p>
          <a:p>
            <a:r>
              <a:t>- Monitoring and alerting integration</a:t>
            </a:r>
          </a:p>
          <a:p>
            <a:r>
              <a:t>- Rolling deployments with zero downtime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covers one of the most important patterns for production agents: human-in-the-loop (HITL). </a:t>
            </a:r>
          </a:p>
          <a:p/>
          <a:p>
            <a:r>
              <a:t>In production, agents often need human approval before executing critical actions like sending emails, making purchases, or modifying databases. LangGraph provides two mechanisms for HITL:</a:t>
            </a:r>
          </a:p>
          <a:p/>
          <a:p>
            <a:r>
              <a:t>1. Static interrupts: interrupt_before / interrupt_after (compile-time flags, now recommended mainly for debugging)</a:t>
            </a:r>
          </a:p>
          <a:p>
            <a:r>
              <a:t>2. Dynamic interrupts: The interrupt() function placed inside node code (recommended for production HITL)</a:t>
            </a:r>
          </a:p>
          <a:p/>
          <a:p>
            <a:r>
              <a:t>The newer Command primitive is the canonical way to resume from any interrupt.</a:t>
            </a:r>
          </a:p>
          <a:p/>
          <a:p>
            <a:r>
              <a:t>Demo: 8.human_in_the_loop.ipynb</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Human-in-the-loop is essential when an agent's actions have real-world consequences. The key insight is that we want the agent to PLAN the action, then PAUSE for human review, then either EXECUTE or ABORT based on the human's decision.</a:t>
            </a:r>
          </a:p>
          <a:p/>
          <a:p>
            <a:r>
              <a:t>From the official docs: 'Static interrupts are not recommended for human-in-the-loop workflows. Use the interrupt() function instead.' However, interrupt_before/after are still valuable for debugging — they let you add breakpoints to any node without modifying code.</a:t>
            </a:r>
          </a:p>
          <a:p/>
          <a:p>
            <a:r>
              <a:t>Both mechanisms require a checkpointer because the graph state must be saved when execution pauses. Without persistence, there's nowhere to store the pending state while waiting for human input.</a:t>
            </a:r>
          </a:p>
          <a:p/>
          <a:p>
            <a:r>
              <a:t>The interrupt_before/after approach is simpler to understand initially, which is why we teach it first in the notebook.</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interrupt_before mechanism works at the node boundary level. When you specify interrupt_before=['tools'], the graph will execute normally until it's about to enter the 'tools' node, then STOP.</a:t>
            </a:r>
          </a:p>
          <a:p/>
          <a:p>
            <a:r>
              <a:t>At this point:</a:t>
            </a:r>
          </a:p>
          <a:p>
            <a:r>
              <a:t>1. The state is checkpointed (including the LLM's tool call decision)</a:t>
            </a:r>
          </a:p>
          <a:p>
            <a:r>
              <a:t>2. get_state(config).next shows which node would run next: ('tools',)</a:t>
            </a:r>
          </a:p>
          <a:p>
            <a:r>
              <a:t>3. The last message in state contains the AIMessage with tool_calls</a:t>
            </a:r>
          </a:p>
          <a:p/>
          <a:p>
            <a:r>
              <a:t>To approve: graph.invoke(None, config) — passing None means 'continue from where you stopped'</a:t>
            </a:r>
          </a:p>
          <a:p>
            <a:r>
              <a:t>To reject: graph.update_state(config, {'messages': [ToolMessage(content='Denied', tool_call_id=...)]}, as_node='tools') — inject a denial response as if the tools node produced it, then resume.</a:t>
            </a:r>
          </a:p>
          <a:p/>
          <a:p>
            <a:r>
              <a:t>You can also use interrupt_before='*' to pause before EVERY node — useful for step-by-step debugging.</a:t>
            </a:r>
          </a:p>
          <a:p/>
          <a:p>
            <a:r>
              <a:t>The newer approach uses the interrupt() function inside node code for more granular control — you can pause at any point within a node, not just at boundaries.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approve/reject pattern is elegant because it uses the same state management primitives we've already learned:</a:t>
            </a:r>
          </a:p>
          <a:p/>
          <a:p>
            <a:r>
              <a:t>APPROVE is simple — invoke(None, config) tells LangGraph to continue executing from where it paused. The checkpointer loads the saved state and resumes at the next node.</a:t>
            </a:r>
          </a:p>
          <a:p/>
          <a:p>
            <a:r>
              <a:t>REJECT is more nuanced. We use update_state() to inject a ToolMessage that says the action was denied. The key parameter is as_node='tools' — this tells LangGraph to apply this update AS IF it came from the tools node. This means the agent's next step (the assistant node) will see the denial message and respond accordingly, typically informing the user that the action was not performed.</a:t>
            </a:r>
          </a:p>
          <a:p/>
          <a:p>
            <a:r>
              <a:t>The as_node parameter is important: it determines the graph's position after the update. By setting it to 'tools', we're saying 'the tools node already ran and produced this result', so the next step is whatever comes after the tools node (usually back to the assistant).</a:t>
            </a:r>
          </a:p>
          <a:p/>
          <a:p>
            <a:r>
              <a:t>Alternative rejection approaches:</a:t>
            </a:r>
          </a:p>
          <a:p>
            <a:r>
              <a:t>1. Modify the AIMessage to remove tool_calls, then resume</a:t>
            </a:r>
          </a:p>
          <a:p>
            <a:r>
              <a:t>2. Use the Command primitive with Command(resume=value) for the interrupt() function</a:t>
            </a:r>
          </a:p>
          <a:p>
            <a:r>
              <a:t>3. Simply don't resume — the conversation is abandoned at that point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8.human_in_the_loop.ipynb</a:t>
            </a:r>
          </a:p>
          <a:p/>
          <a:p>
            <a:r>
              <a:t>Walk through:</a:t>
            </a:r>
          </a:p>
          <a:p>
            <a:r>
              <a:t>1. Build an agent with send_email and search_contacts tools</a:t>
            </a:r>
          </a:p>
          <a:p>
            <a:r>
              <a:t>2. Compile with interrupt_before=['tools']</a:t>
            </a:r>
          </a:p>
          <a:p>
            <a:r>
              <a:t>3. Ask the agent to send an email — it pauses before execution</a:t>
            </a:r>
          </a:p>
          <a:p>
            <a:r>
              <a:t>4. Inspect pending state with get_state()</a:t>
            </a:r>
          </a:p>
          <a:p>
            <a:r>
              <a:t>5. Approve by invoking with None</a:t>
            </a:r>
          </a:p>
          <a:p>
            <a:r>
              <a:t>6. New conversation: ask to send a problematic email</a:t>
            </a:r>
          </a:p>
          <a:p>
            <a:r>
              <a:t>7. Reject by injecting a denial ToolMessage</a:t>
            </a:r>
          </a:p>
          <a:p>
            <a:r>
              <a:t>8. Show how the agent gracefully handles the rejection</a:t>
            </a:r>
          </a:p>
          <a:p/>
          <a:p>
            <a:r>
              <a:t>Key teaching points:</a:t>
            </a:r>
          </a:p>
          <a:p>
            <a:r>
              <a:t>- The agent doesn't know it was interrupted — it just sees tool results</a:t>
            </a:r>
          </a:p>
          <a:p>
            <a:r>
              <a:t>- Rejection looks like a normal tool response from the agent's perspective</a:t>
            </a:r>
          </a:p>
          <a:p>
            <a:r>
              <a:t>- This pattern generalizes to any action that needs human approval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Multi-agent systems are where LangGraph truly shines. Instead of one monolithic agent with dozens of tools, we can build systems with specialized agents that each do one thing well.</a:t>
            </a:r>
          </a:p>
          <a:p/>
          <a:p>
            <a:r>
              <a:t>From the official docs: 'Multi-agent patterns are particularly valuable when a single agent has too many tools and makes poor decisions about which to use, when tasks require specialized knowledge with extensive context, or when you need to enforce sequential constraints.'</a:t>
            </a:r>
          </a:p>
          <a:p/>
          <a:p>
            <a:r>
              <a:t>The official LangGraph documentation recognizes five patterns:</a:t>
            </a:r>
          </a:p>
          <a:p>
            <a:r>
              <a:t>1. Subagents (supervisor coordinates tools-as-agents)</a:t>
            </a:r>
          </a:p>
          <a:p>
            <a:r>
              <a:t>2. Handoffs (agents transfer control via Command primitive)</a:t>
            </a:r>
          </a:p>
          <a:p>
            <a:r>
              <a:t>3. Skills (specialized prompts loaded on-demand)</a:t>
            </a:r>
          </a:p>
          <a:p>
            <a:r>
              <a:t>4. Router (classify input, route to specialist)</a:t>
            </a:r>
          </a:p>
          <a:p>
            <a:r>
              <a:t>5. Custom Workflow (bespoke LangGraph graph)</a:t>
            </a:r>
          </a:p>
          <a:p/>
          <a:p>
            <a:r>
              <a:t>We'll focus on the Supervisor and Sequential Handoff patterns.</a:t>
            </a:r>
          </a:p>
          <a:p/>
          <a:p>
            <a:r>
              <a:t>Demo: 9.multi_agent.ipynb</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patterns represent different trade-offs:</a:t>
            </a:r>
          </a:p>
          <a:p/>
          <a:p>
            <a:r>
              <a:t>SUBAGENTS (Supervisor): Best for distributed development and parallelization. Each subagent is a self-contained graph. The supervisor routes tasks and collects results. Downside: subagents can't directly interact with users.</a:t>
            </a:r>
          </a:p>
          <a:p/>
          <a:p>
            <a:r>
              <a:t>HANDOFFS (Swarm-style): Best for conversational systems where agents need to talk to users directly. An agent calls a transfer_to_X tool to hand off control. Uses Command(goto='next_agent', graph=Command.PARENT) to escape the current subgraph.</a:t>
            </a:r>
          </a:p>
          <a:p/>
          <a:p>
            <a:r>
              <a:t>SKILLS: Best when the task domain is known but requires specialized knowledge. A single agent loads different 'skill packs' (prompts + tools) based on the task. Simplest to implement.</a:t>
            </a:r>
          </a:p>
          <a:p/>
          <a:p>
            <a:r>
              <a:t>ROUTER: Best for parallel processing. Classify the input, fan out to multiple specialists, merge results. Good for one-shot tasks (no multi-hop reasoning needed).</a:t>
            </a:r>
          </a:p>
          <a:p/>
          <a:p>
            <a:r>
              <a:t>CUSTOM WORKFLOW: When none of the patterns fit. Mix deterministic logic with agentic behavior. Most production systems end up here.</a:t>
            </a:r>
          </a:p>
          <a:p/>
          <a:p>
            <a:r>
              <a:t>The selection matrix from docs rates each pattern on: Distributed Development, Parallelization, Multi-hop reasoning, and Direct User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Supervisor pattern implementation:</a:t>
            </a:r>
          </a:p>
          <a:p/>
          <a:p>
            <a:r>
              <a:t>1. Define a MultiAgentState extending MessagesState with a 'next_agent' field</a:t>
            </a:r>
          </a:p>
          <a:p>
            <a:r>
              <a:t>2. Supervisor node: Invokes LLM with a routing prompt, returns which specialist to call</a:t>
            </a:r>
          </a:p>
          <a:p>
            <a:r>
              <a:t>3. Specialist nodes: Each has own system prompt, tools, and capabilities</a:t>
            </a:r>
          </a:p>
          <a:p>
            <a:r>
              <a:t>4. Routing function: Reads state['next_agent'] and returns the node name</a:t>
            </a:r>
          </a:p>
          <a:p>
            <a:r>
              <a:t>5. Edges: Specialist → END (or → Supervisor for multi-hop)</a:t>
            </a:r>
          </a:p>
          <a:p/>
          <a:p>
            <a:r>
              <a:t>Key implementation decisions:</a:t>
            </a:r>
          </a:p>
          <a:p>
            <a:r>
              <a:t>- Supervisor prompt should return ONLY the routing decision, not engage with the task</a:t>
            </a:r>
          </a:p>
          <a:p>
            <a:r>
              <a:t>- Specialists should be self-contained — handle tool execution internally</a:t>
            </a:r>
          </a:p>
          <a:p>
            <a:r>
              <a:t>- For multi-hop (specialist needs more info), route specialist → supervisor → specialist</a:t>
            </a:r>
          </a:p>
          <a:p/>
          <a:p>
            <a:r>
              <a:t>The Command primitive can simplify this: a tool call can include Command(goto='next_agent') to handle routing without explicit conditional edges.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Sequential Handoff pattern is simpler than the Supervisor pattern but powerful for pipeline workflows where the order of operations is known.</a:t>
            </a:r>
          </a:p>
          <a:p/>
          <a:p>
            <a:r>
              <a:t>Implementation:</a:t>
            </a:r>
          </a:p>
          <a:p>
            <a:r>
              <a:t>1. Define a CollaborativeState with specific fields for each agent's output</a:t>
            </a:r>
          </a:p>
          <a:p>
            <a:r>
              <a:t>2. Each agent reads from previous agents' fields and writes to its own</a:t>
            </a:r>
          </a:p>
          <a:p>
            <a:r>
              <a:t>3. Fixed edges connect agents in sequence: researcher → writer → editor → END</a:t>
            </a:r>
          </a:p>
          <a:p/>
          <a:p>
            <a:r>
              <a:t>Advantages over passing everything through messages:</a:t>
            </a:r>
          </a:p>
          <a:p>
            <a:r>
              <a:t>- Type safety: Each field has a clear type and purpose</a:t>
            </a:r>
          </a:p>
          <a:p>
            <a:r>
              <a:t>- Debugging: Easy to inspect intermediate results</a:t>
            </a:r>
          </a:p>
          <a:p>
            <a:r>
              <a:t>- Modularity: Replace one agent without affecting others</a:t>
            </a:r>
          </a:p>
          <a:p/>
          <a:p>
            <a:r>
              <a:t>Example state:</a:t>
            </a:r>
          </a:p>
          <a:p>
            <a:r>
              <a:t>class CollaborativeState(MessagesState):</a:t>
            </a:r>
          </a:p>
          <a:p>
            <a:r>
              <a:t>    research_notes: str     # Researcher writes this</a:t>
            </a:r>
          </a:p>
          <a:p>
            <a:r>
              <a:t>    draft: str              # Writer writes this</a:t>
            </a:r>
          </a:p>
          <a:p>
            <a:r>
              <a:t>    final_output: str       # Editor writes this</a:t>
            </a:r>
          </a:p>
          <a:p/>
          <a:p>
            <a:r>
              <a:t>This pattern is great for content creation, data analysis pipelines, and review workflows.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9.multi_agent.ipynb</a:t>
            </a:r>
          </a:p>
          <a:p/>
          <a:p>
            <a:r>
              <a:t>Walk through:</a:t>
            </a:r>
          </a:p>
          <a:p>
            <a:r>
              <a:t>1. Supervisor pattern: Build supervisor + math_agent + research_agent</a:t>
            </a:r>
          </a:p>
          <a:p>
            <a:r>
              <a:t>2. Test math routing: 'What is 15 * 23 + 47?'</a:t>
            </a:r>
          </a:p>
          <a:p>
            <a:r>
              <a:t>3. Test research routing: 'Tell me about Python'</a:t>
            </a:r>
          </a:p>
          <a:p>
            <a:r>
              <a:t>4. Sequential handoff: Build researcher → writer pipeline</a:t>
            </a:r>
          </a:p>
          <a:p>
            <a:r>
              <a:t>5. Test with: 'Machine learning'</a:t>
            </a:r>
          </a:p>
          <a:p/>
          <a:p>
            <a:r>
              <a:t>Key teaching points:</a:t>
            </a:r>
          </a:p>
          <a:p>
            <a:r>
              <a:t>- Each specialist has its own tools and system prompt</a:t>
            </a:r>
          </a:p>
          <a:p>
            <a:r>
              <a:t>- The supervisor is a simple classifier, not a complex agent</a:t>
            </a:r>
          </a:p>
          <a:p>
            <a:r>
              <a:t>- State fields enable clean inter-agent communication</a:t>
            </a:r>
          </a:p>
          <a:p>
            <a:r>
              <a:t>- The graph structure makes the architecture explicit and debuggable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Plan-and-Execute is an advanced agent architecture that addresses key limitations of the ReAct pattern.</a:t>
            </a:r>
          </a:p>
          <a:p/>
          <a:p>
            <a:r>
              <a:t>From the official LangChain blog: 'It consists of two basic components: (1) A planner, which prompts an LLM to generate a multi-step plan to complete a large task. (2) Executor(s), which accept the user query and a step in the plan and invoke tools to complete that task.'</a:t>
            </a:r>
          </a:p>
          <a:p/>
          <a:p>
            <a:r>
              <a:t>The academic foundation comes from the 'Plan-and-Solve Prompting' paper (Wang et al., 2023) and the Baby-AGI project by Yohei Nakajima.</a:t>
            </a:r>
          </a:p>
          <a:p/>
          <a:p>
            <a:r>
              <a:t>Key advantages over ReAct:</a:t>
            </a:r>
          </a:p>
          <a:p>
            <a:r>
              <a:t>1. Explicit long-term planning (which even strong LLMs struggle with in ReAct)</a:t>
            </a:r>
          </a:p>
          <a:p>
            <a:r>
              <a:t>2. Ability to use smaller models for execution, larger models only for planning</a:t>
            </a:r>
          </a:p>
          <a:p>
            <a:r>
              <a:t>3. Better trajectory quality by forcing full upfront reasoning</a:t>
            </a:r>
          </a:p>
          <a:p/>
          <a:p>
            <a:r>
              <a:t>Demo: 10.plan_and_execute.ipynb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official LangChain blog on planning agents:</a:t>
            </a:r>
          </a:p>
          <a:p/>
          <a:p>
            <a:r>
              <a:t>ReAct limitations:</a:t>
            </a:r>
          </a:p>
          <a:p>
            <a:r>
              <a:t>- 'Requires an LLM call for each tool invocation' — expensive and slow</a:t>
            </a:r>
          </a:p>
          <a:p>
            <a:r>
              <a:t>- 'The LLM only plans for 1 sub-problem at a time — may lead to sub-optimal trajectories because it isn't forced to reason about the whole task'</a:t>
            </a:r>
          </a:p>
          <a:p/>
          <a:p>
            <a:r>
              <a:t>Plan-and-Execute advantages (from the official JS notebook):</a:t>
            </a:r>
          </a:p>
          <a:p>
            <a:r>
              <a:t>1. 'Explicit long term planning (which even really strong LLMs can struggle with)'</a:t>
            </a:r>
          </a:p>
          <a:p>
            <a:r>
              <a:t>2. 'Ability to use smaller/weaker models for the execution step, only using larger/better models for the planning step'</a:t>
            </a:r>
          </a:p>
          <a:p/>
          <a:p>
            <a:r>
              <a:t>Performance benefits:</a:t>
            </a:r>
          </a:p>
          <a:p>
            <a:r>
              <a:t>- FASTER: The larger planning LLM doesn't need to be consulted after each action</a:t>
            </a:r>
          </a:p>
          <a:p>
            <a:r>
              <a:t>- CHEAPER: Sub-tasks use smaller/domain-specific models; larger model only for (re-)planning</a:t>
            </a:r>
          </a:p>
          <a:p>
            <a:r>
              <a:t>- BETTER: Forces the planner to explicitly think through ALL steps required upfront</a:t>
            </a:r>
          </a:p>
          <a:p/>
          <a:p>
            <a:r>
              <a:t>The official Python tutorial uses gpt-4o for planning/replanning and a smaller model for execution.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in detail (from the official Python notebook):</a:t>
            </a:r>
          </a:p>
          <a:p/>
          <a:p>
            <a:r>
              <a:t>STATE:</a:t>
            </a:r>
          </a:p>
          <a:p>
            <a:r>
              <a:t>class PlanExecute(TypedDict):</a:t>
            </a:r>
          </a:p>
          <a:p>
            <a:r>
              <a:t>    input: str                                    # Original request</a:t>
            </a:r>
          </a:p>
          <a:p>
            <a:r>
              <a:t>    plan: List[str]                               # Current plan steps</a:t>
            </a:r>
          </a:p>
          <a:p>
            <a:r>
              <a:t>    past_steps: Annotated[List[Tuple], operator.add]  # Completed steps (append-only reducer!)</a:t>
            </a:r>
          </a:p>
          <a:p>
            <a:r>
              <a:t>    response: str                                 # Final answer</a:t>
            </a:r>
          </a:p>
          <a:p/>
          <a:p>
            <a:r>
              <a:t>PLANNER: Uses structured output (Pydantic model) to generate a list of steps. The prompt instructs: 'Come up with a simple step by step plan. Do not add superfluous steps.'</a:t>
            </a:r>
          </a:p>
          <a:p/>
          <a:p>
            <a:r>
              <a:t>EXECUTOR: In the official example, the executor is actually a nested ReAct agent! Plan-and-Execute doesn't replace ReAct — it wraps it. The planner/replanner are P&amp;E constructs; actual tool invocations happen inside a ReAct loop.</a:t>
            </a:r>
          </a:p>
          <a:p/>
          <a:p>
            <a:r>
              <a:t>REPLANNER: Receives the original objective, original plan, and all completed steps. Returns either a Response (we're done) or an updated Plan (more steps needed). Critical prompt: 'Only add steps that still NEED to be done. Do not return previously done steps.'</a:t>
            </a:r>
          </a:p>
          <a:p/>
          <a:p>
            <a:r>
              <a:t>Graph edges:</a:t>
            </a:r>
          </a:p>
          <a:p>
            <a:r>
              <a:t>START → planner → executor → replanner → conditional → executor (loop) or END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10.plan_and_execute.ipynb</a:t>
            </a:r>
          </a:p>
          <a:p/>
          <a:p>
            <a:r>
              <a:t>Walk through:</a:t>
            </a:r>
          </a:p>
          <a:p>
            <a:r>
              <a:t>1. Define PlanExecuteState with request, plan, completed_steps, response</a:t>
            </a:r>
          </a:p>
          <a:p>
            <a:r>
              <a:t>2. Build Planner node — uses LLM to generate step list (JSON output)</a:t>
            </a:r>
          </a:p>
          <a:p>
            <a:r>
              <a:t>3. Build Executor node — carries out one step using search/calculate tools</a:t>
            </a:r>
          </a:p>
          <a:p>
            <a:r>
              <a:t>4. Build should_continue function — checks if all steps are done</a:t>
            </a:r>
          </a:p>
          <a:p>
            <a:r>
              <a:t>5. Build Finalizer node — generates final response from all completed steps</a:t>
            </a:r>
          </a:p>
          <a:p>
            <a:r>
              <a:t>6. Wire the graph: planner → executor → (loop or finalize) → END</a:t>
            </a:r>
          </a:p>
          <a:p>
            <a:r>
              <a:t>7. Test with: 'Compare the populations of France and Germany'</a:t>
            </a:r>
          </a:p>
          <a:p/>
          <a:p>
            <a:r>
              <a:t>Key teaching points:</a:t>
            </a:r>
          </a:p>
          <a:p>
            <a:r>
              <a:t>- The plan is EXPLICIT and visible before execution starts</a:t>
            </a:r>
          </a:p>
          <a:p>
            <a:r>
              <a:t>- Each step result is accumulated (completed_steps grows)</a:t>
            </a:r>
          </a:p>
          <a:p>
            <a:r>
              <a:t>- The finalizer synthesizes all results into a coherent answer</a:t>
            </a:r>
          </a:p>
          <a:p>
            <a:r>
              <a:t>- Compare with ReAct: P&amp;E is more structured and predictable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TextBox 7">
            <a:extLst>
              <a:ext uri="{FF2B5EF4-FFF2-40B4-BE49-F238E27FC236}">
                <a16:creationId xmlns:a16="http://schemas.microsoft.com/office/drawing/2014/main" id="{07FFCE91-44F9-70BC-85D0-3A50E15A8BAD}"/>
              </a:ext>
            </a:extLst>
          </p:cNvPr>
          <p:cNvSpPr txBox="1"/>
          <p:nvPr userDrawn="1"/>
        </p:nvSpPr>
        <p:spPr>
          <a:xfrm>
            <a:off x="0" y="6488668"/>
            <a:ext cx="6096000" cy="369332"/>
          </a:xfrm>
          <a:prstGeom prst="rect">
            <a:avLst/>
          </a:prstGeom>
          <a:noFill/>
        </p:spPr>
        <p:txBody>
          <a:bodyPr wrap="square">
            <a:spAutoFit/>
          </a:bodyPr>
          <a:lstStyle/>
          <a:p>
            <a:r>
              <a:rPr lang="en-US" dirty="0"/>
              <a:t>© Ali Khawaja</a:t>
            </a:r>
          </a:p>
        </p:txBody>
      </p:sp>
    </p:spTree>
    <p:extLst>
      <p:ext uri="{BB962C8B-B14F-4D97-AF65-F5344CB8AC3E}">
        <p14:creationId xmlns:p14="http://schemas.microsoft.com/office/powerpoint/2010/main" val="942461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0354" y="238539"/>
            <a:ext cx="11534516" cy="762729"/>
          </a:xfrm>
        </p:spPr>
        <p:txBody>
          <a:bodyPr/>
          <a:lstStyle/>
          <a:p>
            <a:r>
              <a:rPr lang="en-US"/>
              <a:t>Click to edit Master title style</a:t>
            </a:r>
          </a:p>
        </p:txBody>
      </p:sp>
      <p:sp>
        <p:nvSpPr>
          <p:cNvPr id="3" name="Content Placeholder 2"/>
          <p:cNvSpPr>
            <a:spLocks noGrp="1"/>
          </p:cNvSpPr>
          <p:nvPr>
            <p:ph idx="1"/>
          </p:nvPr>
        </p:nvSpPr>
        <p:spPr>
          <a:xfrm>
            <a:off x="240356" y="1130853"/>
            <a:ext cx="11699095" cy="5217696"/>
          </a:xfrm>
        </p:spPr>
        <p:txBody>
          <a:bodyPr/>
          <a:lstStyle>
            <a:lvl1pPr marL="230188" indent="-230188">
              <a:buFont typeface="Wingdings" panose="05000000000000000000" pitchFamily="2" charset="2"/>
              <a:buChar char="§"/>
              <a:defRPr sz="2400"/>
            </a:lvl1pPr>
            <a:lvl2pPr marL="344488" indent="-171450">
              <a:defRPr sz="2400"/>
            </a:lvl2pPr>
            <a:lvl3pPr>
              <a:defRPr sz="22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240356" y="6511041"/>
            <a:ext cx="5901459" cy="274320"/>
          </a:xfrm>
          <a:prstGeom prst="rect">
            <a:avLst/>
          </a:prstGeom>
        </p:spPr>
        <p:txBody>
          <a:bodyPr/>
          <a:lstStyle>
            <a:lvl1pPr algn="l">
              <a:defRPr/>
            </a:lvl1pPr>
          </a:lstStyle>
          <a:p>
            <a:pPr algn="l"/>
            <a:r>
              <a:rPr lang="en-US"/>
              <a:t>© Ali Khawaja | Microsoft</a:t>
            </a:r>
          </a:p>
        </p:txBody>
      </p:sp>
    </p:spTree>
    <p:extLst>
      <p:ext uri="{BB962C8B-B14F-4D97-AF65-F5344CB8AC3E}">
        <p14:creationId xmlns:p14="http://schemas.microsoft.com/office/powerpoint/2010/main" val="2817054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5" name="Footer Placeholder 4"/>
          <p:cNvSpPr>
            <a:spLocks noGrp="1"/>
          </p:cNvSpPr>
          <p:nvPr>
            <p:ph type="ftr" sz="quarter" idx="11"/>
          </p:nvPr>
        </p:nvSpPr>
        <p:spPr>
          <a:xfrm>
            <a:off x="336151" y="6470704"/>
            <a:ext cx="6060295" cy="274320"/>
          </a:xfrm>
          <a:prstGeom prst="rect">
            <a:avLst/>
          </a:prstGeom>
        </p:spPr>
        <p:txBody>
          <a:bodyPr/>
          <a:lstStyle/>
          <a:p>
            <a:endParaRPr lang="en-US"/>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50878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6" name="Footer Placeholder 5"/>
          <p:cNvSpPr>
            <a:spLocks noGrp="1"/>
          </p:cNvSpPr>
          <p:nvPr>
            <p:ph type="ftr" sz="quarter" idx="11"/>
          </p:nvPr>
        </p:nvSpPr>
        <p:spPr>
          <a:xfrm>
            <a:off x="336151" y="6470704"/>
            <a:ext cx="6060295" cy="274320"/>
          </a:xfrm>
          <a:prstGeom prst="rect">
            <a:avLst/>
          </a:prstGeom>
        </p:spPr>
        <p:txBody>
          <a:bodyPr/>
          <a:lstStyle/>
          <a:p>
            <a:endParaRPr lang="en-US"/>
          </a:p>
        </p:txBody>
      </p:sp>
      <p:sp>
        <p:nvSpPr>
          <p:cNvPr id="7" name="Slide Number Placeholder 6"/>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spTree>
    <p:extLst>
      <p:ext uri="{BB962C8B-B14F-4D97-AF65-F5344CB8AC3E}">
        <p14:creationId xmlns:p14="http://schemas.microsoft.com/office/powerpoint/2010/main" val="990530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8" name="Footer Placeholder 7"/>
          <p:cNvSpPr>
            <a:spLocks noGrp="1"/>
          </p:cNvSpPr>
          <p:nvPr>
            <p:ph type="ftr" sz="quarter" idx="11"/>
          </p:nvPr>
        </p:nvSpPr>
        <p:spPr>
          <a:xfrm>
            <a:off x="336151" y="6470704"/>
            <a:ext cx="6060295" cy="274320"/>
          </a:xfrm>
          <a:prstGeom prst="rect">
            <a:avLst/>
          </a:prstGeom>
        </p:spPr>
        <p:txBody>
          <a:bodyPr/>
          <a:lstStyle/>
          <a:p>
            <a:endParaRPr lang="en-US"/>
          </a:p>
        </p:txBody>
      </p:sp>
      <p:sp>
        <p:nvSpPr>
          <p:cNvPr id="9" name="Slide Number Placeholder 8"/>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spTree>
    <p:extLst>
      <p:ext uri="{BB962C8B-B14F-4D97-AF65-F5344CB8AC3E}">
        <p14:creationId xmlns:p14="http://schemas.microsoft.com/office/powerpoint/2010/main" val="1877862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4" name="Footer Placeholder 3"/>
          <p:cNvSpPr>
            <a:spLocks noGrp="1"/>
          </p:cNvSpPr>
          <p:nvPr>
            <p:ph type="ftr" sz="quarter" idx="11"/>
          </p:nvPr>
        </p:nvSpPr>
        <p:spPr>
          <a:xfrm>
            <a:off x="336151" y="6470704"/>
            <a:ext cx="6060295" cy="274320"/>
          </a:xfrm>
          <a:prstGeom prst="rect">
            <a:avLst/>
          </a:prstGeom>
        </p:spPr>
        <p:txBody>
          <a:bodyPr/>
          <a:lstStyle/>
          <a:p>
            <a:endParaRPr lang="en-US"/>
          </a:p>
        </p:txBody>
      </p:sp>
      <p:sp>
        <p:nvSpPr>
          <p:cNvPr id="5" name="Slide Number Placeholder 4"/>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spTree>
    <p:extLst>
      <p:ext uri="{BB962C8B-B14F-4D97-AF65-F5344CB8AC3E}">
        <p14:creationId xmlns:p14="http://schemas.microsoft.com/office/powerpoint/2010/main" val="1235611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3" name="Footer Placeholder 2"/>
          <p:cNvSpPr>
            <a:spLocks noGrp="1"/>
          </p:cNvSpPr>
          <p:nvPr>
            <p:ph type="ftr" sz="quarter" idx="11"/>
          </p:nvPr>
        </p:nvSpPr>
        <p:spPr>
          <a:xfrm>
            <a:off x="336151" y="6470704"/>
            <a:ext cx="6060295" cy="274320"/>
          </a:xfrm>
          <a:prstGeom prst="rect">
            <a:avLst/>
          </a:prstGeom>
        </p:spPr>
        <p:txBody>
          <a:bodyPr/>
          <a:lstStyle/>
          <a:p>
            <a:endParaRPr lang="en-US"/>
          </a:p>
        </p:txBody>
      </p:sp>
      <p:sp>
        <p:nvSpPr>
          <p:cNvPr id="4" name="Slide Number Placeholder 3"/>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spTree>
    <p:extLst>
      <p:ext uri="{BB962C8B-B14F-4D97-AF65-F5344CB8AC3E}">
        <p14:creationId xmlns:p14="http://schemas.microsoft.com/office/powerpoint/2010/main" val="2805567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6" name="Footer Placeholder 5"/>
          <p:cNvSpPr>
            <a:spLocks noGrp="1"/>
          </p:cNvSpPr>
          <p:nvPr>
            <p:ph type="ftr" sz="quarter" idx="11"/>
          </p:nvPr>
        </p:nvSpPr>
        <p:spPr>
          <a:xfrm>
            <a:off x="336151" y="6470704"/>
            <a:ext cx="6060295" cy="274320"/>
          </a:xfrm>
          <a:prstGeom prst="rect">
            <a:avLst/>
          </a:prstGeom>
        </p:spPr>
        <p:txBody>
          <a:bodyPr/>
          <a:lstStyle/>
          <a:p>
            <a:endParaRPr lang="en-US"/>
          </a:p>
        </p:txBody>
      </p:sp>
      <p:sp>
        <p:nvSpPr>
          <p:cNvPr id="7" name="Slide Number Placeholder 6"/>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spTree>
    <p:extLst>
      <p:ext uri="{BB962C8B-B14F-4D97-AF65-F5344CB8AC3E}">
        <p14:creationId xmlns:p14="http://schemas.microsoft.com/office/powerpoint/2010/main" val="2130746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6" name="Footer Placeholder 5"/>
          <p:cNvSpPr>
            <a:spLocks noGrp="1"/>
          </p:cNvSpPr>
          <p:nvPr>
            <p:ph type="ftr" sz="quarter" idx="11"/>
          </p:nvPr>
        </p:nvSpPr>
        <p:spPr>
          <a:xfrm>
            <a:off x="336151" y="6470704"/>
            <a:ext cx="6060295" cy="274320"/>
          </a:xfrm>
          <a:prstGeom prst="rect">
            <a:avLst/>
          </a:prstGeom>
        </p:spPr>
        <p:txBody>
          <a:bodyPr/>
          <a:lstStyle/>
          <a:p>
            <a:endParaRPr lang="en-US"/>
          </a:p>
        </p:txBody>
      </p:sp>
      <p:sp>
        <p:nvSpPr>
          <p:cNvPr id="7" name="Slide Number Placeholder 6"/>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263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5" name="Footer Placeholder 4"/>
          <p:cNvSpPr>
            <a:spLocks noGrp="1"/>
          </p:cNvSpPr>
          <p:nvPr>
            <p:ph type="ftr" sz="quarter" idx="11"/>
          </p:nvPr>
        </p:nvSpPr>
        <p:spPr>
          <a:xfrm>
            <a:off x="336151" y="6470704"/>
            <a:ext cx="6060295" cy="274320"/>
          </a:xfrm>
          <a:prstGeom prst="rect">
            <a:avLst/>
          </a:prstGeom>
        </p:spPr>
        <p:txBody>
          <a:bodyPr/>
          <a:lstStyle/>
          <a:p>
            <a:endParaRPr lang="en-US"/>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spTree>
    <p:extLst>
      <p:ext uri="{BB962C8B-B14F-4D97-AF65-F5344CB8AC3E}">
        <p14:creationId xmlns:p14="http://schemas.microsoft.com/office/powerpoint/2010/main" val="1635057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24129" y="6470704"/>
            <a:ext cx="2154143" cy="274320"/>
          </a:xfrm>
          <a:prstGeom prst="rect">
            <a:avLst/>
          </a:prstGeom>
        </p:spPr>
        <p:txBody>
          <a:bodyPr/>
          <a:lstStyle/>
          <a:p>
            <a:fld id="{F5048E72-A6C7-4244-9A36-882FC52AC991}" type="datetimeFigureOut">
              <a:rPr lang="en-US" smtClean="0"/>
              <a:t>7/5/2026</a:t>
            </a:fld>
            <a:endParaRPr lang="en-US"/>
          </a:p>
        </p:txBody>
      </p:sp>
      <p:sp>
        <p:nvSpPr>
          <p:cNvPr id="5" name="Footer Placeholder 4"/>
          <p:cNvSpPr>
            <a:spLocks noGrp="1"/>
          </p:cNvSpPr>
          <p:nvPr>
            <p:ph type="ftr" sz="quarter" idx="11"/>
          </p:nvPr>
        </p:nvSpPr>
        <p:spPr>
          <a:xfrm>
            <a:off x="336151" y="6470704"/>
            <a:ext cx="6060295" cy="274320"/>
          </a:xfrm>
          <a:prstGeom prst="rect">
            <a:avLst/>
          </a:prstGeom>
        </p:spPr>
        <p:txBody>
          <a:bodyPr/>
          <a:lstStyle/>
          <a:p>
            <a:endParaRPr lang="en-US"/>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p>
            <a:fld id="{60615748-552D-408E-888D-0BAAEA5A9DD8}" type="slidenum">
              <a:rPr lang="en-US" smtClean="0"/>
              <a:t>‹#›</a:t>
            </a:fld>
            <a:endParaRPr lang="en-US"/>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74176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6150" y="225432"/>
            <a:ext cx="11603299" cy="79944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36151" y="1175656"/>
            <a:ext cx="11603300" cy="5133703"/>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a:cxnSpLocks/>
          </p:cNvCxnSpPr>
          <p:nvPr/>
        </p:nvCxnSpPr>
        <p:spPr>
          <a:xfrm flipV="1">
            <a:off x="239485" y="225432"/>
            <a:ext cx="0" cy="79944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E2296ED-3533-3D5B-ECBE-BB8E83D185E2}"/>
              </a:ext>
            </a:extLst>
          </p:cNvPr>
          <p:cNvSpPr txBox="1"/>
          <p:nvPr userDrawn="1"/>
        </p:nvSpPr>
        <p:spPr>
          <a:xfrm>
            <a:off x="-37606" y="6488668"/>
            <a:ext cx="6096000" cy="369332"/>
          </a:xfrm>
          <a:prstGeom prst="rect">
            <a:avLst/>
          </a:prstGeom>
          <a:noFill/>
        </p:spPr>
        <p:txBody>
          <a:bodyPr wrap="square">
            <a:spAutoFit/>
          </a:bodyPr>
          <a:lstStyle/>
          <a:p>
            <a:r>
              <a:rPr lang="en-US" dirty="0"/>
              <a:t>© Ali Khawaja</a:t>
            </a:r>
          </a:p>
        </p:txBody>
      </p:sp>
    </p:spTree>
    <p:extLst>
      <p:ext uri="{BB962C8B-B14F-4D97-AF65-F5344CB8AC3E}">
        <p14:creationId xmlns:p14="http://schemas.microsoft.com/office/powerpoint/2010/main" val="40002622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285750" indent="-285750" algn="l" defTabSz="914400" rtl="0" eaLnBrk="1" latinLnBrk="0" hangingPunct="1">
        <a:lnSpc>
          <a:spcPct val="90000"/>
        </a:lnSpc>
        <a:spcBef>
          <a:spcPts val="1200"/>
        </a:spcBef>
        <a:spcAft>
          <a:spcPts val="200"/>
        </a:spcAft>
        <a:buClr>
          <a:schemeClr val="accent2"/>
        </a:buClr>
        <a:buSzPct val="100000"/>
        <a:buFont typeface="Wingdings" panose="05000000000000000000" pitchFamily="2" charset="2"/>
        <a:buChar char="§"/>
        <a:defRPr sz="2800" kern="1200">
          <a:solidFill>
            <a:schemeClr val="tx1"/>
          </a:solidFill>
          <a:latin typeface="+mn-lt"/>
          <a:ea typeface="+mn-ea"/>
          <a:cs typeface="+mn-cs"/>
        </a:defRPr>
      </a:lvl1pPr>
      <a:lvl2pPr marL="398463" indent="-214313" algn="l" defTabSz="914400" rtl="0" eaLnBrk="1" latinLnBrk="0" hangingPunct="1">
        <a:lnSpc>
          <a:spcPct val="90000"/>
        </a:lnSpc>
        <a:spcBef>
          <a:spcPts val="200"/>
        </a:spcBef>
        <a:spcAft>
          <a:spcPts val="400"/>
        </a:spcAft>
        <a:buClr>
          <a:schemeClr val="accent2"/>
        </a:buClr>
        <a:buFont typeface="Wingdings 3" pitchFamily="18" charset="2"/>
        <a:buChar char=""/>
        <a:defRPr sz="2400" kern="1200">
          <a:solidFill>
            <a:schemeClr val="tx1"/>
          </a:solidFill>
          <a:latin typeface="+mn-lt"/>
          <a:ea typeface="+mn-ea"/>
          <a:cs typeface="+mn-cs"/>
        </a:defRPr>
      </a:lvl2pPr>
      <a:lvl3pPr marL="515938" indent="-193675" algn="l" defTabSz="914400" rtl="0" eaLnBrk="1" latinLnBrk="0" hangingPunct="1">
        <a:lnSpc>
          <a:spcPct val="90000"/>
        </a:lnSpc>
        <a:spcBef>
          <a:spcPts val="200"/>
        </a:spcBef>
        <a:spcAft>
          <a:spcPts val="400"/>
        </a:spcAft>
        <a:buClr>
          <a:schemeClr val="accent2"/>
        </a:buClr>
        <a:buFont typeface="Wingdings 3" pitchFamily="18" charset="2"/>
        <a:buChar char=""/>
        <a:defRPr sz="2400" kern="1200">
          <a:solidFill>
            <a:schemeClr val="tx1"/>
          </a:solidFill>
          <a:latin typeface="+mn-lt"/>
          <a:ea typeface="+mn-ea"/>
          <a:cs typeface="+mn-cs"/>
        </a:defRPr>
      </a:lvl3pPr>
      <a:lvl4pPr marL="628650" indent="-171450" algn="l" defTabSz="914400" rtl="0" eaLnBrk="1" latinLnBrk="0" hangingPunct="1">
        <a:lnSpc>
          <a:spcPct val="90000"/>
        </a:lnSpc>
        <a:spcBef>
          <a:spcPts val="200"/>
        </a:spcBef>
        <a:spcAft>
          <a:spcPts val="400"/>
        </a:spcAft>
        <a:buClr>
          <a:schemeClr val="accent2"/>
        </a:buClr>
        <a:buFont typeface="Wingdings 3" pitchFamily="18" charset="2"/>
        <a:buChar char=""/>
        <a:defRPr sz="2400" kern="1200">
          <a:solidFill>
            <a:schemeClr val="tx1"/>
          </a:solidFill>
          <a:latin typeface="+mn-lt"/>
          <a:ea typeface="+mn-ea"/>
          <a:cs typeface="+mn-cs"/>
        </a:defRPr>
      </a:lvl4pPr>
      <a:lvl5pPr marL="801688" indent="-161925" algn="l" defTabSz="914400" rtl="0" eaLnBrk="1" latinLnBrk="0" hangingPunct="1">
        <a:lnSpc>
          <a:spcPct val="90000"/>
        </a:lnSpc>
        <a:spcBef>
          <a:spcPts val="200"/>
        </a:spcBef>
        <a:spcAft>
          <a:spcPts val="400"/>
        </a:spcAft>
        <a:buClr>
          <a:schemeClr val="accent2"/>
        </a:buClr>
        <a:buFont typeface="Wingdings 3" pitchFamily="18" charset="2"/>
        <a:buChar char=""/>
        <a:defRPr sz="2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docs.langchain.com/oss/python/langchain/agen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langchain.com/oss/python/langgraph/use-subgraphs#call-a-subgraph-inside-a-node" TargetMode="External"/><Relationship Id="rId3" Type="http://schemas.openxmlformats.org/officeDocument/2006/relationships/hyperlink" Target="https://docs.langchain.com/oss/python/langgraph/use-subgraphs#add-a-subgraph-as-a-node" TargetMode="External"/><Relationship Id="rId4" Type="http://schemas.openxmlformats.org/officeDocument/2006/relationships/notesSlide" Target="../notesSlides/notesSlide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langchain.com/oss/python/langchain/multi-agent" TargetMode="External"/><Relationship Id="rId3" Type="http://schemas.openxmlformats.org/officeDocument/2006/relationships/notesSlide" Target="../notesSlides/notesSlide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langchain.com/oss/python/langchain/multi-agent" TargetMode="External"/><Relationship Id="rId3" Type="http://schemas.openxmlformats.org/officeDocument/2006/relationships/hyperlink" Target="https://docs.langchain.com/oss/python/langgraph/graph-api#why-use-messages" TargetMode="External"/><Relationship Id="rId4" Type="http://schemas.openxmlformats.org/officeDocument/2006/relationships/image" Target="../media/image10.png"/><Relationship Id="rId5" Type="http://schemas.openxmlformats.org/officeDocument/2006/relationships/notesSlide" Target="../notesSlides/notesSlide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langchain.com/oss/python/langgraph/interrupts" TargetMode="External"/><Relationship Id="rId3" Type="http://schemas.openxmlformats.org/officeDocument/2006/relationships/hyperlink" Target="https://docs.langchain.com/oss/python/langgraph/durable-execution" TargetMode="External"/><Relationship Id="rId4" Type="http://schemas.openxmlformats.org/officeDocument/2006/relationships/hyperlink" Target="https://docs.langchain.com/oss/python/langgraph/use-subgraphs#per-invocation-default" TargetMode="External"/><Relationship Id="rId5" Type="http://schemas.openxmlformats.org/officeDocument/2006/relationships/hyperlink" Target="https://docs.langchain.com/oss/python/langgraph/use-subgraphs#per-thread" TargetMode="External"/><Relationship Id="rId6" Type="http://schemas.openxmlformats.org/officeDocument/2006/relationships/hyperlink" Target="https://docs.langchain.com/oss/python/langgraph/use-subgraphs#stateless" TargetMode="External"/><Relationship Id="rId7" Type="http://schemas.openxmlformats.org/officeDocument/2006/relationships/notesSlide" Target="../notesSlides/notesSlide3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4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docs.langchain.com/oss/python/langgraph/persistence" TargetMode="External"/><Relationship Id="rId4" Type="http://schemas.openxmlformats.org/officeDocument/2006/relationships/hyperlink" Target="https://docs.langchain.com/oss/python/langgraph/persistence#checkpointer-libraries" TargetMode="External"/><Relationship Id="rId5" Type="http://schemas.openxmlformats.org/officeDocument/2006/relationships/hyperlink" Target="https://docs.langchain.com/oss/python/langgraph/persistence#threads" TargetMode="External"/><Relationship Id="rId6" Type="http://schemas.openxmlformats.org/officeDocument/2006/relationships/hyperlink" Target="https://reference.langchain.com/python/langgraph/func/task"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ocs.langchain.com/langsmith/agent-server" TargetMode="External"/><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langchain.com/langsmith/cli#dev" TargetMode="External"/><Relationship Id="rId3" Type="http://schemas.openxmlformats.org/officeDocument/2006/relationships/hyperlink" Target="https://docs.langchain.com/langsmith/cli#build" TargetMode="External"/><Relationship Id="rId4" Type="http://schemas.openxmlformats.org/officeDocument/2006/relationships/hyperlink" Target="https://docs.langchain.com/langsmith/cli#deploy" TargetMode="External"/><Relationship Id="rId5" Type="http://schemas.openxmlformats.org/officeDocument/2006/relationships/hyperlink" Target="https://docs.langchain.com/langsmith/cli#dockerfile" TargetMode="External"/><Relationship Id="rId6" Type="http://schemas.openxmlformats.org/officeDocument/2006/relationships/hyperlink" Target="https://docs.langchain.com/langsmith/cli#up" TargetMode="External"/><Relationship Id="rId7" Type="http://schemas.openxmlformats.org/officeDocument/2006/relationships/notesSlide" Target="../notesSlides/notesSlide5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4802B-227C-0308-FF4A-BD1EC7722A47}"/>
              </a:ext>
            </a:extLst>
          </p:cNvPr>
          <p:cNvSpPr>
            <a:spLocks noGrp="1"/>
          </p:cNvSpPr>
          <p:nvPr>
            <p:ph type="ctrTitle"/>
          </p:nvPr>
        </p:nvSpPr>
        <p:spPr/>
        <p:txBody>
          <a:bodyPr/>
          <a:lstStyle/>
          <a:p>
            <a:r>
              <a:rPr lang="en-US" dirty="0" err="1"/>
              <a:t>Langgraph</a:t>
            </a:r>
            <a:endParaRPr lang="en-US" dirty="0"/>
          </a:p>
        </p:txBody>
      </p:sp>
      <p:sp>
        <p:nvSpPr>
          <p:cNvPr id="3" name="Subtitle 2">
            <a:extLst>
              <a:ext uri="{FF2B5EF4-FFF2-40B4-BE49-F238E27FC236}">
                <a16:creationId xmlns:a16="http://schemas.microsoft.com/office/drawing/2014/main" id="{E4F8BC61-E415-71E1-3C9E-053F14EDC779}"/>
              </a:ext>
            </a:extLst>
          </p:cNvPr>
          <p:cNvSpPr>
            <a:spLocks noGrp="1"/>
          </p:cNvSpPr>
          <p:nvPr>
            <p:ph type="subTitle" idx="1"/>
          </p:nvPr>
        </p:nvSpPr>
        <p:spPr/>
        <p:txBody>
          <a:bodyPr/>
          <a:lstStyle/>
          <a:p>
            <a:r>
              <a:rPr lang="en-US" dirty="0"/>
              <a:t>Ali Khawaja</a:t>
            </a:r>
          </a:p>
          <a:p>
            <a:r>
              <a:rPr lang="en-US" dirty="0"/>
              <a:t>Microsoft Arabia</a:t>
            </a:r>
          </a:p>
        </p:txBody>
      </p:sp>
    </p:spTree>
    <p:extLst>
      <p:ext uri="{BB962C8B-B14F-4D97-AF65-F5344CB8AC3E}">
        <p14:creationId xmlns:p14="http://schemas.microsoft.com/office/powerpoint/2010/main" val="4265649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C3B63-1EA8-FBDD-5477-A55FD2BFA80A}"/>
              </a:ext>
            </a:extLst>
          </p:cNvPr>
          <p:cNvSpPr>
            <a:spLocks noGrp="1"/>
          </p:cNvSpPr>
          <p:nvPr>
            <p:ph type="title"/>
          </p:nvPr>
        </p:nvSpPr>
        <p:spPr>
          <a:xfrm>
            <a:off x="370354" y="329008"/>
            <a:ext cx="9720072" cy="669610"/>
          </a:xfrm>
        </p:spPr>
        <p:txBody>
          <a:bodyPr>
            <a:normAutofit fontScale="90000"/>
          </a:bodyPr>
          <a:lstStyle/>
          <a:p>
            <a:r>
              <a:rPr lang="en-US" dirty="0" err="1"/>
              <a:t>Langgraph</a:t>
            </a:r>
            <a:endParaRPr lang="en-US" dirty="0"/>
          </a:p>
        </p:txBody>
      </p:sp>
      <p:sp>
        <p:nvSpPr>
          <p:cNvPr id="3" name="Content Placeholder 2">
            <a:extLst>
              <a:ext uri="{FF2B5EF4-FFF2-40B4-BE49-F238E27FC236}">
                <a16:creationId xmlns:a16="http://schemas.microsoft.com/office/drawing/2014/main" id="{4C2B7B38-10DE-D822-48E3-D7010DDB120C}"/>
              </a:ext>
            </a:extLst>
          </p:cNvPr>
          <p:cNvSpPr>
            <a:spLocks noGrp="1"/>
          </p:cNvSpPr>
          <p:nvPr>
            <p:ph idx="1"/>
          </p:nvPr>
        </p:nvSpPr>
        <p:spPr>
          <a:xfrm>
            <a:off x="246452" y="1240624"/>
            <a:ext cx="11699095" cy="4931229"/>
          </a:xfrm>
        </p:spPr>
        <p:txBody>
          <a:bodyPr>
            <a:normAutofit/>
          </a:bodyPr>
          <a:lstStyle/>
          <a:p>
            <a:pPr>
              <a:buFont typeface="Wingdings" panose="05000000000000000000" pitchFamily="2" charset="2"/>
              <a:buChar char="§"/>
            </a:pPr>
            <a:r>
              <a:rPr lang="en-US" sz="3200" dirty="0"/>
              <a:t>Open source library authored by </a:t>
            </a:r>
            <a:r>
              <a:rPr lang="en-US" sz="3200" dirty="0" err="1"/>
              <a:t>LangChain</a:t>
            </a:r>
            <a:endParaRPr lang="en-US" sz="3200" dirty="0"/>
          </a:p>
          <a:p>
            <a:r>
              <a:rPr lang="en-US" sz="3200" dirty="0"/>
              <a:t>LangGraph was designed to enable developers to implement:</a:t>
            </a:r>
          </a:p>
          <a:p>
            <a:pPr lvl="1"/>
            <a:r>
              <a:rPr lang="en-US" sz="2800" dirty="0" err="1"/>
              <a:t>Multiactor</a:t>
            </a:r>
            <a:endParaRPr lang="en-US" sz="2800" dirty="0"/>
          </a:p>
          <a:p>
            <a:pPr lvl="1"/>
            <a:r>
              <a:rPr lang="en-US" sz="2800" dirty="0"/>
              <a:t>Multistep</a:t>
            </a:r>
          </a:p>
          <a:p>
            <a:pPr lvl="1"/>
            <a:r>
              <a:rPr lang="en-US" sz="2800" dirty="0"/>
              <a:t>Stateful </a:t>
            </a:r>
          </a:p>
          <a:p>
            <a:pPr lvl="1"/>
            <a:r>
              <a:rPr lang="en-US" sz="2800" dirty="0"/>
              <a:t>Cognitive architectures</a:t>
            </a:r>
          </a:p>
          <a:p>
            <a:r>
              <a:rPr lang="en-US" sz="2800" dirty="0"/>
              <a:t>LangGraph models AI workflows as a </a:t>
            </a:r>
            <a:r>
              <a:rPr lang="en-US" sz="2800" b="1" dirty="0"/>
              <a:t>graph</a:t>
            </a:r>
            <a:r>
              <a:rPr lang="en-US" sz="2800" dirty="0"/>
              <a:t> instead of a chain.</a:t>
            </a:r>
          </a:p>
        </p:txBody>
      </p:sp>
    </p:spTree>
    <p:extLst>
      <p:ext uri="{BB962C8B-B14F-4D97-AF65-F5344CB8AC3E}">
        <p14:creationId xmlns:p14="http://schemas.microsoft.com/office/powerpoint/2010/main" val="615273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DB115-3BDB-1AC6-38F6-46C1AD7D2A8A}"/>
              </a:ext>
            </a:extLst>
          </p:cNvPr>
          <p:cNvSpPr>
            <a:spLocks noGrp="1"/>
          </p:cNvSpPr>
          <p:nvPr>
            <p:ph type="title"/>
          </p:nvPr>
        </p:nvSpPr>
        <p:spPr/>
        <p:txBody>
          <a:bodyPr/>
          <a:lstStyle/>
          <a:p>
            <a:r>
              <a:rPr lang="en-US" dirty="0" err="1"/>
              <a:t>Langgraph</a:t>
            </a:r>
            <a:r>
              <a:rPr lang="en-US" dirty="0"/>
              <a:t> (</a:t>
            </a:r>
            <a:r>
              <a:rPr lang="en-US" dirty="0" err="1"/>
              <a:t>cont</a:t>
            </a:r>
            <a:r>
              <a:rPr lang="en-US" dirty="0"/>
              <a:t>…)</a:t>
            </a:r>
          </a:p>
        </p:txBody>
      </p:sp>
      <p:sp>
        <p:nvSpPr>
          <p:cNvPr id="3" name="Content Placeholder 2">
            <a:extLst>
              <a:ext uri="{FF2B5EF4-FFF2-40B4-BE49-F238E27FC236}">
                <a16:creationId xmlns:a16="http://schemas.microsoft.com/office/drawing/2014/main" id="{DEB364F1-CADF-4A63-9BB7-986D65907A42}"/>
              </a:ext>
            </a:extLst>
          </p:cNvPr>
          <p:cNvSpPr>
            <a:spLocks noGrp="1"/>
          </p:cNvSpPr>
          <p:nvPr>
            <p:ph idx="1"/>
          </p:nvPr>
        </p:nvSpPr>
        <p:spPr/>
        <p:txBody>
          <a:bodyPr/>
          <a:lstStyle/>
          <a:p>
            <a:r>
              <a:rPr lang="en-US" dirty="0"/>
              <a:t>LangGraph is a low-level orchestration framework and runtime for building, managing, and deploying long-running, stateful agents.</a:t>
            </a:r>
          </a:p>
          <a:p>
            <a:r>
              <a:rPr lang="en-US" dirty="0"/>
              <a:t>Very low-level, and focused entirely on agent </a:t>
            </a:r>
            <a:r>
              <a:rPr lang="en-US" b="1" dirty="0"/>
              <a:t>orchestration!</a:t>
            </a:r>
          </a:p>
          <a:p>
            <a:r>
              <a:rPr lang="en-US" dirty="0"/>
              <a:t>You don’t need to use </a:t>
            </a:r>
            <a:r>
              <a:rPr lang="en-US" dirty="0" err="1"/>
              <a:t>LangChain</a:t>
            </a:r>
            <a:r>
              <a:rPr lang="en-US" dirty="0"/>
              <a:t> to use LangGraph</a:t>
            </a:r>
          </a:p>
          <a:p>
            <a:r>
              <a:rPr lang="en-US" dirty="0"/>
              <a:t>Use </a:t>
            </a:r>
            <a:r>
              <a:rPr lang="en-US" dirty="0" err="1"/>
              <a:t>LangChain’s</a:t>
            </a:r>
            <a:r>
              <a:rPr lang="en-US" dirty="0"/>
              <a:t> </a:t>
            </a:r>
            <a:r>
              <a:rPr lang="en-US" dirty="0">
                <a:hlinkClick r:id="rId3"/>
              </a:rPr>
              <a:t>agents</a:t>
            </a:r>
            <a:r>
              <a:rPr lang="en-US" dirty="0"/>
              <a:t> that provide prebuilt architectures for common LLM and tool-calling loops.</a:t>
            </a:r>
          </a:p>
          <a:p>
            <a:r>
              <a:rPr lang="en-US" dirty="0" err="1"/>
              <a:t>LangGraph</a:t>
            </a:r>
            <a:r>
              <a:rPr lang="en-US" dirty="0"/>
              <a:t> is built by LangChain Inc, the creators of LangChain, but can be used without LangChain.</a:t>
            </a:r>
          </a:p>
        </p:txBody>
      </p:sp>
    </p:spTree>
    <p:extLst>
      <p:ext uri="{BB962C8B-B14F-4D97-AF65-F5344CB8AC3E}">
        <p14:creationId xmlns:p14="http://schemas.microsoft.com/office/powerpoint/2010/main" val="3605148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417D3-61C7-F062-3B44-52004793E268}"/>
              </a:ext>
            </a:extLst>
          </p:cNvPr>
          <p:cNvSpPr>
            <a:spLocks noGrp="1"/>
          </p:cNvSpPr>
          <p:nvPr>
            <p:ph type="title"/>
          </p:nvPr>
        </p:nvSpPr>
        <p:spPr>
          <a:xfrm>
            <a:off x="350839" y="245659"/>
            <a:ext cx="9720072" cy="773373"/>
          </a:xfrm>
        </p:spPr>
        <p:txBody>
          <a:bodyPr>
            <a:normAutofit/>
          </a:bodyPr>
          <a:lstStyle/>
          <a:p>
            <a:r>
              <a:rPr lang="en-US" dirty="0" err="1"/>
              <a:t>Langgraph</a:t>
            </a:r>
            <a:r>
              <a:rPr lang="en-US" dirty="0"/>
              <a:t> - </a:t>
            </a:r>
            <a:r>
              <a:rPr lang="en-US" dirty="0" err="1"/>
              <a:t>Multiactor</a:t>
            </a:r>
            <a:endParaRPr lang="en-US" dirty="0"/>
          </a:p>
        </p:txBody>
      </p:sp>
      <p:pic>
        <p:nvPicPr>
          <p:cNvPr id="5" name="Content Placeholder 4">
            <a:extLst>
              <a:ext uri="{FF2B5EF4-FFF2-40B4-BE49-F238E27FC236}">
                <a16:creationId xmlns:a16="http://schemas.microsoft.com/office/drawing/2014/main" id="{B97585AD-8EFD-8C27-B11F-61935B5ABCED}"/>
              </a:ext>
            </a:extLst>
          </p:cNvPr>
          <p:cNvPicPr>
            <a:picLocks noGrp="1" noChangeAspect="1"/>
          </p:cNvPicPr>
          <p:nvPr>
            <p:ph sz="half" idx="1"/>
          </p:nvPr>
        </p:nvPicPr>
        <p:blipFill>
          <a:blip r:embed="rId2"/>
          <a:stretch>
            <a:fillRect/>
          </a:stretch>
        </p:blipFill>
        <p:spPr>
          <a:xfrm>
            <a:off x="6152416" y="1262417"/>
            <a:ext cx="5665858" cy="3767795"/>
          </a:xfrm>
          <a:prstGeom prst="rect">
            <a:avLst/>
          </a:prstGeom>
        </p:spPr>
      </p:pic>
      <p:sp>
        <p:nvSpPr>
          <p:cNvPr id="8" name="Content Placeholder 7">
            <a:extLst>
              <a:ext uri="{FF2B5EF4-FFF2-40B4-BE49-F238E27FC236}">
                <a16:creationId xmlns:a16="http://schemas.microsoft.com/office/drawing/2014/main" id="{CA4FAB9F-0D95-DD7D-AB09-7B196D42F64E}"/>
              </a:ext>
            </a:extLst>
          </p:cNvPr>
          <p:cNvSpPr>
            <a:spLocks noGrp="1"/>
          </p:cNvSpPr>
          <p:nvPr>
            <p:ph sz="half" idx="2"/>
          </p:nvPr>
        </p:nvSpPr>
        <p:spPr>
          <a:xfrm>
            <a:off x="275456" y="1262417"/>
            <a:ext cx="5499227" cy="5408649"/>
          </a:xfrm>
        </p:spPr>
        <p:txBody>
          <a:bodyPr>
            <a:noAutofit/>
          </a:bodyPr>
          <a:lstStyle/>
          <a:p>
            <a:r>
              <a:rPr lang="en-US" sz="2800"/>
              <a:t>A team of specialists can build something together that none of them could build alone. </a:t>
            </a:r>
          </a:p>
          <a:p>
            <a:r>
              <a:rPr lang="en-US" sz="2800"/>
              <a:t>Similarly, an LLM prompt is much more powerful when paired up with related a</a:t>
            </a:r>
            <a:r>
              <a:rPr lang="en-US"/>
              <a:t>rtifacts:</a:t>
            </a:r>
            <a:endParaRPr lang="en-US" sz="2800"/>
          </a:p>
          <a:p>
            <a:pPr lvl="2"/>
            <a:r>
              <a:rPr lang="en-US"/>
              <a:t>Prompts</a:t>
            </a:r>
          </a:p>
          <a:p>
            <a:pPr lvl="2"/>
            <a:r>
              <a:rPr lang="en-US"/>
              <a:t>Tools</a:t>
            </a:r>
          </a:p>
          <a:p>
            <a:pPr lvl="2"/>
            <a:r>
              <a:rPr lang="en-US"/>
              <a:t>Agents</a:t>
            </a:r>
          </a:p>
          <a:p>
            <a:pPr lvl="2"/>
            <a:r>
              <a:rPr lang="en-US"/>
              <a:t>MCP Servers, etc. </a:t>
            </a:r>
          </a:p>
        </p:txBody>
      </p:sp>
    </p:spTree>
    <p:extLst>
      <p:ext uri="{BB962C8B-B14F-4D97-AF65-F5344CB8AC3E}">
        <p14:creationId xmlns:p14="http://schemas.microsoft.com/office/powerpoint/2010/main" val="2895894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F5CC1E-6D65-99DE-FEB6-A23E555EA94D}"/>
              </a:ext>
            </a:extLst>
          </p:cNvPr>
          <p:cNvSpPr>
            <a:spLocks noGrp="1"/>
          </p:cNvSpPr>
          <p:nvPr>
            <p:ph type="title"/>
          </p:nvPr>
        </p:nvSpPr>
        <p:spPr/>
        <p:txBody>
          <a:bodyPr/>
          <a:lstStyle/>
          <a:p>
            <a:r>
              <a:rPr lang="en-US"/>
              <a:t>Actor coordination</a:t>
            </a:r>
          </a:p>
        </p:txBody>
      </p:sp>
      <p:sp>
        <p:nvSpPr>
          <p:cNvPr id="6" name="Content Placeholder 5">
            <a:extLst>
              <a:ext uri="{FF2B5EF4-FFF2-40B4-BE49-F238E27FC236}">
                <a16:creationId xmlns:a16="http://schemas.microsoft.com/office/drawing/2014/main" id="{A3E209D8-714E-4ADA-3A62-00F47F9A9288}"/>
              </a:ext>
            </a:extLst>
          </p:cNvPr>
          <p:cNvSpPr>
            <a:spLocks noGrp="1"/>
          </p:cNvSpPr>
          <p:nvPr>
            <p:ph idx="1"/>
          </p:nvPr>
        </p:nvSpPr>
        <p:spPr>
          <a:xfrm>
            <a:off x="309424" y="1401765"/>
            <a:ext cx="5786576" cy="5217696"/>
          </a:xfrm>
        </p:spPr>
        <p:txBody>
          <a:bodyPr>
            <a:normAutofit/>
          </a:bodyPr>
          <a:lstStyle/>
          <a:p>
            <a:r>
              <a:rPr lang="en-US"/>
              <a:t>An application with multiple actors needs a coordination layer to manage the following:</a:t>
            </a:r>
          </a:p>
          <a:p>
            <a:pPr lvl="1"/>
            <a:r>
              <a:rPr lang="en-US"/>
              <a:t>Define the actors involved (the nodes in a graph), and </a:t>
            </a:r>
          </a:p>
          <a:p>
            <a:pPr lvl="1"/>
            <a:r>
              <a:rPr lang="en-US"/>
              <a:t>How they hand off work to each other (the edges in that graph)</a:t>
            </a:r>
          </a:p>
          <a:p>
            <a:pPr lvl="1"/>
            <a:r>
              <a:rPr lang="en-US"/>
              <a:t>Schedule execution of each actor </a:t>
            </a:r>
          </a:p>
          <a:p>
            <a:pPr fontAlgn="base"/>
            <a:r>
              <a:rPr lang="en-US"/>
              <a:t>With a single central state, we can:</a:t>
            </a:r>
          </a:p>
          <a:p>
            <a:pPr lvl="1" fontAlgn="base"/>
            <a:r>
              <a:rPr lang="en-US"/>
              <a:t>Snapshot and store the central state during or after each computation.</a:t>
            </a:r>
          </a:p>
          <a:p>
            <a:pPr lvl="1" fontAlgn="base"/>
            <a:r>
              <a:rPr lang="en-US"/>
              <a:t>Pause and resume execution, which makes it easy to recover from errors.</a:t>
            </a:r>
          </a:p>
          <a:p>
            <a:pPr lvl="1" fontAlgn="base"/>
            <a:r>
              <a:rPr lang="en-US"/>
              <a:t>Implement human-in-the-loop controls</a:t>
            </a:r>
          </a:p>
          <a:p>
            <a:endParaRPr lang="en-US"/>
          </a:p>
        </p:txBody>
      </p:sp>
      <p:pic>
        <p:nvPicPr>
          <p:cNvPr id="3074" name="Picture 2" descr="A screenshot of a computer  Description automatically generated">
            <a:extLst>
              <a:ext uri="{FF2B5EF4-FFF2-40B4-BE49-F238E27FC236}">
                <a16:creationId xmlns:a16="http://schemas.microsoft.com/office/drawing/2014/main" id="{12BBBE0D-9657-D13A-004C-459A3FDFFD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7576" y="1479950"/>
            <a:ext cx="5715000" cy="4238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76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5B431-5239-C683-7C99-9783E6EFF141}"/>
              </a:ext>
            </a:extLst>
          </p:cNvPr>
          <p:cNvSpPr>
            <a:spLocks noGrp="1"/>
          </p:cNvSpPr>
          <p:nvPr>
            <p:ph type="title"/>
          </p:nvPr>
        </p:nvSpPr>
        <p:spPr/>
        <p:txBody>
          <a:bodyPr/>
          <a:lstStyle/>
          <a:p>
            <a:r>
              <a:rPr lang="en-US" dirty="0"/>
              <a:t>Graph in </a:t>
            </a:r>
            <a:r>
              <a:rPr lang="en-US" dirty="0" err="1"/>
              <a:t>langgraph</a:t>
            </a:r>
            <a:r>
              <a:rPr lang="en-US" dirty="0"/>
              <a:t> (DAG!)</a:t>
            </a:r>
          </a:p>
        </p:txBody>
      </p:sp>
      <p:sp>
        <p:nvSpPr>
          <p:cNvPr id="3" name="Content Placeholder 2">
            <a:extLst>
              <a:ext uri="{FF2B5EF4-FFF2-40B4-BE49-F238E27FC236}">
                <a16:creationId xmlns:a16="http://schemas.microsoft.com/office/drawing/2014/main" id="{F26D27FD-B7DE-561E-DA3C-4029C92E2252}"/>
              </a:ext>
            </a:extLst>
          </p:cNvPr>
          <p:cNvSpPr>
            <a:spLocks noGrp="1"/>
          </p:cNvSpPr>
          <p:nvPr>
            <p:ph idx="1"/>
          </p:nvPr>
        </p:nvSpPr>
        <p:spPr/>
        <p:txBody>
          <a:bodyPr/>
          <a:lstStyle/>
          <a:p>
            <a:pPr fontAlgn="base"/>
            <a:r>
              <a:rPr lang="en-US"/>
              <a:t>Each </a:t>
            </a:r>
            <a:r>
              <a:rPr lang="en-US" i="1"/>
              <a:t>graph</a:t>
            </a:r>
            <a:r>
              <a:rPr lang="en-US"/>
              <a:t> is then made up of the following:</a:t>
            </a:r>
          </a:p>
          <a:p>
            <a:pPr lvl="1" fontAlgn="base"/>
            <a:r>
              <a:rPr lang="en-US" i="1"/>
              <a:t>State</a:t>
            </a:r>
          </a:p>
          <a:p>
            <a:pPr lvl="2" fontAlgn="base"/>
            <a:r>
              <a:rPr lang="en-US"/>
              <a:t>The data received from outside the application, modified and produced by the application while it’s running.</a:t>
            </a:r>
          </a:p>
          <a:p>
            <a:pPr lvl="1" fontAlgn="base"/>
            <a:r>
              <a:rPr lang="en-US" i="1"/>
              <a:t>Nodes</a:t>
            </a:r>
          </a:p>
          <a:p>
            <a:pPr lvl="2" fontAlgn="base"/>
            <a:r>
              <a:rPr lang="en-US"/>
              <a:t>Each step to be taken. Nodes are simply Python/JS functions (tools), which receive the current state as input and can return an update to that state (that is, they can add to it and modify or remove existing data).</a:t>
            </a:r>
          </a:p>
          <a:p>
            <a:pPr lvl="1" fontAlgn="base"/>
            <a:r>
              <a:rPr lang="en-US" i="1"/>
              <a:t>Edges</a:t>
            </a:r>
          </a:p>
          <a:p>
            <a:pPr lvl="2" fontAlgn="base"/>
            <a:r>
              <a:rPr lang="en-US"/>
              <a:t>The connections between nodes. Edges determine the path taken from the first node to the last, and they can be either:</a:t>
            </a:r>
          </a:p>
          <a:p>
            <a:pPr lvl="3" fontAlgn="base"/>
            <a:r>
              <a:rPr lang="en-US"/>
              <a:t>fixed (that is, after Node B, always visit node D) or </a:t>
            </a:r>
          </a:p>
          <a:p>
            <a:pPr lvl="3" fontAlgn="base"/>
            <a:r>
              <a:rPr lang="en-US"/>
              <a:t>conditional (evaluate a function to decide the next node to visit after node C).</a:t>
            </a:r>
          </a:p>
          <a:p>
            <a:endParaRPr lang="en-US"/>
          </a:p>
        </p:txBody>
      </p:sp>
    </p:spTree>
    <p:extLst>
      <p:ext uri="{BB962C8B-B14F-4D97-AF65-F5344CB8AC3E}">
        <p14:creationId xmlns:p14="http://schemas.microsoft.com/office/powerpoint/2010/main" val="6683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4407C-DFC3-B316-5768-821CC36891A0}"/>
              </a:ext>
            </a:extLst>
          </p:cNvPr>
          <p:cNvSpPr>
            <a:spLocks noGrp="1"/>
          </p:cNvSpPr>
          <p:nvPr>
            <p:ph type="title"/>
          </p:nvPr>
        </p:nvSpPr>
        <p:spPr/>
        <p:txBody>
          <a:bodyPr/>
          <a:lstStyle/>
          <a:p>
            <a:r>
              <a:rPr lang="en-US"/>
              <a:t>Implementing a basic graph</a:t>
            </a:r>
          </a:p>
        </p:txBody>
      </p:sp>
      <p:pic>
        <p:nvPicPr>
          <p:cNvPr id="4098" name="Picture 2">
            <a:extLst>
              <a:ext uri="{FF2B5EF4-FFF2-40B4-BE49-F238E27FC236}">
                <a16:creationId xmlns:a16="http://schemas.microsoft.com/office/drawing/2014/main" id="{EEFC80C6-F201-4429-EE9E-447D3CADD3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451" y="1130300"/>
            <a:ext cx="11686398" cy="5218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4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6EC56-D908-D695-9B58-9933D9190C4B}"/>
              </a:ext>
            </a:extLst>
          </p:cNvPr>
          <p:cNvSpPr>
            <a:spLocks noGrp="1"/>
          </p:cNvSpPr>
          <p:nvPr>
            <p:ph type="title"/>
          </p:nvPr>
        </p:nvSpPr>
        <p:spPr/>
        <p:txBody>
          <a:bodyPr/>
          <a:lstStyle/>
          <a:p>
            <a:r>
              <a:rPr lang="en-US"/>
              <a:t>Graph building blocks</a:t>
            </a:r>
          </a:p>
        </p:txBody>
      </p:sp>
      <p:sp>
        <p:nvSpPr>
          <p:cNvPr id="3" name="Content Placeholder 2">
            <a:extLst>
              <a:ext uri="{FF2B5EF4-FFF2-40B4-BE49-F238E27FC236}">
                <a16:creationId xmlns:a16="http://schemas.microsoft.com/office/drawing/2014/main" id="{F986E037-C949-F317-02F2-27D2A2EA35C1}"/>
              </a:ext>
            </a:extLst>
          </p:cNvPr>
          <p:cNvSpPr>
            <a:spLocks noGrp="1"/>
          </p:cNvSpPr>
          <p:nvPr>
            <p:ph idx="1"/>
          </p:nvPr>
        </p:nvSpPr>
        <p:spPr/>
        <p:txBody>
          <a:bodyPr>
            <a:normAutofit/>
          </a:bodyPr>
          <a:lstStyle/>
          <a:p>
            <a:r>
              <a:rPr lang="en-US" sz="2800"/>
              <a:t>Graph state (object to hold state of the workflow/graph)</a:t>
            </a:r>
          </a:p>
          <a:p>
            <a:r>
              <a:rPr lang="en-US" sz="2800"/>
              <a:t>Nodes (python functions)</a:t>
            </a:r>
          </a:p>
          <a:p>
            <a:r>
              <a:rPr lang="en-US" sz="2800"/>
              <a:t>Edges (node connection)</a:t>
            </a:r>
          </a:p>
          <a:p>
            <a:pPr lvl="1"/>
            <a:r>
              <a:rPr lang="en-US" sz="2800"/>
              <a:t>Holds logic to control the flow</a:t>
            </a:r>
          </a:p>
          <a:p>
            <a:pPr lvl="1"/>
            <a:r>
              <a:rPr lang="en-US" sz="2800"/>
              <a:t>Normal Edges: Always go from point A </a:t>
            </a:r>
            <a:r>
              <a:rPr lang="en-US" sz="2800">
                <a:sym typeface="Wingdings" panose="05000000000000000000" pitchFamily="2" charset="2"/>
              </a:rPr>
              <a:t> point B</a:t>
            </a:r>
          </a:p>
          <a:p>
            <a:pPr lvl="1"/>
            <a:r>
              <a:rPr lang="en-US" sz="2800">
                <a:sym typeface="Wingdings" panose="05000000000000000000" pitchFamily="2" charset="2"/>
              </a:rPr>
              <a:t>Conditional Edge: Logic (some python function) to decide which path to take!</a:t>
            </a:r>
          </a:p>
          <a:p>
            <a:pPr lvl="2"/>
            <a:r>
              <a:rPr lang="en-US" sz="2600">
                <a:sym typeface="Wingdings" panose="05000000000000000000" pitchFamily="2" charset="2"/>
              </a:rPr>
              <a:t>Not really an edge!</a:t>
            </a:r>
          </a:p>
          <a:p>
            <a:pPr lvl="1"/>
            <a:r>
              <a:rPr lang="en-US" sz="2800">
                <a:sym typeface="Wingdings" panose="05000000000000000000" pitchFamily="2" charset="2"/>
              </a:rPr>
              <a:t>START/END Nodes: Special nodes indicating start and end of the graph</a:t>
            </a:r>
          </a:p>
          <a:p>
            <a:pPr lvl="1"/>
            <a:r>
              <a:rPr lang="en-US" sz="2800">
                <a:sym typeface="Wingdings" panose="05000000000000000000" pitchFamily="2" charset="2"/>
              </a:rPr>
              <a:t>Compile the graph (and optionally display to verify the structure is as intended!)</a:t>
            </a:r>
            <a:endParaRPr lang="en-US" sz="2800"/>
          </a:p>
          <a:p>
            <a:endParaRPr lang="en-US" sz="2800"/>
          </a:p>
        </p:txBody>
      </p:sp>
    </p:spTree>
    <p:extLst>
      <p:ext uri="{BB962C8B-B14F-4D97-AF65-F5344CB8AC3E}">
        <p14:creationId xmlns:p14="http://schemas.microsoft.com/office/powerpoint/2010/main" val="341023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686B-EB11-A628-CF04-B6108098022D}"/>
              </a:ext>
            </a:extLst>
          </p:cNvPr>
          <p:cNvSpPr>
            <a:spLocks noGrp="1"/>
          </p:cNvSpPr>
          <p:nvPr>
            <p:ph type="title"/>
          </p:nvPr>
        </p:nvSpPr>
        <p:spPr/>
        <p:txBody>
          <a:bodyPr/>
          <a:lstStyle/>
          <a:p>
            <a:r>
              <a:rPr lang="en-US"/>
              <a:t>Creating our first graph</a:t>
            </a:r>
          </a:p>
        </p:txBody>
      </p:sp>
      <p:sp>
        <p:nvSpPr>
          <p:cNvPr id="3" name="Content Placeholder 2">
            <a:extLst>
              <a:ext uri="{FF2B5EF4-FFF2-40B4-BE49-F238E27FC236}">
                <a16:creationId xmlns:a16="http://schemas.microsoft.com/office/drawing/2014/main" id="{DFE1524F-8B69-B789-A202-F8A0965A9634}"/>
              </a:ext>
            </a:extLst>
          </p:cNvPr>
          <p:cNvSpPr>
            <a:spLocks noGrp="1"/>
          </p:cNvSpPr>
          <p:nvPr>
            <p:ph idx="1"/>
          </p:nvPr>
        </p:nvSpPr>
        <p:spPr>
          <a:xfrm>
            <a:off x="217806" y="1118146"/>
            <a:ext cx="7805447" cy="5413704"/>
          </a:xfrm>
        </p:spPr>
        <p:style>
          <a:lnRef idx="2">
            <a:schemeClr val="dk1"/>
          </a:lnRef>
          <a:fillRef idx="1">
            <a:schemeClr val="lt1"/>
          </a:fillRef>
          <a:effectRef idx="0">
            <a:schemeClr val="dk1"/>
          </a:effectRef>
          <a:fontRef idx="minor">
            <a:schemeClr val="dk1"/>
          </a:fontRef>
        </p:style>
        <p:txBody>
          <a:bodyPr>
            <a:normAutofit fontScale="25000" lnSpcReduction="20000"/>
          </a:bodyPr>
          <a:lstStyle/>
          <a:p>
            <a:pPr marL="0" indent="0">
              <a:lnSpc>
                <a:spcPct val="120000"/>
              </a:lnSpc>
              <a:spcBef>
                <a:spcPts val="400"/>
              </a:spcBef>
              <a:spcAft>
                <a:spcPts val="400"/>
              </a:spcAft>
              <a:buNone/>
            </a:pPr>
            <a:r>
              <a:rPr lang="en-US" sz="8000" b="1">
                <a:solidFill>
                  <a:srgbClr val="C00000"/>
                </a:solidFill>
                <a:latin typeface="Consolas" panose="020B0609020204030204" pitchFamily="49" charset="0"/>
              </a:rPr>
              <a:t># Build graph</a:t>
            </a:r>
          </a:p>
          <a:p>
            <a:pPr marL="0" indent="0">
              <a:lnSpc>
                <a:spcPct val="120000"/>
              </a:lnSpc>
              <a:spcBef>
                <a:spcPts val="400"/>
              </a:spcBef>
              <a:spcAft>
                <a:spcPts val="400"/>
              </a:spcAft>
              <a:buNone/>
            </a:pPr>
            <a:r>
              <a:rPr lang="en-US" sz="8000">
                <a:latin typeface="Consolas" panose="020B0609020204030204" pitchFamily="49" charset="0"/>
              </a:rPr>
              <a:t>builder = </a:t>
            </a:r>
            <a:r>
              <a:rPr lang="en-US" sz="8000" err="1">
                <a:latin typeface="Consolas" panose="020B0609020204030204" pitchFamily="49" charset="0"/>
              </a:rPr>
              <a:t>StateGraph</a:t>
            </a:r>
            <a:r>
              <a:rPr lang="en-US" sz="8000">
                <a:latin typeface="Consolas" panose="020B0609020204030204" pitchFamily="49" charset="0"/>
              </a:rPr>
              <a:t>(State)</a:t>
            </a:r>
          </a:p>
          <a:p>
            <a:pPr marL="0" indent="0">
              <a:lnSpc>
                <a:spcPct val="120000"/>
              </a:lnSpc>
              <a:spcBef>
                <a:spcPts val="400"/>
              </a:spcBef>
              <a:spcAft>
                <a:spcPts val="400"/>
              </a:spcAft>
              <a:buNone/>
            </a:pPr>
            <a:r>
              <a:rPr lang="en-US" sz="8000" err="1">
                <a:latin typeface="Consolas" panose="020B0609020204030204" pitchFamily="49" charset="0"/>
              </a:rPr>
              <a:t>builder.add_node</a:t>
            </a:r>
            <a:r>
              <a:rPr lang="en-US" sz="8000">
                <a:latin typeface="Consolas" panose="020B0609020204030204" pitchFamily="49" charset="0"/>
              </a:rPr>
              <a:t>("node_1", node_1)</a:t>
            </a:r>
          </a:p>
          <a:p>
            <a:pPr marL="0" indent="0">
              <a:lnSpc>
                <a:spcPct val="120000"/>
              </a:lnSpc>
              <a:spcBef>
                <a:spcPts val="400"/>
              </a:spcBef>
              <a:spcAft>
                <a:spcPts val="400"/>
              </a:spcAft>
              <a:buNone/>
            </a:pPr>
            <a:r>
              <a:rPr lang="en-US" sz="8000" err="1">
                <a:latin typeface="Consolas" panose="020B0609020204030204" pitchFamily="49" charset="0"/>
              </a:rPr>
              <a:t>builder.add_node</a:t>
            </a:r>
            <a:r>
              <a:rPr lang="en-US" sz="8000">
                <a:latin typeface="Consolas" panose="020B0609020204030204" pitchFamily="49" charset="0"/>
              </a:rPr>
              <a:t>("node_2", node_2)</a:t>
            </a:r>
          </a:p>
          <a:p>
            <a:pPr marL="0" indent="0">
              <a:lnSpc>
                <a:spcPct val="120000"/>
              </a:lnSpc>
              <a:spcBef>
                <a:spcPts val="400"/>
              </a:spcBef>
              <a:spcAft>
                <a:spcPts val="400"/>
              </a:spcAft>
              <a:buNone/>
            </a:pPr>
            <a:r>
              <a:rPr lang="en-US" sz="8000" err="1">
                <a:latin typeface="Consolas" panose="020B0609020204030204" pitchFamily="49" charset="0"/>
              </a:rPr>
              <a:t>builder.add_node</a:t>
            </a:r>
            <a:r>
              <a:rPr lang="en-US" sz="8000">
                <a:latin typeface="Consolas" panose="020B0609020204030204" pitchFamily="49" charset="0"/>
              </a:rPr>
              <a:t>("node_3", node_3)</a:t>
            </a:r>
          </a:p>
          <a:p>
            <a:pPr marL="0" indent="0">
              <a:lnSpc>
                <a:spcPct val="120000"/>
              </a:lnSpc>
              <a:spcBef>
                <a:spcPts val="400"/>
              </a:spcBef>
              <a:spcAft>
                <a:spcPts val="400"/>
              </a:spcAft>
              <a:buNone/>
            </a:pPr>
            <a:br>
              <a:rPr lang="en-US" sz="8000">
                <a:solidFill>
                  <a:srgbClr val="C00000"/>
                </a:solidFill>
                <a:latin typeface="Consolas" panose="020B0609020204030204" pitchFamily="49" charset="0"/>
              </a:rPr>
            </a:br>
            <a:r>
              <a:rPr lang="en-US" sz="8000">
                <a:solidFill>
                  <a:srgbClr val="C00000"/>
                </a:solidFill>
                <a:latin typeface="Consolas" panose="020B0609020204030204" pitchFamily="49" charset="0"/>
              </a:rPr>
              <a:t># </a:t>
            </a:r>
            <a:r>
              <a:rPr lang="en-US" sz="8000" b="1">
                <a:solidFill>
                  <a:srgbClr val="C00000"/>
                </a:solidFill>
                <a:latin typeface="Consolas" panose="020B0609020204030204" pitchFamily="49" charset="0"/>
              </a:rPr>
              <a:t>Logic</a:t>
            </a:r>
          </a:p>
          <a:p>
            <a:pPr marL="0" indent="0">
              <a:lnSpc>
                <a:spcPct val="120000"/>
              </a:lnSpc>
              <a:spcBef>
                <a:spcPts val="400"/>
              </a:spcBef>
              <a:spcAft>
                <a:spcPts val="400"/>
              </a:spcAft>
              <a:buNone/>
            </a:pPr>
            <a:r>
              <a:rPr lang="en-US" sz="8000" err="1">
                <a:latin typeface="Consolas" panose="020B0609020204030204" pitchFamily="49" charset="0"/>
              </a:rPr>
              <a:t>builder.add_edge</a:t>
            </a:r>
            <a:r>
              <a:rPr lang="en-US" sz="8000">
                <a:latin typeface="Consolas" panose="020B0609020204030204" pitchFamily="49" charset="0"/>
              </a:rPr>
              <a:t>(START, "node_1")</a:t>
            </a:r>
          </a:p>
          <a:p>
            <a:pPr marL="0" indent="0">
              <a:lnSpc>
                <a:spcPct val="120000"/>
              </a:lnSpc>
              <a:spcBef>
                <a:spcPts val="400"/>
              </a:spcBef>
              <a:spcAft>
                <a:spcPts val="400"/>
              </a:spcAft>
              <a:buNone/>
            </a:pPr>
            <a:r>
              <a:rPr lang="en-US" sz="8000" err="1">
                <a:latin typeface="Consolas" panose="020B0609020204030204" pitchFamily="49" charset="0"/>
              </a:rPr>
              <a:t>builder.add_conditional_edges</a:t>
            </a:r>
            <a:r>
              <a:rPr lang="en-US" sz="8000">
                <a:latin typeface="Consolas" panose="020B0609020204030204" pitchFamily="49" charset="0"/>
              </a:rPr>
              <a:t>("node_1", </a:t>
            </a:r>
            <a:r>
              <a:rPr lang="en-US" sz="8000" err="1">
                <a:latin typeface="Consolas" panose="020B0609020204030204" pitchFamily="49" charset="0"/>
              </a:rPr>
              <a:t>decide_mood</a:t>
            </a:r>
            <a:r>
              <a:rPr lang="en-US" sz="8000">
                <a:latin typeface="Consolas" panose="020B0609020204030204" pitchFamily="49" charset="0"/>
              </a:rPr>
              <a:t>)</a:t>
            </a:r>
          </a:p>
          <a:p>
            <a:pPr marL="0" indent="0">
              <a:lnSpc>
                <a:spcPct val="120000"/>
              </a:lnSpc>
              <a:spcBef>
                <a:spcPts val="400"/>
              </a:spcBef>
              <a:spcAft>
                <a:spcPts val="400"/>
              </a:spcAft>
              <a:buNone/>
            </a:pPr>
            <a:r>
              <a:rPr lang="en-US" sz="8000" err="1">
                <a:latin typeface="Consolas" panose="020B0609020204030204" pitchFamily="49" charset="0"/>
              </a:rPr>
              <a:t>builder.add_edge</a:t>
            </a:r>
            <a:r>
              <a:rPr lang="en-US" sz="8000">
                <a:latin typeface="Consolas" panose="020B0609020204030204" pitchFamily="49" charset="0"/>
              </a:rPr>
              <a:t>("node_2", END)</a:t>
            </a:r>
          </a:p>
          <a:p>
            <a:pPr marL="0" indent="0">
              <a:lnSpc>
                <a:spcPct val="120000"/>
              </a:lnSpc>
              <a:spcBef>
                <a:spcPts val="400"/>
              </a:spcBef>
              <a:spcAft>
                <a:spcPts val="400"/>
              </a:spcAft>
              <a:buNone/>
            </a:pPr>
            <a:r>
              <a:rPr lang="en-US" sz="8000" err="1">
                <a:latin typeface="Consolas" panose="020B0609020204030204" pitchFamily="49" charset="0"/>
              </a:rPr>
              <a:t>builder.add_edge</a:t>
            </a:r>
            <a:r>
              <a:rPr lang="en-US" sz="8000">
                <a:latin typeface="Consolas" panose="020B0609020204030204" pitchFamily="49" charset="0"/>
              </a:rPr>
              <a:t>("node_3", END)</a:t>
            </a:r>
          </a:p>
          <a:p>
            <a:pPr marL="0" indent="0">
              <a:lnSpc>
                <a:spcPct val="120000"/>
              </a:lnSpc>
              <a:spcBef>
                <a:spcPts val="400"/>
              </a:spcBef>
              <a:spcAft>
                <a:spcPts val="400"/>
              </a:spcAft>
              <a:buNone/>
            </a:pPr>
            <a:br>
              <a:rPr lang="en-US" sz="8000">
                <a:latin typeface="Consolas" panose="020B0609020204030204" pitchFamily="49" charset="0"/>
              </a:rPr>
            </a:br>
            <a:r>
              <a:rPr lang="en-US" sz="8000">
                <a:latin typeface="Consolas" panose="020B0609020204030204" pitchFamily="49" charset="0"/>
              </a:rPr>
              <a:t>graph = </a:t>
            </a:r>
            <a:r>
              <a:rPr lang="en-US" sz="8000" err="1">
                <a:latin typeface="Consolas" panose="020B0609020204030204" pitchFamily="49" charset="0"/>
              </a:rPr>
              <a:t>builder.compile</a:t>
            </a:r>
            <a:r>
              <a:rPr lang="en-US" sz="8000">
                <a:latin typeface="Consolas" panose="020B0609020204030204" pitchFamily="49" charset="0"/>
              </a:rPr>
              <a:t>()</a:t>
            </a:r>
            <a:br>
              <a:rPr lang="en-US" sz="8000">
                <a:latin typeface="Consolas" panose="020B0609020204030204" pitchFamily="49" charset="0"/>
              </a:rPr>
            </a:br>
            <a:r>
              <a:rPr lang="en-US" sz="8000">
                <a:latin typeface="Consolas" panose="020B0609020204030204" pitchFamily="49" charset="0"/>
              </a:rPr>
              <a:t>display(Image(</a:t>
            </a:r>
            <a:r>
              <a:rPr lang="en-US" sz="8000" err="1">
                <a:latin typeface="Consolas" panose="020B0609020204030204" pitchFamily="49" charset="0"/>
              </a:rPr>
              <a:t>graph.get_graph</a:t>
            </a:r>
            <a:r>
              <a:rPr lang="en-US" sz="8000">
                <a:latin typeface="Consolas" panose="020B0609020204030204" pitchFamily="49" charset="0"/>
              </a:rPr>
              <a:t>().</a:t>
            </a:r>
            <a:r>
              <a:rPr lang="en-US" sz="8000" err="1">
                <a:latin typeface="Consolas" panose="020B0609020204030204" pitchFamily="49" charset="0"/>
              </a:rPr>
              <a:t>draw_mermaid_png</a:t>
            </a:r>
            <a:r>
              <a:rPr lang="en-US" sz="8000">
                <a:latin typeface="Consolas" panose="020B0609020204030204" pitchFamily="49" charset="0"/>
              </a:rPr>
              <a:t>()))</a:t>
            </a:r>
          </a:p>
        </p:txBody>
      </p:sp>
      <p:pic>
        <p:nvPicPr>
          <p:cNvPr id="5" name="Picture 4">
            <a:extLst>
              <a:ext uri="{FF2B5EF4-FFF2-40B4-BE49-F238E27FC236}">
                <a16:creationId xmlns:a16="http://schemas.microsoft.com/office/drawing/2014/main" id="{8CD44205-D032-A545-063A-2F3A58FE2947}"/>
              </a:ext>
            </a:extLst>
          </p:cNvPr>
          <p:cNvPicPr>
            <a:picLocks noChangeAspect="1"/>
          </p:cNvPicPr>
          <p:nvPr/>
        </p:nvPicPr>
        <p:blipFill>
          <a:blip r:embed="rId3"/>
          <a:stretch>
            <a:fillRect/>
          </a:stretch>
        </p:blipFill>
        <p:spPr>
          <a:xfrm>
            <a:off x="8153973" y="1105948"/>
            <a:ext cx="3955525" cy="5425902"/>
          </a:xfrm>
          <a:prstGeom prst="rect">
            <a:avLst/>
          </a:prstGeom>
        </p:spPr>
      </p:pic>
    </p:spTree>
    <p:extLst>
      <p:ext uri="{BB962C8B-B14F-4D97-AF65-F5344CB8AC3E}">
        <p14:creationId xmlns:p14="http://schemas.microsoft.com/office/powerpoint/2010/main" val="1979120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D6CAD-D1C9-B08B-CE5E-A82F8641E8CA}"/>
              </a:ext>
            </a:extLst>
          </p:cNvPr>
          <p:cNvSpPr>
            <a:spLocks noGrp="1"/>
          </p:cNvSpPr>
          <p:nvPr>
            <p:ph type="title"/>
          </p:nvPr>
        </p:nvSpPr>
        <p:spPr/>
        <p:txBody>
          <a:bodyPr/>
          <a:lstStyle/>
          <a:p>
            <a:r>
              <a:rPr lang="en-US"/>
              <a:t>Conditional Edge</a:t>
            </a:r>
          </a:p>
        </p:txBody>
      </p:sp>
      <p:pic>
        <p:nvPicPr>
          <p:cNvPr id="5" name="Content Placeholder 4">
            <a:extLst>
              <a:ext uri="{FF2B5EF4-FFF2-40B4-BE49-F238E27FC236}">
                <a16:creationId xmlns:a16="http://schemas.microsoft.com/office/drawing/2014/main" id="{7326161C-BDC3-523C-06B5-9267725D1236}"/>
              </a:ext>
            </a:extLst>
          </p:cNvPr>
          <p:cNvPicPr>
            <a:picLocks noGrp="1" noChangeAspect="1"/>
          </p:cNvPicPr>
          <p:nvPr>
            <p:ph idx="1"/>
          </p:nvPr>
        </p:nvPicPr>
        <p:blipFill>
          <a:blip r:embed="rId2"/>
          <a:stretch>
            <a:fillRect/>
          </a:stretch>
        </p:blipFill>
        <p:spPr>
          <a:xfrm>
            <a:off x="551165" y="1449015"/>
            <a:ext cx="9919709" cy="4720265"/>
          </a:xfrm>
          <a:prstGeom prst="rect">
            <a:avLst/>
          </a:prstGeom>
        </p:spPr>
      </p:pic>
    </p:spTree>
    <p:extLst>
      <p:ext uri="{BB962C8B-B14F-4D97-AF65-F5344CB8AC3E}">
        <p14:creationId xmlns:p14="http://schemas.microsoft.com/office/powerpoint/2010/main" val="951072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A4F690-0CD5-07C6-AF2D-36B63CCFF00A}"/>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CED2307-F79F-42F9-B81B-91F768E72B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5DB38FF-CE38-4D82-B9F2-DFE28A019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4C0648FB-4388-443C-8D4E-4A9FF0336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7811C22F-4EF9-7432-4DB4-D2C58A3E5631}"/>
              </a:ext>
            </a:extLst>
          </p:cNvPr>
          <p:cNvSpPr>
            <a:spLocks noGrp="1"/>
          </p:cNvSpPr>
          <p:nvPr>
            <p:ph type="body" sz="half" idx="2"/>
          </p:nvPr>
        </p:nvSpPr>
        <p:spPr>
          <a:xfrm>
            <a:off x="1286933" y="4960137"/>
            <a:ext cx="9618133" cy="1333087"/>
          </a:xfrm>
        </p:spPr>
        <p:txBody>
          <a:bodyPr vert="horz" lIns="91440" tIns="45720" rIns="91440" bIns="45720" rtlCol="0" anchor="t">
            <a:normAutofit/>
          </a:bodyPr>
          <a:lstStyle/>
          <a:p>
            <a:r>
              <a:rPr lang="en-US" sz="2000"/>
              <a:t>Basic Graph</a:t>
            </a:r>
          </a:p>
        </p:txBody>
      </p:sp>
      <p:sp>
        <p:nvSpPr>
          <p:cNvPr id="12" name="Rectangle 11">
            <a:extLst>
              <a:ext uri="{FF2B5EF4-FFF2-40B4-BE49-F238E27FC236}">
                <a16:creationId xmlns:a16="http://schemas.microsoft.com/office/drawing/2014/main" id="{4A8D762E-DA8D-419A-BA44-68B93D3D9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481132A0-AD83-89FB-72B7-85AE2F724D3E}"/>
              </a:ext>
            </a:extLst>
          </p:cNvPr>
          <p:cNvSpPr>
            <a:spLocks noGrp="1"/>
          </p:cNvSpPr>
          <p:nvPr>
            <p:ph type="title"/>
          </p:nvPr>
        </p:nvSpPr>
        <p:spPr>
          <a:xfrm>
            <a:off x="1286933" y="977048"/>
            <a:ext cx="9618133" cy="2960980"/>
          </a:xfrm>
        </p:spPr>
        <p:txBody>
          <a:bodyPr vert="horz" lIns="91440" tIns="45720" rIns="91440" bIns="45720" rtlCol="0" anchor="b">
            <a:normAutofit/>
          </a:bodyPr>
          <a:lstStyle/>
          <a:p>
            <a:pPr algn="l"/>
            <a:r>
              <a:rPr lang="en-US" sz="6600">
                <a:solidFill>
                  <a:srgbClr val="FFFFFF"/>
                </a:solidFill>
              </a:rPr>
              <a:t>DEMO (basic graph)</a:t>
            </a:r>
          </a:p>
        </p:txBody>
      </p:sp>
    </p:spTree>
    <p:extLst>
      <p:ext uri="{BB962C8B-B14F-4D97-AF65-F5344CB8AC3E}">
        <p14:creationId xmlns:p14="http://schemas.microsoft.com/office/powerpoint/2010/main" val="4397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72116-E449-BAFE-BF7F-BB82EF05BE39}"/>
              </a:ext>
            </a:extLst>
          </p:cNvPr>
          <p:cNvSpPr>
            <a:spLocks noGrp="1"/>
          </p:cNvSpPr>
          <p:nvPr>
            <p:ph type="title"/>
          </p:nvPr>
        </p:nvSpPr>
        <p:spPr/>
        <p:txBody>
          <a:bodyPr/>
          <a:lstStyle/>
          <a:p>
            <a:r>
              <a:rPr lang="en-US"/>
              <a:t>Reducers</a:t>
            </a:r>
          </a:p>
        </p:txBody>
      </p:sp>
      <p:sp>
        <p:nvSpPr>
          <p:cNvPr id="3" name="Content Placeholder 2">
            <a:extLst>
              <a:ext uri="{FF2B5EF4-FFF2-40B4-BE49-F238E27FC236}">
                <a16:creationId xmlns:a16="http://schemas.microsoft.com/office/drawing/2014/main" id="{E50AC54F-DCDE-704E-910F-BB1FDD977983}"/>
              </a:ext>
            </a:extLst>
          </p:cNvPr>
          <p:cNvSpPr>
            <a:spLocks noGrp="1"/>
          </p:cNvSpPr>
          <p:nvPr>
            <p:ph idx="1"/>
          </p:nvPr>
        </p:nvSpPr>
        <p:spPr>
          <a:xfrm>
            <a:off x="288064" y="1001268"/>
            <a:ext cx="11699095" cy="5217696"/>
          </a:xfrm>
        </p:spPr>
        <p:txBody>
          <a:bodyPr>
            <a:noAutofit/>
          </a:bodyPr>
          <a:lstStyle/>
          <a:p>
            <a:r>
              <a:rPr lang="en-US" dirty="0"/>
              <a:t>Reducers define </a:t>
            </a:r>
            <a:r>
              <a:rPr lang="en-US" i="1" dirty="0"/>
              <a:t>how simultaneous/competing updates are performed by multiple actors!</a:t>
            </a:r>
            <a:endParaRPr lang="en-US" dirty="0"/>
          </a:p>
          <a:p>
            <a:pPr fontAlgn="t"/>
            <a:r>
              <a:rPr lang="en-US" dirty="0"/>
              <a:t>Imagine a graph with two branches running in parallel:</a:t>
            </a:r>
          </a:p>
          <a:p>
            <a:pPr lvl="1" fontAlgn="t"/>
            <a:r>
              <a:rPr lang="en-US" dirty="0"/>
              <a:t>Branch A produces {"messages": [</a:t>
            </a:r>
            <a:r>
              <a:rPr lang="en-US" dirty="0" err="1"/>
              <a:t>msgA</a:t>
            </a:r>
            <a:r>
              <a:rPr lang="en-US" dirty="0"/>
              <a:t>]}</a:t>
            </a:r>
          </a:p>
          <a:p>
            <a:pPr lvl="1" fontAlgn="t"/>
            <a:r>
              <a:rPr lang="en-US" dirty="0"/>
              <a:t>Branch B produces {"messages": [</a:t>
            </a:r>
            <a:r>
              <a:rPr lang="en-US" dirty="0" err="1"/>
              <a:t>msgB</a:t>
            </a:r>
            <a:r>
              <a:rPr lang="en-US" dirty="0"/>
              <a:t>]}</a:t>
            </a:r>
          </a:p>
          <a:p>
            <a:pPr fontAlgn="t"/>
            <a:r>
              <a:rPr lang="en-US" dirty="0"/>
              <a:t>Both update the same state key: messages, but there are multiple ambiguities:</a:t>
            </a:r>
          </a:p>
          <a:p>
            <a:pPr lvl="2" fontAlgn="t"/>
            <a:r>
              <a:rPr lang="en-US" sz="2000" dirty="0"/>
              <a:t>Should the final state contain only </a:t>
            </a:r>
            <a:r>
              <a:rPr lang="en-US" sz="2000" dirty="0" err="1"/>
              <a:t>msgA</a:t>
            </a:r>
            <a:r>
              <a:rPr lang="en-US" sz="2000" dirty="0"/>
              <a:t>?</a:t>
            </a:r>
          </a:p>
          <a:p>
            <a:pPr lvl="2" fontAlgn="t"/>
            <a:r>
              <a:rPr lang="en-US" sz="2000" dirty="0"/>
              <a:t>only </a:t>
            </a:r>
            <a:r>
              <a:rPr lang="en-US" sz="2000" dirty="0" err="1"/>
              <a:t>msgB</a:t>
            </a:r>
            <a:r>
              <a:rPr lang="en-US" sz="2000" dirty="0"/>
              <a:t>? both?</a:t>
            </a:r>
          </a:p>
          <a:p>
            <a:pPr lvl="2" fontAlgn="t"/>
            <a:r>
              <a:rPr lang="en-US" sz="2000" dirty="0"/>
              <a:t>in what order?</a:t>
            </a:r>
          </a:p>
          <a:p>
            <a:pPr fontAlgn="t"/>
            <a:r>
              <a:rPr lang="en-US" dirty="0"/>
              <a:t>A </a:t>
            </a:r>
            <a:r>
              <a:rPr lang="en-US" b="1" dirty="0"/>
              <a:t>reducer</a:t>
            </a:r>
            <a:r>
              <a:rPr lang="en-US" dirty="0"/>
              <a:t> answers that question deterministically.</a:t>
            </a:r>
          </a:p>
          <a:p>
            <a:r>
              <a:rPr lang="en-US" dirty="0"/>
              <a:t>Typically defined </a:t>
            </a:r>
            <a:r>
              <a:rPr lang="en-US" b="1" dirty="0"/>
              <a:t>in the state schema</a:t>
            </a:r>
            <a:r>
              <a:rPr lang="en-US" dirty="0"/>
              <a:t>, i.e., in the typed definition of your state</a:t>
            </a:r>
          </a:p>
          <a:p>
            <a:pPr lvl="1"/>
            <a:r>
              <a:rPr lang="en-US" dirty="0"/>
              <a:t>You are basically defining that when multiple updates happen, they should be done in a specific way!</a:t>
            </a:r>
          </a:p>
          <a:p>
            <a:pPr fontAlgn="t"/>
            <a:r>
              <a:rPr lang="en-US" dirty="0"/>
              <a:t>Reducers are crucial for parallelism</a:t>
            </a:r>
          </a:p>
        </p:txBody>
      </p:sp>
    </p:spTree>
    <p:extLst>
      <p:ext uri="{BB962C8B-B14F-4D97-AF65-F5344CB8AC3E}">
        <p14:creationId xmlns:p14="http://schemas.microsoft.com/office/powerpoint/2010/main" val="403728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82E9F-34B9-DEA1-556A-C2B735F2D8B6}"/>
              </a:ext>
            </a:extLst>
          </p:cNvPr>
          <p:cNvSpPr>
            <a:spLocks noGrp="1"/>
          </p:cNvSpPr>
          <p:nvPr>
            <p:ph type="title"/>
          </p:nvPr>
        </p:nvSpPr>
        <p:spPr/>
        <p:txBody>
          <a:bodyPr/>
          <a:lstStyle/>
          <a:p>
            <a:r>
              <a:rPr lang="en-US"/>
              <a:t>Reducer patterns</a:t>
            </a:r>
          </a:p>
        </p:txBody>
      </p:sp>
      <p:sp>
        <p:nvSpPr>
          <p:cNvPr id="3" name="Content Placeholder 2">
            <a:extLst>
              <a:ext uri="{FF2B5EF4-FFF2-40B4-BE49-F238E27FC236}">
                <a16:creationId xmlns:a16="http://schemas.microsoft.com/office/drawing/2014/main" id="{FE0082AD-DA23-C8FF-A2C5-37F25E3339BC}"/>
              </a:ext>
            </a:extLst>
          </p:cNvPr>
          <p:cNvSpPr>
            <a:spLocks noGrp="1"/>
          </p:cNvSpPr>
          <p:nvPr>
            <p:ph idx="1"/>
          </p:nvPr>
        </p:nvSpPr>
        <p:spPr/>
        <p:txBody>
          <a:bodyPr>
            <a:normAutofit/>
          </a:bodyPr>
          <a:lstStyle/>
          <a:p>
            <a:r>
              <a:rPr lang="en-US" sz="2800" dirty="0"/>
              <a:t>Keep </a:t>
            </a:r>
            <a:r>
              <a:rPr lang="en-US" sz="2800" i="1" dirty="0"/>
              <a:t>all</a:t>
            </a:r>
            <a:r>
              <a:rPr lang="en-US" sz="2800" dirty="0"/>
              <a:t> values? → list append / set union </a:t>
            </a:r>
          </a:p>
          <a:p>
            <a:r>
              <a:rPr lang="en-US" sz="2800" dirty="0"/>
              <a:t>Keep only one authoritative value? → last write wins </a:t>
            </a:r>
          </a:p>
          <a:p>
            <a:r>
              <a:rPr lang="en-US" sz="2800" dirty="0"/>
              <a:t>Combine partial structured data? → </a:t>
            </a:r>
            <a:r>
              <a:rPr lang="en-US" sz="2800" dirty="0" err="1"/>
              <a:t>dict</a:t>
            </a:r>
            <a:r>
              <a:rPr lang="en-US" sz="2800" dirty="0"/>
              <a:t> merge </a:t>
            </a:r>
          </a:p>
          <a:p>
            <a:r>
              <a:rPr lang="en-US" sz="2800" dirty="0"/>
              <a:t>Aggregate metrics? → sum/max/min</a:t>
            </a:r>
          </a:p>
          <a:p>
            <a:r>
              <a:rPr lang="en-US" sz="2800" dirty="0"/>
              <a:t>Example: Message Accumulation</a:t>
            </a:r>
          </a:p>
          <a:p>
            <a:pPr lvl="1"/>
            <a:r>
              <a:rPr lang="en-US" sz="2800" dirty="0"/>
              <a:t>LangGraph lets you define the messages state key with a </a:t>
            </a:r>
            <a:r>
              <a:rPr lang="en-US" sz="2800" b="1" dirty="0"/>
              <a:t>reducer that concatenates lists</a:t>
            </a:r>
            <a:r>
              <a:rPr lang="en-US" sz="2800" dirty="0"/>
              <a:t>.</a:t>
            </a:r>
          </a:p>
          <a:p>
            <a:pPr lvl="1"/>
            <a:r>
              <a:rPr lang="en-US" sz="2800" dirty="0" err="1"/>
              <a:t>new_messages</a:t>
            </a:r>
            <a:r>
              <a:rPr lang="en-US" sz="2800" dirty="0"/>
              <a:t> = </a:t>
            </a:r>
            <a:r>
              <a:rPr lang="en-US" sz="2800" dirty="0" err="1"/>
              <a:t>old_messages</a:t>
            </a:r>
            <a:r>
              <a:rPr lang="en-US" sz="2800" dirty="0"/>
              <a:t> + node1_messages + node2_messages</a:t>
            </a:r>
          </a:p>
          <a:p>
            <a:pPr lvl="1"/>
            <a:r>
              <a:rPr lang="en-US" sz="2800" dirty="0"/>
              <a:t>Done using the built‑in </a:t>
            </a:r>
            <a:r>
              <a:rPr lang="en-US" sz="2800" b="1" dirty="0" err="1"/>
              <a:t>add_messages</a:t>
            </a:r>
            <a:r>
              <a:rPr lang="en-US" sz="2800" b="1" dirty="0"/>
              <a:t> reducer</a:t>
            </a:r>
            <a:endParaRPr lang="en-US" sz="2800" dirty="0"/>
          </a:p>
        </p:txBody>
      </p:sp>
    </p:spTree>
    <p:extLst>
      <p:ext uri="{BB962C8B-B14F-4D97-AF65-F5344CB8AC3E}">
        <p14:creationId xmlns:p14="http://schemas.microsoft.com/office/powerpoint/2010/main" val="381123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5EB309-6FDA-1F23-B717-F72106A8AC6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55A743-3EA0-D99D-654E-4549DD202D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E4A6C5F-3C4E-7AF7-EF5D-8F150BC2DF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useBgFill="1">
        <p:nvSpPr>
          <p:cNvPr id="10" name="Rectangle 9">
            <a:extLst>
              <a:ext uri="{FF2B5EF4-FFF2-40B4-BE49-F238E27FC236}">
                <a16:creationId xmlns:a16="http://schemas.microsoft.com/office/drawing/2014/main" id="{C1175C02-81CB-F7B6-AF82-ED65A556D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6" name="Text Placeholder 5">
            <a:extLst>
              <a:ext uri="{FF2B5EF4-FFF2-40B4-BE49-F238E27FC236}">
                <a16:creationId xmlns:a16="http://schemas.microsoft.com/office/drawing/2014/main" id="{8A6418EC-E545-F6F9-3BB8-06348E091919}"/>
              </a:ext>
            </a:extLst>
          </p:cNvPr>
          <p:cNvSpPr>
            <a:spLocks noGrp="1"/>
          </p:cNvSpPr>
          <p:nvPr>
            <p:ph type="body" sz="half" idx="2"/>
          </p:nvPr>
        </p:nvSpPr>
        <p:spPr>
          <a:xfrm>
            <a:off x="1286933" y="4960137"/>
            <a:ext cx="9618133" cy="1333087"/>
          </a:xfrm>
        </p:spPr>
        <p:txBody>
          <a:bodyPr vert="horz" lIns="91440" tIns="45720" rIns="91440" bIns="45720" rtlCol="0" anchor="t">
            <a:normAutofit/>
          </a:bodyPr>
          <a:lstStyle/>
          <a:p>
            <a:r>
              <a:rPr lang="en-US" sz="2000"/>
              <a:t>Basic Graph</a:t>
            </a:r>
          </a:p>
        </p:txBody>
      </p:sp>
      <p:sp>
        <p:nvSpPr>
          <p:cNvPr id="12" name="Rectangle 11">
            <a:extLst>
              <a:ext uri="{FF2B5EF4-FFF2-40B4-BE49-F238E27FC236}">
                <a16:creationId xmlns:a16="http://schemas.microsoft.com/office/drawing/2014/main" id="{D1C9B966-0FCC-5FCC-A7D1-B5008BE062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D10FF3BC-F4B9-23AD-4B1B-B038546BB584}"/>
              </a:ext>
            </a:extLst>
          </p:cNvPr>
          <p:cNvSpPr>
            <a:spLocks noGrp="1"/>
          </p:cNvSpPr>
          <p:nvPr>
            <p:ph type="title"/>
          </p:nvPr>
        </p:nvSpPr>
        <p:spPr>
          <a:xfrm>
            <a:off x="1286933" y="977048"/>
            <a:ext cx="9618133" cy="2960980"/>
          </a:xfrm>
        </p:spPr>
        <p:txBody>
          <a:bodyPr vert="horz" lIns="91440" tIns="45720" rIns="91440" bIns="45720" rtlCol="0" anchor="b">
            <a:normAutofit/>
          </a:bodyPr>
          <a:lstStyle/>
          <a:p>
            <a:pPr algn="l"/>
            <a:r>
              <a:rPr lang="en-US" sz="6600">
                <a:solidFill>
                  <a:srgbClr val="FFFFFF"/>
                </a:solidFill>
              </a:rPr>
              <a:t>DEMO (reducers)</a:t>
            </a:r>
          </a:p>
        </p:txBody>
      </p:sp>
    </p:spTree>
    <p:extLst>
      <p:ext uri="{BB962C8B-B14F-4D97-AF65-F5344CB8AC3E}">
        <p14:creationId xmlns:p14="http://schemas.microsoft.com/office/powerpoint/2010/main" val="1478817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26E9B-1C31-A15C-A556-3FC926BEB32D}"/>
              </a:ext>
            </a:extLst>
          </p:cNvPr>
          <p:cNvSpPr>
            <a:spLocks noGrp="1"/>
          </p:cNvSpPr>
          <p:nvPr>
            <p:ph type="title"/>
          </p:nvPr>
        </p:nvSpPr>
        <p:spPr/>
        <p:txBody>
          <a:bodyPr/>
          <a:lstStyle/>
          <a:p>
            <a:r>
              <a:rPr lang="en-US"/>
              <a:t>Message reducer</a:t>
            </a:r>
          </a:p>
        </p:txBody>
      </p:sp>
      <p:pic>
        <p:nvPicPr>
          <p:cNvPr id="5" name="Content Placeholder 4">
            <a:extLst>
              <a:ext uri="{FF2B5EF4-FFF2-40B4-BE49-F238E27FC236}">
                <a16:creationId xmlns:a16="http://schemas.microsoft.com/office/drawing/2014/main" id="{8D86B28F-35C9-5389-B53C-D433BAD75FE0}"/>
              </a:ext>
            </a:extLst>
          </p:cNvPr>
          <p:cNvPicPr>
            <a:picLocks noGrp="1" noChangeAspect="1"/>
          </p:cNvPicPr>
          <p:nvPr>
            <p:ph idx="1"/>
          </p:nvPr>
        </p:nvPicPr>
        <p:blipFill>
          <a:blip r:embed="rId2"/>
          <a:stretch>
            <a:fillRect/>
          </a:stretch>
        </p:blipFill>
        <p:spPr>
          <a:xfrm>
            <a:off x="194552" y="1096650"/>
            <a:ext cx="7099665" cy="1822544"/>
          </a:xfrm>
          <a:prstGeom prst="rect">
            <a:avLst/>
          </a:prstGeom>
        </p:spPr>
      </p:pic>
      <p:graphicFrame>
        <p:nvGraphicFramePr>
          <p:cNvPr id="12" name="Table 11">
            <a:extLst>
              <a:ext uri="{FF2B5EF4-FFF2-40B4-BE49-F238E27FC236}">
                <a16:creationId xmlns:a16="http://schemas.microsoft.com/office/drawing/2014/main" id="{7C6BF8D9-BFF9-F27A-9E24-A62582284D26}"/>
              </a:ext>
            </a:extLst>
          </p:cNvPr>
          <p:cNvGraphicFramePr>
            <a:graphicFrameLocks noGrp="1"/>
          </p:cNvGraphicFramePr>
          <p:nvPr>
            <p:extLst>
              <p:ext uri="{D42A27DB-BD31-4B8C-83A1-F6EECF244321}">
                <p14:modId xmlns:p14="http://schemas.microsoft.com/office/powerpoint/2010/main" val="2401082529"/>
              </p:ext>
            </p:extLst>
          </p:nvPr>
        </p:nvGraphicFramePr>
        <p:xfrm>
          <a:off x="215179" y="3014576"/>
          <a:ext cx="11844866" cy="2722880"/>
        </p:xfrm>
        <a:graphic>
          <a:graphicData uri="http://schemas.openxmlformats.org/drawingml/2006/table">
            <a:tbl>
              <a:tblPr firstRow="1" bandRow="1">
                <a:tableStyleId>{0505E3EF-67EA-436B-97B2-0124C06EBD24}</a:tableStyleId>
              </a:tblPr>
              <a:tblGrid>
                <a:gridCol w="2945201">
                  <a:extLst>
                    <a:ext uri="{9D8B030D-6E8A-4147-A177-3AD203B41FA5}">
                      <a16:colId xmlns:a16="http://schemas.microsoft.com/office/drawing/2014/main" val="2460429581"/>
                    </a:ext>
                  </a:extLst>
                </a:gridCol>
                <a:gridCol w="8899665">
                  <a:extLst>
                    <a:ext uri="{9D8B030D-6E8A-4147-A177-3AD203B41FA5}">
                      <a16:colId xmlns:a16="http://schemas.microsoft.com/office/drawing/2014/main" val="1565684516"/>
                    </a:ext>
                  </a:extLst>
                </a:gridCol>
              </a:tblGrid>
              <a:tr h="0">
                <a:tc>
                  <a:txBody>
                    <a:bodyPr/>
                    <a:lstStyle/>
                    <a:p>
                      <a:pPr>
                        <a:buNone/>
                      </a:pPr>
                      <a:r>
                        <a:rPr lang="en-US">
                          <a:effectLst/>
                        </a:rPr>
                        <a:t>Type</a:t>
                      </a:r>
                    </a:p>
                  </a:txBody>
                  <a:tcPr marL="38100" marR="38100" marT="25400" marB="25400" anchor="ctr"/>
                </a:tc>
                <a:tc>
                  <a:txBody>
                    <a:bodyPr/>
                    <a:lstStyle/>
                    <a:p>
                      <a:pPr>
                        <a:buNone/>
                      </a:pPr>
                      <a:r>
                        <a:rPr lang="en-US">
                          <a:effectLst/>
                        </a:rPr>
                        <a:t>Meaning</a:t>
                      </a:r>
                    </a:p>
                  </a:txBody>
                  <a:tcPr marL="38100" marR="38100" marT="25400" marB="25400" anchor="ctr"/>
                </a:tc>
                <a:extLst>
                  <a:ext uri="{0D108BD9-81ED-4DB2-BD59-A6C34878D82A}">
                    <a16:rowId xmlns:a16="http://schemas.microsoft.com/office/drawing/2014/main" val="2586633462"/>
                  </a:ext>
                </a:extLst>
              </a:tr>
              <a:tr h="0">
                <a:tc>
                  <a:txBody>
                    <a:bodyPr/>
                    <a:lstStyle/>
                    <a:p>
                      <a:pPr>
                        <a:buNone/>
                      </a:pPr>
                      <a:r>
                        <a:rPr lang="en-US">
                          <a:solidFill>
                            <a:schemeClr val="bg1"/>
                          </a:solidFill>
                          <a:effectLst/>
                        </a:rPr>
                        <a:t>messages</a:t>
                      </a:r>
                    </a:p>
                  </a:txBody>
                  <a:tcPr marL="38100" marR="38100" marT="25400" marB="25400" anchor="ctr"/>
                </a:tc>
                <a:tc>
                  <a:txBody>
                    <a:bodyPr/>
                    <a:lstStyle/>
                    <a:p>
                      <a:pPr>
                        <a:buNone/>
                      </a:pPr>
                      <a:r>
                        <a:rPr lang="en-US">
                          <a:effectLst/>
                        </a:rPr>
                        <a:t>The key name in the state dictionary</a:t>
                      </a:r>
                    </a:p>
                  </a:txBody>
                  <a:tcPr marL="38100" marR="38100" marT="25400" marB="25400" anchor="ctr"/>
                </a:tc>
                <a:extLst>
                  <a:ext uri="{0D108BD9-81ED-4DB2-BD59-A6C34878D82A}">
                    <a16:rowId xmlns:a16="http://schemas.microsoft.com/office/drawing/2014/main" val="2568574801"/>
                  </a:ext>
                </a:extLst>
              </a:tr>
              <a:tr h="0">
                <a:tc>
                  <a:txBody>
                    <a:bodyPr/>
                    <a:lstStyle/>
                    <a:p>
                      <a:pPr>
                        <a:buNone/>
                      </a:pPr>
                      <a:r>
                        <a:rPr lang="en-US">
                          <a:solidFill>
                            <a:schemeClr val="bg1"/>
                          </a:solidFill>
                          <a:effectLst/>
                        </a:rPr>
                        <a:t>list[</a:t>
                      </a:r>
                      <a:r>
                        <a:rPr lang="en-US" err="1">
                          <a:solidFill>
                            <a:schemeClr val="bg1"/>
                          </a:solidFill>
                          <a:effectLst/>
                        </a:rPr>
                        <a:t>AnyMessage</a:t>
                      </a:r>
                      <a:r>
                        <a:rPr lang="en-US">
                          <a:solidFill>
                            <a:schemeClr val="bg1"/>
                          </a:solidFill>
                          <a:effectLst/>
                        </a:rPr>
                        <a:t>]</a:t>
                      </a:r>
                    </a:p>
                  </a:txBody>
                  <a:tcPr marL="38100" marR="38100" marT="25400" marB="25400" anchor="ctr"/>
                </a:tc>
                <a:tc>
                  <a:txBody>
                    <a:bodyPr/>
                    <a:lstStyle/>
                    <a:p>
                      <a:pPr>
                        <a:buNone/>
                      </a:pPr>
                      <a:r>
                        <a:rPr lang="en-US">
                          <a:effectLst/>
                        </a:rPr>
                        <a:t>The type — a list of LangChain message objects (Human, AI, Tool, etc.)</a:t>
                      </a:r>
                    </a:p>
                  </a:txBody>
                  <a:tcPr marL="38100" marR="38100" marT="25400" marB="25400" anchor="ctr"/>
                </a:tc>
                <a:extLst>
                  <a:ext uri="{0D108BD9-81ED-4DB2-BD59-A6C34878D82A}">
                    <a16:rowId xmlns:a16="http://schemas.microsoft.com/office/drawing/2014/main" val="315566415"/>
                  </a:ext>
                </a:extLst>
              </a:tr>
              <a:tr h="0">
                <a:tc>
                  <a:txBody>
                    <a:bodyPr/>
                    <a:lstStyle/>
                    <a:p>
                      <a:pPr>
                        <a:buNone/>
                      </a:pPr>
                      <a:r>
                        <a:rPr lang="en-US" err="1">
                          <a:solidFill>
                            <a:schemeClr val="bg1"/>
                          </a:solidFill>
                          <a:effectLst/>
                        </a:rPr>
                        <a:t>add_messages</a:t>
                      </a:r>
                      <a:endParaRPr lang="en-US">
                        <a:solidFill>
                          <a:schemeClr val="bg1"/>
                        </a:solidFill>
                        <a:effectLst/>
                      </a:endParaRPr>
                    </a:p>
                  </a:txBody>
                  <a:tcPr marL="38100" marR="38100" marT="25400" marB="25400" anchor="ctr"/>
                </a:tc>
                <a:tc>
                  <a:txBody>
                    <a:bodyPr/>
                    <a:lstStyle/>
                    <a:p>
                      <a:pPr>
                        <a:buNone/>
                      </a:pPr>
                      <a:r>
                        <a:rPr lang="en-US" dirty="0">
                          <a:effectLst/>
                        </a:rPr>
                        <a:t>The </a:t>
                      </a:r>
                      <a:r>
                        <a:rPr lang="en-US" b="1" dirty="0">
                          <a:effectLst/>
                        </a:rPr>
                        <a:t>reducer function</a:t>
                      </a:r>
                      <a:r>
                        <a:rPr lang="en-US" dirty="0">
                          <a:effectLst/>
                        </a:rPr>
                        <a:t> — tells LangGraph how to update this key</a:t>
                      </a:r>
                    </a:p>
                  </a:txBody>
                  <a:tcPr marL="38100" marR="38100" marT="25400" marB="25400" anchor="ctr"/>
                </a:tc>
                <a:extLst>
                  <a:ext uri="{0D108BD9-81ED-4DB2-BD59-A6C34878D82A}">
                    <a16:rowId xmlns:a16="http://schemas.microsoft.com/office/drawing/2014/main" val="682417315"/>
                  </a:ext>
                </a:extLst>
              </a:tr>
              <a:tr h="0">
                <a:tc>
                  <a:txBody>
                    <a:bodyPr/>
                    <a:lstStyle/>
                    <a:p>
                      <a:pPr>
                        <a:buNone/>
                      </a:pPr>
                      <a:r>
                        <a:rPr lang="en-US">
                          <a:solidFill>
                            <a:schemeClr val="bg1"/>
                          </a:solidFill>
                          <a:effectLst/>
                        </a:rPr>
                        <a:t>Annotated[..., ...]</a:t>
                      </a:r>
                    </a:p>
                  </a:txBody>
                  <a:tcPr marL="38100" marR="38100" marT="25400" marB="25400" anchor="ctr"/>
                </a:tc>
                <a:tc>
                  <a:txBody>
                    <a:bodyPr/>
                    <a:lstStyle/>
                    <a:p>
                      <a:pPr>
                        <a:buNone/>
                      </a:pPr>
                      <a:r>
                        <a:rPr lang="en-US" sz="1800" b="0" i="0" kern="1200" dirty="0">
                          <a:solidFill>
                            <a:schemeClr val="dk1"/>
                          </a:solidFill>
                          <a:effectLst/>
                          <a:latin typeface="+mn-lt"/>
                          <a:ea typeface="+mn-ea"/>
                          <a:cs typeface="+mn-cs"/>
                        </a:rPr>
                        <a:t>Annotated is from Python's typing module. It lets you attach extra metadata to a type hint without changing the type itself. </a:t>
                      </a:r>
                    </a:p>
                    <a:p>
                      <a:pPr>
                        <a:buNone/>
                      </a:pPr>
                      <a:endParaRPr lang="en-US" sz="1800" b="0" i="0" kern="1200" dirty="0">
                        <a:solidFill>
                          <a:schemeClr val="dk1"/>
                        </a:solidFill>
                        <a:effectLst/>
                        <a:latin typeface="+mn-lt"/>
                        <a:ea typeface="+mn-ea"/>
                        <a:cs typeface="+mn-cs"/>
                      </a:endParaRPr>
                    </a:p>
                    <a:p>
                      <a:pPr>
                        <a:buNone/>
                      </a:pPr>
                      <a:r>
                        <a:rPr lang="en-US" sz="1800" b="0" i="0" kern="1200" dirty="0">
                          <a:solidFill>
                            <a:schemeClr val="dk1"/>
                          </a:solidFill>
                          <a:effectLst/>
                          <a:latin typeface="+mn-lt"/>
                          <a:ea typeface="+mn-ea"/>
                          <a:cs typeface="+mn-cs"/>
                        </a:rPr>
                        <a:t>LangGraph reads that metadata at graph construction time and uses </a:t>
                      </a:r>
                      <a:r>
                        <a:rPr lang="en-US" sz="1800" b="0" i="0" kern="1200" dirty="0" err="1">
                          <a:solidFill>
                            <a:schemeClr val="dk1"/>
                          </a:solidFill>
                          <a:effectLst/>
                          <a:latin typeface="+mn-lt"/>
                          <a:ea typeface="+mn-ea"/>
                          <a:cs typeface="+mn-cs"/>
                        </a:rPr>
                        <a:t>add_messages</a:t>
                      </a:r>
                      <a:r>
                        <a:rPr lang="en-US" sz="1800" b="0" i="0" kern="1200" dirty="0">
                          <a:solidFill>
                            <a:schemeClr val="dk1"/>
                          </a:solidFill>
                          <a:effectLst/>
                          <a:latin typeface="+mn-lt"/>
                          <a:ea typeface="+mn-ea"/>
                          <a:cs typeface="+mn-cs"/>
                        </a:rPr>
                        <a:t> as the merge strategy whenever a node returns a new value for messages.</a:t>
                      </a:r>
                      <a:endParaRPr lang="en-US" dirty="0">
                        <a:effectLst/>
                      </a:endParaRPr>
                    </a:p>
                  </a:txBody>
                  <a:tcPr marL="38100" marR="38100" marT="25400" marB="25400" anchor="ctr"/>
                </a:tc>
                <a:extLst>
                  <a:ext uri="{0D108BD9-81ED-4DB2-BD59-A6C34878D82A}">
                    <a16:rowId xmlns:a16="http://schemas.microsoft.com/office/drawing/2014/main" val="158428238"/>
                  </a:ext>
                </a:extLst>
              </a:tr>
            </a:tbl>
          </a:graphicData>
        </a:graphic>
      </p:graphicFrame>
      <p:sp>
        <p:nvSpPr>
          <p:cNvPr id="14" name="TextBox 13">
            <a:extLst>
              <a:ext uri="{FF2B5EF4-FFF2-40B4-BE49-F238E27FC236}">
                <a16:creationId xmlns:a16="http://schemas.microsoft.com/office/drawing/2014/main" id="{1580F9B7-9184-9AE5-4F09-F6CFEA766991}"/>
              </a:ext>
            </a:extLst>
          </p:cNvPr>
          <p:cNvSpPr txBox="1"/>
          <p:nvPr/>
        </p:nvSpPr>
        <p:spPr>
          <a:xfrm>
            <a:off x="194551" y="5832838"/>
            <a:ext cx="11865493" cy="723275"/>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pPr algn="l">
              <a:spcBef>
                <a:spcPts val="300"/>
              </a:spcBef>
              <a:spcAft>
                <a:spcPts val="300"/>
              </a:spcAft>
              <a:buFont typeface="Arial" panose="020B0604020202020204" pitchFamily="34" charset="0"/>
              <a:buChar char="•"/>
            </a:pPr>
            <a:r>
              <a:rPr lang="en-US" b="1" i="1">
                <a:solidFill>
                  <a:schemeClr val="bg1"/>
                </a:solidFill>
                <a:effectLst/>
                <a:latin typeface="Segoe WPC"/>
              </a:rPr>
              <a:t>Without reducer</a:t>
            </a:r>
            <a:r>
              <a:rPr lang="en-US" b="0" i="0">
                <a:solidFill>
                  <a:schemeClr val="bg1"/>
                </a:solidFill>
                <a:effectLst/>
                <a:latin typeface="Segoe WPC"/>
              </a:rPr>
              <a:t>: </a:t>
            </a:r>
            <a:r>
              <a:rPr lang="en-US" b="0" i="0">
                <a:solidFill>
                  <a:schemeClr val="bg1"/>
                </a:solidFill>
                <a:effectLst/>
                <a:latin typeface="Consolas" panose="020B0609020204030204" pitchFamily="49" charset="0"/>
              </a:rPr>
              <a:t>messages</a:t>
            </a:r>
            <a:r>
              <a:rPr lang="en-US" b="0" i="0">
                <a:solidFill>
                  <a:schemeClr val="bg1"/>
                </a:solidFill>
                <a:effectLst/>
                <a:latin typeface="Segoe WPC"/>
              </a:rPr>
              <a:t> becomes </a:t>
            </a:r>
            <a:r>
              <a:rPr lang="en-US" b="0" i="0">
                <a:solidFill>
                  <a:schemeClr val="bg1"/>
                </a:solidFill>
                <a:effectLst/>
                <a:latin typeface="Consolas" panose="020B0609020204030204" pitchFamily="49" charset="0"/>
              </a:rPr>
              <a:t>[</a:t>
            </a:r>
            <a:r>
              <a:rPr lang="en-US" b="0" i="0" err="1">
                <a:solidFill>
                  <a:schemeClr val="bg1"/>
                </a:solidFill>
                <a:effectLst/>
                <a:latin typeface="Consolas" panose="020B0609020204030204" pitchFamily="49" charset="0"/>
              </a:rPr>
              <a:t>new_message</a:t>
            </a:r>
            <a:r>
              <a:rPr lang="en-US" b="0" i="0">
                <a:solidFill>
                  <a:schemeClr val="bg1"/>
                </a:solidFill>
                <a:effectLst/>
                <a:latin typeface="Consolas" panose="020B0609020204030204" pitchFamily="49" charset="0"/>
              </a:rPr>
              <a:t>]</a:t>
            </a:r>
            <a:r>
              <a:rPr lang="en-US" b="0" i="0">
                <a:solidFill>
                  <a:schemeClr val="bg1"/>
                </a:solidFill>
                <a:effectLst/>
                <a:latin typeface="Segoe WPC"/>
              </a:rPr>
              <a:t> — previous messages are </a:t>
            </a:r>
            <a:r>
              <a:rPr lang="en-US" b="1" i="0">
                <a:solidFill>
                  <a:schemeClr val="bg1"/>
                </a:solidFill>
                <a:effectLst/>
                <a:latin typeface="Segoe WPC"/>
              </a:rPr>
              <a:t>lost</a:t>
            </a:r>
            <a:r>
              <a:rPr lang="en-US" b="0" i="0">
                <a:solidFill>
                  <a:schemeClr val="bg1"/>
                </a:solidFill>
                <a:effectLst/>
                <a:latin typeface="Segoe WPC"/>
              </a:rPr>
              <a:t>.</a:t>
            </a:r>
          </a:p>
          <a:p>
            <a:pPr algn="l">
              <a:spcBef>
                <a:spcPts val="300"/>
              </a:spcBef>
              <a:spcAft>
                <a:spcPts val="300"/>
              </a:spcAft>
              <a:buFont typeface="Arial" panose="020B0604020202020204" pitchFamily="34" charset="0"/>
              <a:buChar char="•"/>
            </a:pPr>
            <a:r>
              <a:rPr lang="en-US" b="1" i="1">
                <a:solidFill>
                  <a:schemeClr val="bg1"/>
                </a:solidFill>
                <a:effectLst/>
                <a:latin typeface="Segoe WPC"/>
              </a:rPr>
              <a:t>With </a:t>
            </a:r>
            <a:r>
              <a:rPr lang="en-US" b="1" i="1" err="1">
                <a:solidFill>
                  <a:schemeClr val="bg1"/>
                </a:solidFill>
                <a:effectLst/>
                <a:latin typeface="Consolas" panose="020B0609020204030204" pitchFamily="49" charset="0"/>
              </a:rPr>
              <a:t>add_messages</a:t>
            </a:r>
            <a:r>
              <a:rPr lang="en-US" b="1" i="1">
                <a:solidFill>
                  <a:schemeClr val="bg1"/>
                </a:solidFill>
                <a:effectLst/>
                <a:latin typeface="Segoe WPC"/>
              </a:rPr>
              <a:t> reducer</a:t>
            </a:r>
            <a:r>
              <a:rPr lang="en-US" b="0" i="0">
                <a:solidFill>
                  <a:schemeClr val="bg1"/>
                </a:solidFill>
                <a:effectLst/>
                <a:latin typeface="Segoe WPC"/>
              </a:rPr>
              <a:t>: </a:t>
            </a:r>
            <a:r>
              <a:rPr lang="en-US" b="0" i="0" err="1">
                <a:solidFill>
                  <a:schemeClr val="bg1"/>
                </a:solidFill>
                <a:effectLst/>
                <a:latin typeface="Consolas" panose="020B0609020204030204" pitchFamily="49" charset="0"/>
              </a:rPr>
              <a:t>new_message</a:t>
            </a:r>
            <a:r>
              <a:rPr lang="en-US" b="0" i="0">
                <a:solidFill>
                  <a:schemeClr val="bg1"/>
                </a:solidFill>
                <a:effectLst/>
                <a:latin typeface="Segoe WPC"/>
              </a:rPr>
              <a:t> is </a:t>
            </a:r>
            <a:r>
              <a:rPr lang="en-US" b="1" i="0">
                <a:solidFill>
                  <a:schemeClr val="bg1"/>
                </a:solidFill>
                <a:effectLst/>
                <a:latin typeface="Segoe WPC"/>
              </a:rPr>
              <a:t>appended</a:t>
            </a:r>
            <a:r>
              <a:rPr lang="en-US" b="0" i="0">
                <a:solidFill>
                  <a:schemeClr val="bg1"/>
                </a:solidFill>
                <a:effectLst/>
                <a:latin typeface="Segoe WPC"/>
              </a:rPr>
              <a:t> to the existing list — conversation history is preserved!</a:t>
            </a:r>
          </a:p>
        </p:txBody>
      </p:sp>
    </p:spTree>
    <p:extLst>
      <p:ext uri="{BB962C8B-B14F-4D97-AF65-F5344CB8AC3E}">
        <p14:creationId xmlns:p14="http://schemas.microsoft.com/office/powerpoint/2010/main" val="134165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15109-1A6B-6C32-95C7-A09EF696B216}"/>
              </a:ext>
            </a:extLst>
          </p:cNvPr>
          <p:cNvSpPr>
            <a:spLocks noGrp="1"/>
          </p:cNvSpPr>
          <p:nvPr>
            <p:ph type="title"/>
          </p:nvPr>
        </p:nvSpPr>
        <p:spPr/>
        <p:txBody>
          <a:bodyPr/>
          <a:lstStyle/>
          <a:p>
            <a:r>
              <a:rPr lang="en-US"/>
              <a:t>Reducer for Messages: </a:t>
            </a:r>
            <a:r>
              <a:rPr lang="en-US" err="1">
                <a:solidFill>
                  <a:srgbClr val="FFFF00"/>
                </a:solidFill>
              </a:rPr>
              <a:t>MessageS</a:t>
            </a:r>
            <a:r>
              <a:rPr lang="en-US" err="1">
                <a:solidFill>
                  <a:srgbClr val="FFC000"/>
                </a:solidFill>
              </a:rPr>
              <a:t>State</a:t>
            </a:r>
            <a:endParaRPr lang="en-US">
              <a:solidFill>
                <a:srgbClr val="FFC000"/>
              </a:solidFill>
            </a:endParaRPr>
          </a:p>
        </p:txBody>
      </p:sp>
      <p:sp>
        <p:nvSpPr>
          <p:cNvPr id="3" name="Content Placeholder 2">
            <a:extLst>
              <a:ext uri="{FF2B5EF4-FFF2-40B4-BE49-F238E27FC236}">
                <a16:creationId xmlns:a16="http://schemas.microsoft.com/office/drawing/2014/main" id="{D744B4AA-1B4B-5C24-9CCC-D31C1B6F4A8E}"/>
              </a:ext>
            </a:extLst>
          </p:cNvPr>
          <p:cNvSpPr>
            <a:spLocks noGrp="1"/>
          </p:cNvSpPr>
          <p:nvPr>
            <p:ph idx="1"/>
          </p:nvPr>
        </p:nvSpPr>
        <p:spPr>
          <a:xfrm>
            <a:off x="240356" y="1130853"/>
            <a:ext cx="11699095" cy="3187699"/>
          </a:xfrm>
        </p:spPr>
        <p:txBody>
          <a:bodyPr/>
          <a:lstStyle/>
          <a:p>
            <a:r>
              <a:rPr lang="en-US" err="1"/>
              <a:t>MessagesState</a:t>
            </a:r>
            <a:r>
              <a:rPr lang="en-US"/>
              <a:t> is a </a:t>
            </a:r>
            <a:r>
              <a:rPr lang="en-US" b="1"/>
              <a:t>pre-built conversation-oriented state schema</a:t>
            </a:r>
            <a:r>
              <a:rPr lang="en-US"/>
              <a:t> meant to eliminate boilerplate when your graph state is basically “a growing list of messages.”</a:t>
            </a:r>
          </a:p>
          <a:p>
            <a:r>
              <a:rPr lang="en-US"/>
              <a:t>Under the hood, message accumulation is typically done via the </a:t>
            </a:r>
            <a:r>
              <a:rPr lang="en-US" b="1" err="1"/>
              <a:t>add_messages</a:t>
            </a:r>
            <a:r>
              <a:rPr lang="en-US" b="1"/>
              <a:t> reducer</a:t>
            </a:r>
            <a:r>
              <a:rPr lang="en-US"/>
              <a:t>, which “merges two lists of messages, updating existing messages by ID” and makes the state </a:t>
            </a:r>
            <a:r>
              <a:rPr lang="en-US" b="1"/>
              <a:t>append-only by default</a:t>
            </a:r>
            <a:r>
              <a:rPr lang="en-US"/>
              <a:t>. </a:t>
            </a:r>
          </a:p>
          <a:p>
            <a:r>
              <a:rPr lang="en-US"/>
              <a:t>BUT, </a:t>
            </a:r>
            <a:r>
              <a:rPr lang="en-US" err="1"/>
              <a:t>add_messages</a:t>
            </a:r>
            <a:r>
              <a:rPr lang="en-US"/>
              <a:t> is NOT just append!</a:t>
            </a:r>
          </a:p>
          <a:p>
            <a:pPr lvl="1"/>
            <a:r>
              <a:rPr lang="en-US" err="1"/>
              <a:t>Besiders</a:t>
            </a:r>
            <a:r>
              <a:rPr lang="en-US"/>
              <a:t> merging two lists of messages, it also updates existing messages if a new message is provided by an existing ID!</a:t>
            </a:r>
          </a:p>
        </p:txBody>
      </p:sp>
      <p:pic>
        <p:nvPicPr>
          <p:cNvPr id="7" name="Picture 6">
            <a:extLst>
              <a:ext uri="{FF2B5EF4-FFF2-40B4-BE49-F238E27FC236}">
                <a16:creationId xmlns:a16="http://schemas.microsoft.com/office/drawing/2014/main" id="{68811BBC-6154-0EA1-4E7F-E5E5B50931E5}"/>
              </a:ext>
            </a:extLst>
          </p:cNvPr>
          <p:cNvPicPr>
            <a:picLocks noChangeAspect="1"/>
          </p:cNvPicPr>
          <p:nvPr/>
        </p:nvPicPr>
        <p:blipFill>
          <a:blip r:embed="rId2"/>
          <a:stretch>
            <a:fillRect/>
          </a:stretch>
        </p:blipFill>
        <p:spPr>
          <a:xfrm>
            <a:off x="370354" y="4383157"/>
            <a:ext cx="10483283" cy="23456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075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5894-A135-D2B9-71A8-FA6A735CC214}"/>
              </a:ext>
            </a:extLst>
          </p:cNvPr>
          <p:cNvSpPr>
            <a:spLocks noGrp="1"/>
          </p:cNvSpPr>
          <p:nvPr>
            <p:ph type="title"/>
          </p:nvPr>
        </p:nvSpPr>
        <p:spPr/>
        <p:txBody>
          <a:bodyPr/>
          <a:lstStyle/>
          <a:p>
            <a:r>
              <a:rPr lang="en-US" dirty="0" err="1"/>
              <a:t>Langgraph</a:t>
            </a:r>
            <a:r>
              <a:rPr lang="en-US" dirty="0"/>
              <a:t> Helpers</a:t>
            </a:r>
          </a:p>
        </p:txBody>
      </p:sp>
      <p:sp>
        <p:nvSpPr>
          <p:cNvPr id="3" name="Content Placeholder 2">
            <a:extLst>
              <a:ext uri="{FF2B5EF4-FFF2-40B4-BE49-F238E27FC236}">
                <a16:creationId xmlns:a16="http://schemas.microsoft.com/office/drawing/2014/main" id="{2D24B7FB-B32B-BF1E-056E-EABE6D514893}"/>
              </a:ext>
            </a:extLst>
          </p:cNvPr>
          <p:cNvSpPr>
            <a:spLocks noGrp="1"/>
          </p:cNvSpPr>
          <p:nvPr>
            <p:ph idx="1"/>
          </p:nvPr>
        </p:nvSpPr>
        <p:spPr>
          <a:xfrm>
            <a:off x="240356" y="1130853"/>
            <a:ext cx="11699095" cy="4668814"/>
          </a:xfrm>
        </p:spPr>
        <p:txBody>
          <a:bodyPr/>
          <a:lstStyle/>
          <a:p>
            <a:r>
              <a:rPr lang="en-US" dirty="0"/>
              <a:t>In LangGraph, </a:t>
            </a:r>
            <a:r>
              <a:rPr lang="en-US" b="1" dirty="0" err="1">
                <a:solidFill>
                  <a:srgbClr val="FFFF00"/>
                </a:solidFill>
              </a:rPr>
              <a:t>tools_condition</a:t>
            </a:r>
            <a:r>
              <a:rPr lang="en-US" dirty="0">
                <a:solidFill>
                  <a:srgbClr val="FFFF00"/>
                </a:solidFill>
              </a:rPr>
              <a:t> </a:t>
            </a:r>
            <a:r>
              <a:rPr lang="en-US" dirty="0"/>
              <a:t>is a </a:t>
            </a:r>
            <a:r>
              <a:rPr lang="en-US" b="1" dirty="0"/>
              <a:t>prebuilt “routing” (conditional-edge) function</a:t>
            </a:r>
            <a:r>
              <a:rPr lang="en-US" dirty="0"/>
              <a:t> used in </a:t>
            </a:r>
            <a:r>
              <a:rPr lang="en-US" b="1" dirty="0"/>
              <a:t>tool-calling agent loops</a:t>
            </a:r>
            <a:r>
              <a:rPr lang="en-US" dirty="0"/>
              <a:t> (</a:t>
            </a:r>
            <a:r>
              <a:rPr lang="en-US" dirty="0" err="1"/>
              <a:t>ReAct</a:t>
            </a:r>
            <a:r>
              <a:rPr lang="en-US" dirty="0"/>
              <a:t>-style). Its whole job is simple:</a:t>
            </a:r>
          </a:p>
          <a:p>
            <a:pPr lvl="1"/>
            <a:r>
              <a:rPr lang="en-US" dirty="0"/>
              <a:t>It looks at the last model (AI) message in your state. </a:t>
            </a:r>
          </a:p>
          <a:p>
            <a:pPr lvl="1"/>
            <a:r>
              <a:rPr lang="en-US" dirty="0"/>
              <a:t>If it contains </a:t>
            </a:r>
            <a:r>
              <a:rPr lang="en-US" dirty="0" err="1"/>
              <a:t>tool_calls</a:t>
            </a:r>
            <a:r>
              <a:rPr lang="en-US" dirty="0"/>
              <a:t>, route to the tools execution node; </a:t>
            </a:r>
          </a:p>
          <a:p>
            <a:pPr lvl="1"/>
            <a:r>
              <a:rPr lang="en-US" dirty="0"/>
              <a:t>Otherwise, end the graph.</a:t>
            </a:r>
          </a:p>
          <a:p>
            <a:pPr marL="0" indent="0">
              <a:buNone/>
            </a:pPr>
            <a:r>
              <a:rPr lang="en-US" b="1" dirty="0" err="1">
                <a:solidFill>
                  <a:srgbClr val="FFFF00"/>
                </a:solidFill>
                <a:latin typeface="Consolas" panose="020B0609020204030204" pitchFamily="49" charset="0"/>
              </a:rPr>
              <a:t>tools_condition</a:t>
            </a:r>
            <a:r>
              <a:rPr lang="en-US" b="1" dirty="0">
                <a:solidFill>
                  <a:srgbClr val="FFFF00"/>
                </a:solidFill>
                <a:latin typeface="Consolas" panose="020B0609020204030204" pitchFamily="49" charset="0"/>
              </a:rPr>
              <a:t>(state, </a:t>
            </a:r>
            <a:r>
              <a:rPr lang="en-US" b="1" dirty="0" err="1">
                <a:solidFill>
                  <a:srgbClr val="FFFF00"/>
                </a:solidFill>
                <a:latin typeface="Consolas" panose="020B0609020204030204" pitchFamily="49" charset="0"/>
              </a:rPr>
              <a:t>messages_key</a:t>
            </a:r>
            <a:r>
              <a:rPr lang="en-US" b="1" dirty="0">
                <a:solidFill>
                  <a:srgbClr val="FFFF00"/>
                </a:solidFill>
                <a:latin typeface="Consolas" panose="020B0609020204030204" pitchFamily="49" charset="0"/>
              </a:rPr>
              <a:t>="messages") </a:t>
            </a:r>
            <a:r>
              <a:rPr lang="en-US" b="1" dirty="0">
                <a:solidFill>
                  <a:srgbClr val="FFFF00"/>
                </a:solidFill>
                <a:latin typeface="Consolas" panose="020B0609020204030204" pitchFamily="49" charset="0"/>
                <a:sym typeface="Wingdings" panose="05000000000000000000" pitchFamily="2" charset="2"/>
              </a:rPr>
              <a:t></a:t>
            </a:r>
            <a:r>
              <a:rPr lang="en-US" b="1" dirty="0">
                <a:solidFill>
                  <a:srgbClr val="FFFF00"/>
                </a:solidFill>
                <a:latin typeface="Consolas" panose="020B0609020204030204" pitchFamily="49" charset="0"/>
              </a:rPr>
              <a:t> </a:t>
            </a:r>
          </a:p>
          <a:p>
            <a:pPr marL="0" indent="0">
              <a:buNone/>
            </a:pPr>
            <a:r>
              <a:rPr lang="en-US" b="1" dirty="0">
                <a:solidFill>
                  <a:srgbClr val="FFFF00"/>
                </a:solidFill>
                <a:latin typeface="Consolas" panose="020B0609020204030204" pitchFamily="49" charset="0"/>
              </a:rPr>
              <a:t>						Literal["tools", "__end__"]</a:t>
            </a:r>
          </a:p>
          <a:p>
            <a:pPr marL="0" indent="0">
              <a:buNone/>
            </a:pPr>
            <a:endParaRPr lang="en-US" b="1" dirty="0">
              <a:solidFill>
                <a:srgbClr val="FFFF00"/>
              </a:solidFill>
              <a:latin typeface="Consolas" panose="020B0609020204030204" pitchFamily="49" charset="0"/>
            </a:endParaRPr>
          </a:p>
          <a:p>
            <a:pPr lvl="1"/>
            <a:r>
              <a:rPr lang="en-US" dirty="0"/>
              <a:t>Returns </a:t>
            </a:r>
            <a:r>
              <a:rPr lang="en-US" b="1" dirty="0"/>
              <a:t>"tools"</a:t>
            </a:r>
            <a:r>
              <a:rPr lang="en-US" dirty="0"/>
              <a:t> when the </a:t>
            </a:r>
            <a:r>
              <a:rPr lang="en-US" b="1" dirty="0"/>
              <a:t>last message is an </a:t>
            </a:r>
            <a:r>
              <a:rPr lang="en-US" b="1" dirty="0" err="1"/>
              <a:t>AIMessage</a:t>
            </a:r>
            <a:r>
              <a:rPr lang="en-US" b="1" dirty="0"/>
              <a:t> and has one (or more) </a:t>
            </a:r>
            <a:r>
              <a:rPr lang="en-US" b="1" dirty="0" err="1"/>
              <a:t>tool_calls</a:t>
            </a:r>
            <a:endParaRPr lang="en-US" b="1" dirty="0"/>
          </a:p>
          <a:p>
            <a:pPr lvl="1"/>
            <a:r>
              <a:rPr lang="en-US" dirty="0"/>
              <a:t>Returns </a:t>
            </a:r>
            <a:r>
              <a:rPr lang="en-US" b="1" dirty="0"/>
              <a:t>"__end__"</a:t>
            </a:r>
            <a:r>
              <a:rPr lang="en-US" dirty="0"/>
              <a:t> when there are </a:t>
            </a:r>
            <a:r>
              <a:rPr lang="en-US" b="1" dirty="0"/>
              <a:t>no tool calls</a:t>
            </a:r>
            <a:r>
              <a:rPr lang="en-US" dirty="0"/>
              <a:t>, meaning the agent is ready to respond and the workflow should terminate</a:t>
            </a:r>
          </a:p>
          <a:p>
            <a:pPr marL="0" indent="0">
              <a:buNone/>
            </a:pPr>
            <a:endParaRPr lang="en-US" b="1" dirty="0">
              <a:solidFill>
                <a:srgbClr val="FFFF00"/>
              </a:solidFill>
              <a:latin typeface="Consolas" panose="020B0609020204030204" pitchFamily="49" charset="0"/>
            </a:endParaRPr>
          </a:p>
          <a:p>
            <a:endParaRPr lang="en-US" dirty="0"/>
          </a:p>
        </p:txBody>
      </p:sp>
    </p:spTree>
    <p:extLst>
      <p:ext uri="{BB962C8B-B14F-4D97-AF65-F5344CB8AC3E}">
        <p14:creationId xmlns:p14="http://schemas.microsoft.com/office/powerpoint/2010/main" val="1953360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CED2307-F79F-42F9-B81B-91F768E72B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5DB38FF-CE38-4D82-B9F2-DFE28A019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4C0648FB-4388-443C-8D4E-4A9FF0336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3CBBCE56-A7C8-86A2-21B2-0A5534AA2F61}"/>
              </a:ext>
            </a:extLst>
          </p:cNvPr>
          <p:cNvSpPr>
            <a:spLocks noGrp="1"/>
          </p:cNvSpPr>
          <p:nvPr>
            <p:ph type="body" sz="half" idx="2"/>
          </p:nvPr>
        </p:nvSpPr>
        <p:spPr>
          <a:xfrm>
            <a:off x="1286933" y="4960137"/>
            <a:ext cx="9618133" cy="1333087"/>
          </a:xfrm>
        </p:spPr>
        <p:txBody>
          <a:bodyPr vert="horz" lIns="91440" tIns="45720" rIns="91440" bIns="45720" rtlCol="0" anchor="t">
            <a:normAutofit/>
          </a:bodyPr>
          <a:lstStyle/>
          <a:p>
            <a:r>
              <a:rPr lang="en-US" sz="2000" dirty="0"/>
              <a:t>Router Implementation with </a:t>
            </a:r>
            <a:r>
              <a:rPr lang="en-US" sz="2000" dirty="0" err="1"/>
              <a:t>Langgraph</a:t>
            </a:r>
            <a:endParaRPr lang="en-US" sz="2000" dirty="0"/>
          </a:p>
        </p:txBody>
      </p:sp>
      <p:sp>
        <p:nvSpPr>
          <p:cNvPr id="17" name="Rectangle 16">
            <a:extLst>
              <a:ext uri="{FF2B5EF4-FFF2-40B4-BE49-F238E27FC236}">
                <a16:creationId xmlns:a16="http://schemas.microsoft.com/office/drawing/2014/main" id="{4A8D762E-DA8D-419A-BA44-68B93D3D9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0ADB8856-C90A-B9E9-967E-8169F90F9E09}"/>
              </a:ext>
            </a:extLst>
          </p:cNvPr>
          <p:cNvSpPr>
            <a:spLocks noGrp="1"/>
          </p:cNvSpPr>
          <p:nvPr>
            <p:ph type="title"/>
          </p:nvPr>
        </p:nvSpPr>
        <p:spPr>
          <a:xfrm>
            <a:off x="1286933" y="977048"/>
            <a:ext cx="9618133" cy="2960980"/>
          </a:xfrm>
        </p:spPr>
        <p:txBody>
          <a:bodyPr vert="horz" lIns="91440" tIns="45720" rIns="91440" bIns="45720" rtlCol="0" anchor="b">
            <a:normAutofit/>
          </a:bodyPr>
          <a:lstStyle/>
          <a:p>
            <a:pPr algn="l"/>
            <a:r>
              <a:rPr lang="en-US" sz="6600">
                <a:solidFill>
                  <a:srgbClr val="FFFFFF"/>
                </a:solidFill>
              </a:rPr>
              <a:t>DEMO (router)</a:t>
            </a:r>
          </a:p>
        </p:txBody>
      </p:sp>
    </p:spTree>
    <p:extLst>
      <p:ext uri="{BB962C8B-B14F-4D97-AF65-F5344CB8AC3E}">
        <p14:creationId xmlns:p14="http://schemas.microsoft.com/office/powerpoint/2010/main" val="1883148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972D2-2780-23BF-256D-2660BDF813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224C3EA-A7AA-073C-47F9-F9B7BA6B4083}"/>
              </a:ext>
            </a:extLst>
          </p:cNvPr>
          <p:cNvSpPr>
            <a:spLocks noGrp="1"/>
          </p:cNvSpPr>
          <p:nvPr>
            <p:ph type="title"/>
          </p:nvPr>
        </p:nvSpPr>
        <p:spPr/>
        <p:txBody>
          <a:bodyPr/>
          <a:lstStyle/>
          <a:p>
            <a:r>
              <a:rPr lang="en-US" dirty="0"/>
              <a:t>Agents-Like structure</a:t>
            </a:r>
          </a:p>
        </p:txBody>
      </p:sp>
      <p:sp>
        <p:nvSpPr>
          <p:cNvPr id="6" name="Text Placeholder 5">
            <a:extLst>
              <a:ext uri="{FF2B5EF4-FFF2-40B4-BE49-F238E27FC236}">
                <a16:creationId xmlns:a16="http://schemas.microsoft.com/office/drawing/2014/main" id="{FC473888-560D-CAED-EA73-33D37667313F}"/>
              </a:ext>
            </a:extLst>
          </p:cNvPr>
          <p:cNvSpPr>
            <a:spLocks noGrp="1"/>
          </p:cNvSpPr>
          <p:nvPr>
            <p:ph type="body" idx="1"/>
          </p:nvPr>
        </p:nvSpPr>
        <p:spPr/>
        <p:txBody>
          <a:bodyPr/>
          <a:lstStyle/>
          <a:p>
            <a:r>
              <a:rPr lang="en-US" dirty="0"/>
              <a:t>LLM Tool Workflow in </a:t>
            </a:r>
            <a:r>
              <a:rPr lang="en-US" dirty="0" err="1"/>
              <a:t>Langgraph</a:t>
            </a:r>
            <a:endParaRPr lang="en-US" dirty="0"/>
          </a:p>
        </p:txBody>
      </p:sp>
    </p:spTree>
    <p:extLst>
      <p:ext uri="{BB962C8B-B14F-4D97-AF65-F5344CB8AC3E}">
        <p14:creationId xmlns:p14="http://schemas.microsoft.com/office/powerpoint/2010/main" val="629550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EABD16-2218-1FD0-AEE3-4A7F474AE1F0}"/>
              </a:ext>
            </a:extLst>
          </p:cNvPr>
          <p:cNvSpPr>
            <a:spLocks noGrp="1"/>
          </p:cNvSpPr>
          <p:nvPr>
            <p:ph type="title"/>
          </p:nvPr>
        </p:nvSpPr>
        <p:spPr/>
        <p:txBody>
          <a:bodyPr/>
          <a:lstStyle/>
          <a:p>
            <a:r>
              <a:rPr lang="en-US" dirty="0"/>
              <a:t>Agents in </a:t>
            </a:r>
            <a:r>
              <a:rPr lang="en-US" dirty="0" err="1"/>
              <a:t>langgraph</a:t>
            </a:r>
            <a:endParaRPr lang="en-US" dirty="0"/>
          </a:p>
        </p:txBody>
      </p:sp>
      <p:pic>
        <p:nvPicPr>
          <p:cNvPr id="8" name="Content Placeholder 7">
            <a:extLst>
              <a:ext uri="{FF2B5EF4-FFF2-40B4-BE49-F238E27FC236}">
                <a16:creationId xmlns:a16="http://schemas.microsoft.com/office/drawing/2014/main" id="{72027F38-04DC-2F4D-FBE4-A5A27C080BD1}"/>
              </a:ext>
            </a:extLst>
          </p:cNvPr>
          <p:cNvPicPr>
            <a:picLocks noGrp="1" noChangeAspect="1"/>
          </p:cNvPicPr>
          <p:nvPr>
            <p:ph idx="1"/>
          </p:nvPr>
        </p:nvPicPr>
        <p:blipFill>
          <a:blip r:embed="rId2"/>
          <a:stretch>
            <a:fillRect/>
          </a:stretch>
        </p:blipFill>
        <p:spPr>
          <a:xfrm>
            <a:off x="6991109" y="931682"/>
            <a:ext cx="4971325" cy="5687780"/>
          </a:xfrm>
          <a:prstGeom prst="rect">
            <a:avLst/>
          </a:prstGeom>
        </p:spPr>
      </p:pic>
      <p:sp>
        <p:nvSpPr>
          <p:cNvPr id="9" name="TextBox 8">
            <a:extLst>
              <a:ext uri="{FF2B5EF4-FFF2-40B4-BE49-F238E27FC236}">
                <a16:creationId xmlns:a16="http://schemas.microsoft.com/office/drawing/2014/main" id="{75B6DA47-F533-8884-48C8-18321F3D65CC}"/>
              </a:ext>
            </a:extLst>
          </p:cNvPr>
          <p:cNvSpPr txBox="1"/>
          <p:nvPr/>
        </p:nvSpPr>
        <p:spPr>
          <a:xfrm>
            <a:off x="370354" y="1880886"/>
            <a:ext cx="6146193" cy="4431983"/>
          </a:xfrm>
          <a:prstGeom prst="rect">
            <a:avLst/>
          </a:prstGeom>
          <a:noFill/>
        </p:spPr>
        <p:txBody>
          <a:bodyPr wrap="square" rtlCol="0">
            <a:spAutoFit/>
          </a:bodyPr>
          <a:lstStyle/>
          <a:p>
            <a:pPr marL="342900" indent="-342900">
              <a:spcBef>
                <a:spcPts val="600"/>
              </a:spcBef>
              <a:spcAft>
                <a:spcPts val="600"/>
              </a:spcAft>
              <a:buFont typeface="Wingdings" panose="05000000000000000000" pitchFamily="2" charset="2"/>
              <a:buChar char="§"/>
            </a:pPr>
            <a:r>
              <a:rPr lang="en-US" sz="2800"/>
              <a:t>Assistant Node contains our LLM with Tools</a:t>
            </a:r>
          </a:p>
          <a:p>
            <a:pPr marL="342900" indent="-342900">
              <a:spcBef>
                <a:spcPts val="600"/>
              </a:spcBef>
              <a:spcAft>
                <a:spcPts val="600"/>
              </a:spcAft>
              <a:buFont typeface="Wingdings" panose="05000000000000000000" pitchFamily="2" charset="2"/>
              <a:buChar char="§"/>
            </a:pPr>
            <a:r>
              <a:rPr lang="en-US" sz="2800"/>
              <a:t>Based on invocation, if there is a tool call, tool in invoked, and response is sent to conditional edge</a:t>
            </a:r>
          </a:p>
          <a:p>
            <a:pPr marL="342900" indent="-342900">
              <a:spcBef>
                <a:spcPts val="600"/>
              </a:spcBef>
              <a:spcAft>
                <a:spcPts val="600"/>
              </a:spcAft>
              <a:buFont typeface="Wingdings" panose="05000000000000000000" pitchFamily="2" charset="2"/>
              <a:buChar char="§"/>
            </a:pPr>
            <a:r>
              <a:rPr lang="en-US" sz="2800"/>
              <a:t>Condition contains </a:t>
            </a:r>
            <a:r>
              <a:rPr lang="en-US" sz="2800" err="1"/>
              <a:t>tools_condition</a:t>
            </a:r>
            <a:r>
              <a:rPr lang="en-US" sz="2800"/>
              <a:t>.  If the response is tools, flow is sent to assistant node again.</a:t>
            </a:r>
          </a:p>
          <a:p>
            <a:pPr marL="342900" indent="-342900">
              <a:spcBef>
                <a:spcPts val="600"/>
              </a:spcBef>
              <a:spcAft>
                <a:spcPts val="600"/>
              </a:spcAft>
              <a:buFont typeface="Wingdings" panose="05000000000000000000" pitchFamily="2" charset="2"/>
              <a:buChar char="§"/>
            </a:pPr>
            <a:r>
              <a:rPr lang="en-US" sz="2800"/>
              <a:t>If not, graph ends!</a:t>
            </a:r>
          </a:p>
        </p:txBody>
      </p:sp>
    </p:spTree>
    <p:extLst>
      <p:ext uri="{BB962C8B-B14F-4D97-AF65-F5344CB8AC3E}">
        <p14:creationId xmlns:p14="http://schemas.microsoft.com/office/powerpoint/2010/main" val="359562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495907-BDE8-3D13-981B-B21D9FF46057}"/>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E294CA6-853C-2A9D-A1E0-053217CDC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2EEF27FA-14CB-DF69-BBB3-72B39E95F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useBgFill="1">
        <p:nvSpPr>
          <p:cNvPr id="15" name="Rectangle 14">
            <a:extLst>
              <a:ext uri="{FF2B5EF4-FFF2-40B4-BE49-F238E27FC236}">
                <a16:creationId xmlns:a16="http://schemas.microsoft.com/office/drawing/2014/main" id="{31B4E566-287D-2020-DADB-D53B9B30FB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6" name="Text Placeholder 5">
            <a:extLst>
              <a:ext uri="{FF2B5EF4-FFF2-40B4-BE49-F238E27FC236}">
                <a16:creationId xmlns:a16="http://schemas.microsoft.com/office/drawing/2014/main" id="{10EED4DE-E781-C163-DF0A-D17848B83B8D}"/>
              </a:ext>
            </a:extLst>
          </p:cNvPr>
          <p:cNvSpPr>
            <a:spLocks noGrp="1"/>
          </p:cNvSpPr>
          <p:nvPr>
            <p:ph type="body" sz="half" idx="2"/>
          </p:nvPr>
        </p:nvSpPr>
        <p:spPr>
          <a:xfrm>
            <a:off x="1286933" y="4960137"/>
            <a:ext cx="9618133" cy="1333087"/>
          </a:xfrm>
        </p:spPr>
        <p:txBody>
          <a:bodyPr vert="horz" lIns="91440" tIns="45720" rIns="91440" bIns="45720" rtlCol="0" anchor="t">
            <a:normAutofit/>
          </a:bodyPr>
          <a:lstStyle/>
          <a:p>
            <a:r>
              <a:rPr lang="en-US" sz="2000" dirty="0" err="1"/>
              <a:t>Langgraph</a:t>
            </a:r>
            <a:r>
              <a:rPr lang="en-US" sz="2000" dirty="0"/>
              <a:t> Agents</a:t>
            </a:r>
          </a:p>
        </p:txBody>
      </p:sp>
      <p:sp>
        <p:nvSpPr>
          <p:cNvPr id="17" name="Rectangle 16">
            <a:extLst>
              <a:ext uri="{FF2B5EF4-FFF2-40B4-BE49-F238E27FC236}">
                <a16:creationId xmlns:a16="http://schemas.microsoft.com/office/drawing/2014/main" id="{7D681051-192A-C12E-DE5D-43EA36EEC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E8F868A6-8B9A-BCCA-92C3-AA6DEA963621}"/>
              </a:ext>
            </a:extLst>
          </p:cNvPr>
          <p:cNvSpPr>
            <a:spLocks noGrp="1"/>
          </p:cNvSpPr>
          <p:nvPr>
            <p:ph type="title"/>
          </p:nvPr>
        </p:nvSpPr>
        <p:spPr>
          <a:xfrm>
            <a:off x="1286933" y="977048"/>
            <a:ext cx="9618133" cy="2960980"/>
          </a:xfrm>
        </p:spPr>
        <p:txBody>
          <a:bodyPr vert="horz" lIns="91440" tIns="45720" rIns="91440" bIns="45720" rtlCol="0" anchor="b">
            <a:normAutofit/>
          </a:bodyPr>
          <a:lstStyle/>
          <a:p>
            <a:pPr algn="l"/>
            <a:r>
              <a:rPr lang="en-US" sz="6600">
                <a:solidFill>
                  <a:srgbClr val="FFFFFF"/>
                </a:solidFill>
              </a:rPr>
              <a:t>DEMO (Agents)</a:t>
            </a:r>
          </a:p>
        </p:txBody>
      </p:sp>
    </p:spTree>
    <p:extLst>
      <p:ext uri="{BB962C8B-B14F-4D97-AF65-F5344CB8AC3E}">
        <p14:creationId xmlns:p14="http://schemas.microsoft.com/office/powerpoint/2010/main" val="3688719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80ED5D-E6CB-C126-4393-3E2440F8E772}"/>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2B1F06FB-FD5A-F58A-2FA5-C610B7FE60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7AD532C-240A-6D06-EECF-86B012A2A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useBgFill="1">
        <p:nvSpPr>
          <p:cNvPr id="15" name="Rectangle 14">
            <a:extLst>
              <a:ext uri="{FF2B5EF4-FFF2-40B4-BE49-F238E27FC236}">
                <a16:creationId xmlns:a16="http://schemas.microsoft.com/office/drawing/2014/main" id="{D9A70A2A-5146-007A-8EBA-E3C7C24C8E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6" name="Text Placeholder 5">
            <a:extLst>
              <a:ext uri="{FF2B5EF4-FFF2-40B4-BE49-F238E27FC236}">
                <a16:creationId xmlns:a16="http://schemas.microsoft.com/office/drawing/2014/main" id="{C0F7CEDA-CFC8-B1F4-D3AC-EA026A18F8E6}"/>
              </a:ext>
            </a:extLst>
          </p:cNvPr>
          <p:cNvSpPr>
            <a:spLocks noGrp="1"/>
          </p:cNvSpPr>
          <p:nvPr>
            <p:ph type="body" sz="half" idx="2"/>
          </p:nvPr>
        </p:nvSpPr>
        <p:spPr>
          <a:xfrm>
            <a:off x="1286933" y="4960137"/>
            <a:ext cx="9618133" cy="1333087"/>
          </a:xfrm>
        </p:spPr>
        <p:txBody>
          <a:bodyPr vert="horz" lIns="91440" tIns="45720" rIns="91440" bIns="45720" rtlCol="0" anchor="t">
            <a:normAutofit/>
          </a:bodyPr>
          <a:lstStyle/>
          <a:p>
            <a:r>
              <a:rPr lang="en-US" sz="2000"/>
              <a:t>Agents with Memory</a:t>
            </a:r>
          </a:p>
        </p:txBody>
      </p:sp>
      <p:sp>
        <p:nvSpPr>
          <p:cNvPr id="17" name="Rectangle 16">
            <a:extLst>
              <a:ext uri="{FF2B5EF4-FFF2-40B4-BE49-F238E27FC236}">
                <a16:creationId xmlns:a16="http://schemas.microsoft.com/office/drawing/2014/main" id="{EC7436B2-41D7-C609-CDE8-1329178A7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9F98B623-3A4D-248E-9647-62DD0C2612A5}"/>
              </a:ext>
            </a:extLst>
          </p:cNvPr>
          <p:cNvSpPr>
            <a:spLocks noGrp="1"/>
          </p:cNvSpPr>
          <p:nvPr>
            <p:ph type="title"/>
          </p:nvPr>
        </p:nvSpPr>
        <p:spPr>
          <a:xfrm>
            <a:off x="1286933" y="977048"/>
            <a:ext cx="9618133" cy="2960980"/>
          </a:xfrm>
        </p:spPr>
        <p:txBody>
          <a:bodyPr vert="horz" lIns="91440" tIns="45720" rIns="91440" bIns="45720" rtlCol="0" anchor="b">
            <a:normAutofit/>
          </a:bodyPr>
          <a:lstStyle/>
          <a:p>
            <a:pPr algn="l"/>
            <a:r>
              <a:rPr lang="en-US" sz="6600">
                <a:solidFill>
                  <a:srgbClr val="FFFFFF"/>
                </a:solidFill>
              </a:rPr>
              <a:t>DEMO (Agents with Memory)</a:t>
            </a:r>
          </a:p>
        </p:txBody>
      </p:sp>
    </p:spTree>
    <p:extLst>
      <p:ext uri="{BB962C8B-B14F-4D97-AF65-F5344CB8AC3E}">
        <p14:creationId xmlns:p14="http://schemas.microsoft.com/office/powerpoint/2010/main" val="501442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D18856-9135-52C2-F774-5356D964255C}"/>
              </a:ext>
            </a:extLst>
          </p:cNvPr>
          <p:cNvSpPr>
            <a:spLocks noGrp="1"/>
          </p:cNvSpPr>
          <p:nvPr>
            <p:ph type="title"/>
          </p:nvPr>
        </p:nvSpPr>
        <p:spPr/>
        <p:txBody>
          <a:bodyPr/>
          <a:lstStyle/>
          <a:p>
            <a:r>
              <a:rPr lang="en-US"/>
              <a:t>subgraphs</a:t>
            </a:r>
          </a:p>
        </p:txBody>
      </p:sp>
      <p:sp>
        <p:nvSpPr>
          <p:cNvPr id="6" name="Text Placeholder 5">
            <a:extLst>
              <a:ext uri="{FF2B5EF4-FFF2-40B4-BE49-F238E27FC236}">
                <a16:creationId xmlns:a16="http://schemas.microsoft.com/office/drawing/2014/main" id="{8EC76BFA-59F4-18CA-99AB-329B45CCC4E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62954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73EFF-D2BE-F509-532F-607709115D59}"/>
              </a:ext>
            </a:extLst>
          </p:cNvPr>
          <p:cNvSpPr>
            <a:spLocks noGrp="1"/>
          </p:cNvSpPr>
          <p:nvPr>
            <p:ph type="title"/>
          </p:nvPr>
        </p:nvSpPr>
        <p:spPr/>
        <p:txBody>
          <a:bodyPr/>
          <a:lstStyle/>
          <a:p>
            <a:r>
              <a:rPr lang="en-US"/>
              <a:t>subgraphs</a:t>
            </a:r>
          </a:p>
        </p:txBody>
      </p:sp>
      <p:sp>
        <p:nvSpPr>
          <p:cNvPr id="5" name="Content Placeholder 4">
            <a:extLst>
              <a:ext uri="{FF2B5EF4-FFF2-40B4-BE49-F238E27FC236}">
                <a16:creationId xmlns:a16="http://schemas.microsoft.com/office/drawing/2014/main" id="{26350C30-D41F-EAAA-308F-DE52E3485157}"/>
              </a:ext>
            </a:extLst>
          </p:cNvPr>
          <p:cNvSpPr>
            <a:spLocks noGrp="1"/>
          </p:cNvSpPr>
          <p:nvPr>
            <p:ph idx="1"/>
          </p:nvPr>
        </p:nvSpPr>
        <p:spPr/>
        <p:txBody>
          <a:bodyPr/>
          <a:lstStyle/>
          <a:p>
            <a:r>
              <a:rPr lang="en-US" sz="3200" dirty="0"/>
              <a:t>A </a:t>
            </a:r>
            <a:r>
              <a:rPr lang="en-US" sz="3200" b="1" dirty="0"/>
              <a:t>subgraph is simply another graph used as a node inside a larger LangGraph</a:t>
            </a:r>
            <a:r>
              <a:rPr lang="en-US" sz="3200" dirty="0"/>
              <a:t>. </a:t>
            </a:r>
          </a:p>
          <a:p>
            <a:pPr lvl="1"/>
            <a:r>
              <a:rPr lang="en-US" sz="3200" dirty="0"/>
              <a:t>In LangGraph, nodes are just functions or components that take state, perform work, and return updated state. </a:t>
            </a:r>
          </a:p>
          <a:p>
            <a:r>
              <a:rPr lang="en-US" sz="3200" dirty="0"/>
              <a:t>As nodes can be arbitrary functions (not just LLM calls), a </a:t>
            </a:r>
            <a:r>
              <a:rPr lang="en-US" sz="3200" b="1" dirty="0"/>
              <a:t>compiled graph can also act as a node in another graph</a:t>
            </a:r>
            <a:r>
              <a:rPr lang="en-US" sz="3200" dirty="0"/>
              <a:t>, which creates a hierarchical workflow.</a:t>
            </a:r>
          </a:p>
          <a:p>
            <a:r>
              <a:rPr lang="en-US" sz="3200" dirty="0"/>
              <a:t>Distributing development: Allow your different teams to work on different parts of the graph independently</a:t>
            </a:r>
          </a:p>
        </p:txBody>
      </p:sp>
    </p:spTree>
    <p:extLst>
      <p:ext uri="{BB962C8B-B14F-4D97-AF65-F5344CB8AC3E}">
        <p14:creationId xmlns:p14="http://schemas.microsoft.com/office/powerpoint/2010/main" val="400619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83F49-538E-029B-1DDA-6C4A0C566234}"/>
              </a:ext>
            </a:extLst>
          </p:cNvPr>
          <p:cNvSpPr>
            <a:spLocks noGrp="1"/>
          </p:cNvSpPr>
          <p:nvPr>
            <p:ph type="title"/>
          </p:nvPr>
        </p:nvSpPr>
        <p:spPr/>
        <p:txBody>
          <a:bodyPr/>
          <a:lstStyle/>
          <a:p>
            <a:r>
              <a:rPr lang="en-US"/>
              <a:t>Subgraph patterns</a:t>
            </a:r>
          </a:p>
        </p:txBody>
      </p:sp>
      <p:graphicFrame>
        <p:nvGraphicFramePr>
          <p:cNvPr id="4" name="Content Placeholder 3">
            <a:extLst>
              <a:ext uri="{FF2B5EF4-FFF2-40B4-BE49-F238E27FC236}">
                <a16:creationId xmlns:a16="http://schemas.microsoft.com/office/drawing/2014/main" id="{3DADE019-E651-04AA-C3C9-BB2C43FE5A4B}"/>
              </a:ext>
            </a:extLst>
          </p:cNvPr>
          <p:cNvGraphicFramePr>
            <a:graphicFrameLocks noGrp="1"/>
          </p:cNvGraphicFramePr>
          <p:nvPr>
            <p:ph idx="1"/>
            <p:extLst>
              <p:ext uri="{D42A27DB-BD31-4B8C-83A1-F6EECF244321}">
                <p14:modId xmlns:p14="http://schemas.microsoft.com/office/powerpoint/2010/main" val="4051590715"/>
              </p:ext>
            </p:extLst>
          </p:nvPr>
        </p:nvGraphicFramePr>
        <p:xfrm>
          <a:off x="425016" y="1368761"/>
          <a:ext cx="11341967" cy="4880189"/>
        </p:xfrm>
        <a:graphic>
          <a:graphicData uri="http://schemas.openxmlformats.org/drawingml/2006/table">
            <a:tbl>
              <a:tblPr firstRow="1">
                <a:tableStyleId>{3C2FFA5D-87B4-456A-9821-1D502468CF0F}</a:tableStyleId>
              </a:tblPr>
              <a:tblGrid>
                <a:gridCol w="2828393">
                  <a:extLst>
                    <a:ext uri="{9D8B030D-6E8A-4147-A177-3AD203B41FA5}">
                      <a16:colId xmlns:a16="http://schemas.microsoft.com/office/drawing/2014/main" val="2314540976"/>
                    </a:ext>
                  </a:extLst>
                </a:gridCol>
                <a:gridCol w="4732919">
                  <a:extLst>
                    <a:ext uri="{9D8B030D-6E8A-4147-A177-3AD203B41FA5}">
                      <a16:colId xmlns:a16="http://schemas.microsoft.com/office/drawing/2014/main" val="518621658"/>
                    </a:ext>
                  </a:extLst>
                </a:gridCol>
                <a:gridCol w="3780655">
                  <a:extLst>
                    <a:ext uri="{9D8B030D-6E8A-4147-A177-3AD203B41FA5}">
                      <a16:colId xmlns:a16="http://schemas.microsoft.com/office/drawing/2014/main" val="4102602139"/>
                    </a:ext>
                  </a:extLst>
                </a:gridCol>
              </a:tblGrid>
              <a:tr h="436737">
                <a:tc>
                  <a:txBody>
                    <a:bodyPr/>
                    <a:lstStyle/>
                    <a:p>
                      <a:pPr algn="l" fontAlgn="ctr">
                        <a:buNone/>
                      </a:pPr>
                      <a:r>
                        <a:rPr lang="en-US" sz="2400" b="0">
                          <a:solidFill>
                            <a:srgbClr val="111827"/>
                          </a:solidFill>
                          <a:effectLst/>
                        </a:rPr>
                        <a:t>Pattern</a:t>
                      </a:r>
                    </a:p>
                  </a:txBody>
                  <a:tcPr marL="72474" marR="72474" marT="36237" marB="36237" anchor="ctr"/>
                </a:tc>
                <a:tc>
                  <a:txBody>
                    <a:bodyPr/>
                    <a:lstStyle/>
                    <a:p>
                      <a:pPr algn="l" fontAlgn="ctr">
                        <a:buNone/>
                      </a:pPr>
                      <a:r>
                        <a:rPr lang="en-US" sz="2400" b="0">
                          <a:solidFill>
                            <a:srgbClr val="111827"/>
                          </a:solidFill>
                          <a:effectLst/>
                        </a:rPr>
                        <a:t>When to use</a:t>
                      </a:r>
                    </a:p>
                  </a:txBody>
                  <a:tcPr marL="72474" marR="72474" marT="36237" marB="36237" anchor="ctr"/>
                </a:tc>
                <a:tc>
                  <a:txBody>
                    <a:bodyPr/>
                    <a:lstStyle/>
                    <a:p>
                      <a:pPr algn="l" fontAlgn="ctr">
                        <a:buNone/>
                      </a:pPr>
                      <a:r>
                        <a:rPr lang="en-US" sz="2400" b="0">
                          <a:solidFill>
                            <a:srgbClr val="111827"/>
                          </a:solidFill>
                          <a:effectLst/>
                        </a:rPr>
                        <a:t>State schemas</a:t>
                      </a:r>
                    </a:p>
                  </a:txBody>
                  <a:tcPr marL="72474" marR="72474" marT="36237" marB="36237" anchor="ctr"/>
                </a:tc>
                <a:extLst>
                  <a:ext uri="{0D108BD9-81ED-4DB2-BD59-A6C34878D82A}">
                    <a16:rowId xmlns:a16="http://schemas.microsoft.com/office/drawing/2014/main" val="4006216"/>
                  </a:ext>
                </a:extLst>
              </a:tr>
              <a:tr h="1956825">
                <a:tc>
                  <a:txBody>
                    <a:bodyPr/>
                    <a:lstStyle/>
                    <a:p>
                      <a:pPr fontAlgn="ctr">
                        <a:buNone/>
                      </a:pPr>
                      <a:r>
                        <a:rPr lang="en-US" sz="2400" b="0" u="none" strike="noStrike">
                          <a:solidFill>
                            <a:srgbClr val="111827"/>
                          </a:solidFill>
                          <a:effectLst/>
                          <a:hlinkClick r:id="rId2"/>
                        </a:rPr>
                        <a:t>Call a subgraph inside a node</a:t>
                      </a:r>
                      <a:endParaRPr lang="en-US" sz="2400" b="0">
                        <a:effectLst/>
                      </a:endParaRPr>
                    </a:p>
                  </a:txBody>
                  <a:tcPr marL="72474" marR="72474" marT="36237" marB="36237" anchor="ctr"/>
                </a:tc>
                <a:tc>
                  <a:txBody>
                    <a:bodyPr/>
                    <a:lstStyle/>
                    <a:p>
                      <a:pPr fontAlgn="ctr">
                        <a:buNone/>
                      </a:pPr>
                      <a:r>
                        <a:rPr lang="en-US" sz="2400" b="0">
                          <a:effectLst/>
                        </a:rPr>
                        <a:t>Parent and subgraph have </a:t>
                      </a:r>
                      <a:r>
                        <a:rPr lang="en-US" sz="2400" b="1">
                          <a:solidFill>
                            <a:srgbClr val="171718"/>
                          </a:solidFill>
                          <a:effectLst/>
                        </a:rPr>
                        <a:t>different state schemas</a:t>
                      </a:r>
                      <a:r>
                        <a:rPr lang="en-US" sz="2400" b="0">
                          <a:effectLst/>
                        </a:rPr>
                        <a:t> (no shared keys), or you need to transform state between them</a:t>
                      </a:r>
                    </a:p>
                  </a:txBody>
                  <a:tcPr marL="72474" marR="72474" marT="36237" marB="36237" anchor="ctr"/>
                </a:tc>
                <a:tc>
                  <a:txBody>
                    <a:bodyPr/>
                    <a:lstStyle/>
                    <a:p>
                      <a:pPr fontAlgn="ctr">
                        <a:buNone/>
                      </a:pPr>
                      <a:r>
                        <a:rPr lang="en-US" sz="2400" b="0">
                          <a:effectLst/>
                        </a:rPr>
                        <a:t>You write a wrapper function that maps parent state to subgraph input and subgraph output back to parent state</a:t>
                      </a:r>
                    </a:p>
                  </a:txBody>
                  <a:tcPr marL="72474" marR="72474" marT="36237" marB="36237" anchor="ctr"/>
                </a:tc>
                <a:extLst>
                  <a:ext uri="{0D108BD9-81ED-4DB2-BD59-A6C34878D82A}">
                    <a16:rowId xmlns:a16="http://schemas.microsoft.com/office/drawing/2014/main" val="1509011196"/>
                  </a:ext>
                </a:extLst>
              </a:tr>
              <a:tr h="2485130">
                <a:tc>
                  <a:txBody>
                    <a:bodyPr/>
                    <a:lstStyle/>
                    <a:p>
                      <a:pPr fontAlgn="ctr">
                        <a:buNone/>
                      </a:pPr>
                      <a:r>
                        <a:rPr lang="en-US" sz="2400" b="0" u="none" strike="noStrike">
                          <a:solidFill>
                            <a:srgbClr val="111827"/>
                          </a:solidFill>
                          <a:effectLst/>
                          <a:hlinkClick r:id="rId3"/>
                        </a:rPr>
                        <a:t>Add a subgraph as a node</a:t>
                      </a:r>
                      <a:endParaRPr lang="en-US" sz="2400" b="0">
                        <a:effectLst/>
                      </a:endParaRPr>
                    </a:p>
                  </a:txBody>
                  <a:tcPr marL="72474" marR="72474" marT="36237" marB="36237" anchor="ctr"/>
                </a:tc>
                <a:tc>
                  <a:txBody>
                    <a:bodyPr/>
                    <a:lstStyle/>
                    <a:p>
                      <a:pPr fontAlgn="ctr">
                        <a:buNone/>
                      </a:pPr>
                      <a:r>
                        <a:rPr lang="en-US" sz="2400" b="0">
                          <a:effectLst/>
                        </a:rPr>
                        <a:t>Parent and subgraph </a:t>
                      </a:r>
                      <a:r>
                        <a:rPr lang="en-US" sz="2400" b="1">
                          <a:solidFill>
                            <a:srgbClr val="171718"/>
                          </a:solidFill>
                          <a:effectLst/>
                        </a:rPr>
                        <a:t>share state keys</a:t>
                      </a:r>
                      <a:r>
                        <a:rPr lang="en-US" sz="2400" b="0">
                          <a:effectLst/>
                        </a:rPr>
                        <a:t>—the subgraph reads from and writes to the same channels as the parent</a:t>
                      </a:r>
                    </a:p>
                  </a:txBody>
                  <a:tcPr marL="72474" marR="72474" marT="36237" marB="36237" anchor="ctr"/>
                </a:tc>
                <a:tc>
                  <a:txBody>
                    <a:bodyPr/>
                    <a:lstStyle/>
                    <a:p>
                      <a:pPr fontAlgn="ctr">
                        <a:buNone/>
                      </a:pPr>
                      <a:r>
                        <a:rPr lang="en-US" sz="2400" b="0">
                          <a:effectLst/>
                        </a:rPr>
                        <a:t>You pass the compiled subgraph directly to </a:t>
                      </a:r>
                      <a:r>
                        <a:rPr lang="en-US" sz="2400" b="0" err="1">
                          <a:solidFill>
                            <a:srgbClr val="111827"/>
                          </a:solidFill>
                          <a:effectLst/>
                        </a:rPr>
                        <a:t>add_node</a:t>
                      </a:r>
                      <a:endParaRPr lang="en-US" sz="2400" b="0">
                        <a:effectLst/>
                      </a:endParaRPr>
                    </a:p>
                  </a:txBody>
                  <a:tcPr marL="72474" marR="72474" marT="36237" marB="36237" anchor="ctr"/>
                </a:tc>
                <a:extLst>
                  <a:ext uri="{0D108BD9-81ED-4DB2-BD59-A6C34878D82A}">
                    <a16:rowId xmlns:a16="http://schemas.microsoft.com/office/drawing/2014/main" val="1448433114"/>
                  </a:ext>
                </a:extLst>
              </a:tr>
            </a:tbl>
          </a:graphicData>
        </a:graphic>
      </p:graphicFrame>
    </p:spTree>
    <p:extLst>
      <p:ext uri="{BB962C8B-B14F-4D97-AF65-F5344CB8AC3E}">
        <p14:creationId xmlns:p14="http://schemas.microsoft.com/office/powerpoint/2010/main" val="2651180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8ABB-85FD-174E-C377-33309205704C}"/>
              </a:ext>
            </a:extLst>
          </p:cNvPr>
          <p:cNvSpPr>
            <a:spLocks noGrp="1"/>
          </p:cNvSpPr>
          <p:nvPr>
            <p:ph type="title"/>
          </p:nvPr>
        </p:nvSpPr>
        <p:spPr/>
        <p:txBody>
          <a:bodyPr/>
          <a:lstStyle/>
          <a:p>
            <a:r>
              <a:rPr lang="en-US"/>
              <a:t>Invoking subgraph inside a node</a:t>
            </a:r>
          </a:p>
        </p:txBody>
      </p:sp>
      <p:sp>
        <p:nvSpPr>
          <p:cNvPr id="3" name="Content Placeholder 2">
            <a:extLst>
              <a:ext uri="{FF2B5EF4-FFF2-40B4-BE49-F238E27FC236}">
                <a16:creationId xmlns:a16="http://schemas.microsoft.com/office/drawing/2014/main" id="{0E6A2B2B-0356-9495-11D7-FBCDCB43B90A}"/>
              </a:ext>
            </a:extLst>
          </p:cNvPr>
          <p:cNvSpPr>
            <a:spLocks noGrp="1"/>
          </p:cNvSpPr>
          <p:nvPr>
            <p:ph idx="1"/>
          </p:nvPr>
        </p:nvSpPr>
        <p:spPr>
          <a:xfrm>
            <a:off x="240356" y="1130853"/>
            <a:ext cx="4742461" cy="5217696"/>
          </a:xfrm>
        </p:spPr>
        <p:txBody>
          <a:bodyPr>
            <a:normAutofit fontScale="92500" lnSpcReduction="10000"/>
          </a:bodyPr>
          <a:lstStyle/>
          <a:p>
            <a:r>
              <a:rPr lang="en-US" sz="2800"/>
              <a:t>When the parent graph and subgraph have </a:t>
            </a:r>
            <a:r>
              <a:rPr lang="en-US" sz="2800" b="1"/>
              <a:t>different state schemas</a:t>
            </a:r>
            <a:r>
              <a:rPr lang="en-US" sz="2800"/>
              <a:t> (no shared keys), invoke the subgraph inside a node function. This is common when you want to keep a private message history for each agent in a </a:t>
            </a:r>
            <a:r>
              <a:rPr lang="en-US" sz="2800">
                <a:hlinkClick r:id="rId2"/>
              </a:rPr>
              <a:t>multi-agent</a:t>
            </a:r>
            <a:r>
              <a:rPr lang="en-US" sz="2800"/>
              <a:t> system.</a:t>
            </a:r>
          </a:p>
          <a:p>
            <a:r>
              <a:rPr lang="en-US" sz="2800"/>
              <a:t>The node function transforms the parent state to the subgraph state before invoking the subgraph, and transforms the results back to the parent state before returning.</a:t>
            </a:r>
          </a:p>
        </p:txBody>
      </p:sp>
      <p:sp>
        <p:nvSpPr>
          <p:cNvPr id="5" name="TextBox 4">
            <a:extLst>
              <a:ext uri="{FF2B5EF4-FFF2-40B4-BE49-F238E27FC236}">
                <a16:creationId xmlns:a16="http://schemas.microsoft.com/office/drawing/2014/main" id="{576CAB3F-AC7C-10B5-7C63-F3D3E07A3CF5}"/>
              </a:ext>
            </a:extLst>
          </p:cNvPr>
          <p:cNvSpPr txBox="1"/>
          <p:nvPr/>
        </p:nvSpPr>
        <p:spPr>
          <a:xfrm>
            <a:off x="5145630" y="1001268"/>
            <a:ext cx="6395120"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0" i="0">
                <a:solidFill>
                  <a:srgbClr val="8839EF"/>
                </a:solidFill>
                <a:effectLst/>
                <a:latin typeface="IBM Plex Mono" panose="020B0509050203000203" pitchFamily="49" charset="0"/>
              </a:rPr>
              <a:t>class</a:t>
            </a:r>
            <a:r>
              <a:rPr lang="en-US" b="0" i="0">
                <a:solidFill>
                  <a:srgbClr val="DF8E1D"/>
                </a:solidFill>
                <a:effectLst/>
                <a:latin typeface="IBM Plex Mono" panose="020B0509050203000203" pitchFamily="49" charset="0"/>
              </a:rPr>
              <a:t> </a:t>
            </a:r>
            <a:r>
              <a:rPr lang="en-US" b="0" i="0" err="1">
                <a:solidFill>
                  <a:srgbClr val="DF8E1D"/>
                </a:solidFill>
                <a:effectLst/>
                <a:latin typeface="IBM Plex Mono" panose="020B0509050203000203" pitchFamily="49" charset="0"/>
              </a:rPr>
              <a:t>SubgraphState</a:t>
            </a:r>
            <a:r>
              <a:rPr lang="en-US" b="0" i="0">
                <a:solidFill>
                  <a:srgbClr val="7C7F93"/>
                </a:solidFill>
                <a:effectLst/>
                <a:latin typeface="IBM Plex Mono" panose="020B0509050203000203" pitchFamily="49" charset="0"/>
              </a:rPr>
              <a:t>(</a:t>
            </a:r>
            <a:r>
              <a:rPr lang="en-US" b="0" i="0" err="1">
                <a:solidFill>
                  <a:srgbClr val="DF8E1D"/>
                </a:solidFill>
                <a:effectLst/>
                <a:latin typeface="IBM Plex Mono" panose="020B0509050203000203" pitchFamily="49" charset="0"/>
              </a:rPr>
              <a:t>TypedDict</a:t>
            </a:r>
            <a:r>
              <a:rPr lang="en-US" b="0" i="0">
                <a:solidFill>
                  <a:srgbClr val="7C7F93"/>
                </a:solidFill>
                <a:effectLst/>
                <a:latin typeface="IBM Plex Mono" panose="020B0509050203000203" pitchFamily="49" charset="0"/>
              </a:rPr>
              <a:t>):</a:t>
            </a:r>
            <a:r>
              <a:rPr lang="en-US" b="0" i="0">
                <a:solidFill>
                  <a:srgbClr val="4C4F69"/>
                </a:solidFill>
                <a:effectLst/>
                <a:latin typeface="IBM Plex Mono" panose="020B0509050203000203" pitchFamily="49" charset="0"/>
              </a:rPr>
              <a:t> </a:t>
            </a:r>
          </a:p>
          <a:p>
            <a:r>
              <a:rPr lang="en-US">
                <a:solidFill>
                  <a:srgbClr val="4C4F69"/>
                </a:solidFill>
                <a:latin typeface="IBM Plex Mono" panose="020B0509050203000203" pitchFamily="49" charset="0"/>
              </a:rPr>
              <a:t>	</a:t>
            </a:r>
            <a:r>
              <a:rPr lang="en-US" b="0" i="0">
                <a:solidFill>
                  <a:srgbClr val="4C4F69"/>
                </a:solidFill>
                <a:effectLst/>
                <a:latin typeface="IBM Plex Mono" panose="020B0509050203000203" pitchFamily="49" charset="0"/>
              </a:rPr>
              <a:t>bar</a:t>
            </a:r>
            <a:r>
              <a:rPr lang="en-US" b="0" i="0">
                <a:solidFill>
                  <a:srgbClr val="7C7F93"/>
                </a:solidFill>
                <a:effectLst/>
                <a:latin typeface="IBM Plex Mono" panose="020B0509050203000203" pitchFamily="49" charset="0"/>
              </a:rPr>
              <a:t>:</a:t>
            </a:r>
            <a:r>
              <a:rPr lang="en-US" b="0" i="0">
                <a:solidFill>
                  <a:srgbClr val="8839EF"/>
                </a:solidFill>
                <a:effectLst/>
                <a:latin typeface="IBM Plex Mono" panose="020B0509050203000203" pitchFamily="49" charset="0"/>
              </a:rPr>
              <a:t> str</a:t>
            </a:r>
            <a:r>
              <a:rPr lang="en-US" b="0" i="0">
                <a:solidFill>
                  <a:srgbClr val="4C4F69"/>
                </a:solidFill>
                <a:effectLst/>
                <a:latin typeface="IBM Plex Mono" panose="020B0509050203000203" pitchFamily="49" charset="0"/>
              </a:rPr>
              <a:t> </a:t>
            </a:r>
          </a:p>
          <a:p>
            <a:endParaRPr lang="en-US" b="0" i="0">
              <a:solidFill>
                <a:srgbClr val="7C7F93"/>
              </a:solidFill>
              <a:effectLst/>
              <a:latin typeface="IBM Plex Mono" panose="020B0509050203000203" pitchFamily="49" charset="0"/>
            </a:endParaRPr>
          </a:p>
          <a:p>
            <a:r>
              <a:rPr lang="en-US" b="0" i="0">
                <a:solidFill>
                  <a:srgbClr val="7C7F93"/>
                </a:solidFill>
                <a:effectLst/>
                <a:latin typeface="IBM Plex Mono" panose="020B0509050203000203" pitchFamily="49" charset="0"/>
              </a:rPr>
              <a:t># Subgraph</a:t>
            </a:r>
            <a:r>
              <a:rPr lang="en-US" b="0" i="0">
                <a:solidFill>
                  <a:srgbClr val="4C4F69"/>
                </a:solidFill>
                <a:effectLst/>
                <a:latin typeface="IBM Plex Mono" panose="020B0509050203000203" pitchFamily="49" charset="0"/>
              </a:rPr>
              <a:t> </a:t>
            </a:r>
          </a:p>
          <a:p>
            <a:r>
              <a:rPr lang="en-US" b="0" i="0">
                <a:solidFill>
                  <a:srgbClr val="8839EF"/>
                </a:solidFill>
                <a:effectLst/>
                <a:latin typeface="IBM Plex Mono" panose="020B0509050203000203" pitchFamily="49" charset="0"/>
              </a:rPr>
              <a:t>def</a:t>
            </a:r>
            <a:r>
              <a:rPr lang="en-US" b="0" i="0">
                <a:solidFill>
                  <a:srgbClr val="1E66F5"/>
                </a:solidFill>
                <a:effectLst/>
                <a:latin typeface="IBM Plex Mono" panose="020B0509050203000203" pitchFamily="49" charset="0"/>
              </a:rPr>
              <a:t> subgraph_node_1</a:t>
            </a:r>
            <a:r>
              <a:rPr lang="en-US" b="0" i="0">
                <a:solidFill>
                  <a:srgbClr val="7C7F93"/>
                </a:solidFill>
                <a:effectLst/>
                <a:latin typeface="IBM Plex Mono" panose="020B0509050203000203" pitchFamily="49" charset="0"/>
              </a:rPr>
              <a:t>(</a:t>
            </a:r>
            <a:r>
              <a:rPr lang="en-US" b="0" i="0">
                <a:solidFill>
                  <a:srgbClr val="E64553"/>
                </a:solidFill>
                <a:effectLst/>
                <a:latin typeface="IBM Plex Mono" panose="020B0509050203000203" pitchFamily="49" charset="0"/>
              </a:rPr>
              <a:t>state</a:t>
            </a:r>
            <a:r>
              <a:rPr lang="en-US" b="0" i="0">
                <a:solidFill>
                  <a:srgbClr val="7C7F93"/>
                </a:solidFill>
                <a:effectLst/>
                <a:latin typeface="IBM Plex Mono" panose="020B0509050203000203" pitchFamily="49" charset="0"/>
              </a:rPr>
              <a:t>:</a:t>
            </a:r>
            <a:r>
              <a:rPr lang="en-US" b="0" i="0">
                <a:solidFill>
                  <a:srgbClr val="E64553"/>
                </a:solidFill>
                <a:effectLst/>
                <a:latin typeface="IBM Plex Mono" panose="020B0509050203000203" pitchFamily="49" charset="0"/>
              </a:rPr>
              <a:t> </a:t>
            </a:r>
            <a:r>
              <a:rPr lang="en-US" b="0" i="0" err="1">
                <a:solidFill>
                  <a:srgbClr val="E64553"/>
                </a:solidFill>
                <a:effectLst/>
                <a:latin typeface="IBM Plex Mono" panose="020B0509050203000203" pitchFamily="49" charset="0"/>
              </a:rPr>
              <a:t>SubgraphState</a:t>
            </a:r>
            <a:r>
              <a:rPr lang="en-US" b="0" i="0">
                <a:solidFill>
                  <a:srgbClr val="7C7F93"/>
                </a:solidFill>
                <a:effectLst/>
                <a:latin typeface="IBM Plex Mono" panose="020B0509050203000203" pitchFamily="49" charset="0"/>
              </a:rPr>
              <a:t>):</a:t>
            </a:r>
            <a:r>
              <a:rPr lang="en-US" b="0" i="0">
                <a:solidFill>
                  <a:srgbClr val="4C4F69"/>
                </a:solidFill>
                <a:effectLst/>
                <a:latin typeface="IBM Plex Mono" panose="020B0509050203000203" pitchFamily="49" charset="0"/>
              </a:rPr>
              <a:t> 	</a:t>
            </a:r>
            <a:r>
              <a:rPr lang="en-US" b="0" i="0">
                <a:solidFill>
                  <a:srgbClr val="8839EF"/>
                </a:solidFill>
                <a:effectLst/>
                <a:latin typeface="IBM Plex Mono" panose="020B0509050203000203" pitchFamily="49" charset="0"/>
              </a:rPr>
              <a:t>return</a:t>
            </a:r>
            <a:r>
              <a:rPr lang="en-US" b="0" i="0">
                <a:solidFill>
                  <a:srgbClr val="7C7F93"/>
                </a:solidFill>
                <a:effectLst/>
                <a:latin typeface="IBM Plex Mono" panose="020B0509050203000203" pitchFamily="49" charset="0"/>
              </a:rPr>
              <a:t> {</a:t>
            </a:r>
            <a:r>
              <a:rPr lang="en-US" b="0" i="0">
                <a:solidFill>
                  <a:srgbClr val="40A02B"/>
                </a:solidFill>
                <a:effectLst/>
                <a:latin typeface="IBM Plex Mono" panose="020B0509050203000203" pitchFamily="49" charset="0"/>
              </a:rPr>
              <a:t>"bar"</a:t>
            </a:r>
            <a:r>
              <a:rPr lang="en-US" b="0" i="0">
                <a:solidFill>
                  <a:srgbClr val="7C7F93"/>
                </a:solidFill>
                <a:effectLst/>
                <a:latin typeface="IBM Plex Mono" panose="020B0509050203000203" pitchFamily="49" charset="0"/>
              </a:rPr>
              <a:t>:</a:t>
            </a:r>
            <a:r>
              <a:rPr lang="en-US" b="0" i="0">
                <a:solidFill>
                  <a:srgbClr val="40A02B"/>
                </a:solidFill>
                <a:effectLst/>
                <a:latin typeface="IBM Plex Mono" panose="020B0509050203000203" pitchFamily="49" charset="0"/>
              </a:rPr>
              <a:t> "hi! "</a:t>
            </a:r>
            <a:r>
              <a:rPr lang="en-US" b="0" i="0">
                <a:solidFill>
                  <a:srgbClr val="179299"/>
                </a:solidFill>
                <a:effectLst/>
                <a:latin typeface="IBM Plex Mono" panose="020B0509050203000203" pitchFamily="49" charset="0"/>
              </a:rPr>
              <a:t> +</a:t>
            </a:r>
            <a:r>
              <a:rPr lang="en-US" b="0" i="0">
                <a:solidFill>
                  <a:srgbClr val="E64553"/>
                </a:solidFill>
                <a:effectLst/>
                <a:latin typeface="IBM Plex Mono" panose="020B0509050203000203" pitchFamily="49" charset="0"/>
              </a:rPr>
              <a:t> state</a:t>
            </a:r>
            <a:r>
              <a:rPr lang="en-US" b="0" i="0">
                <a:solidFill>
                  <a:srgbClr val="7C7F93"/>
                </a:solidFill>
                <a:effectLst/>
                <a:latin typeface="IBM Plex Mono" panose="020B0509050203000203" pitchFamily="49" charset="0"/>
              </a:rPr>
              <a:t>[</a:t>
            </a:r>
            <a:r>
              <a:rPr lang="en-US" b="0" i="0">
                <a:solidFill>
                  <a:srgbClr val="40A02B"/>
                </a:solidFill>
                <a:effectLst/>
                <a:latin typeface="IBM Plex Mono" panose="020B0509050203000203" pitchFamily="49" charset="0"/>
              </a:rPr>
              <a:t>"bar"</a:t>
            </a:r>
            <a:r>
              <a:rPr lang="en-US" b="0" i="0">
                <a:solidFill>
                  <a:srgbClr val="7C7F93"/>
                </a:solidFill>
                <a:effectLst/>
                <a:latin typeface="IBM Plex Mono" panose="020B0509050203000203" pitchFamily="49" charset="0"/>
              </a:rPr>
              <a:t>]}</a:t>
            </a:r>
          </a:p>
        </p:txBody>
      </p:sp>
      <p:sp>
        <p:nvSpPr>
          <p:cNvPr id="7" name="TextBox 6">
            <a:extLst>
              <a:ext uri="{FF2B5EF4-FFF2-40B4-BE49-F238E27FC236}">
                <a16:creationId xmlns:a16="http://schemas.microsoft.com/office/drawing/2014/main" id="{2612D862-AC56-195A-7FFD-F991DB437106}"/>
              </a:ext>
            </a:extLst>
          </p:cNvPr>
          <p:cNvSpPr txBox="1"/>
          <p:nvPr/>
        </p:nvSpPr>
        <p:spPr>
          <a:xfrm>
            <a:off x="5145630" y="3303600"/>
            <a:ext cx="6759240"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0" i="0">
                <a:solidFill>
                  <a:srgbClr val="7C7F93"/>
                </a:solidFill>
                <a:effectLst/>
                <a:latin typeface="IBM Plex Mono" panose="020B0509050203000203" pitchFamily="49" charset="0"/>
              </a:rPr>
              <a:t># Parent graph</a:t>
            </a:r>
            <a:r>
              <a:rPr lang="en-US" b="0" i="0">
                <a:solidFill>
                  <a:srgbClr val="4C4F69"/>
                </a:solidFill>
                <a:effectLst/>
                <a:latin typeface="IBM Plex Mono" panose="020B0509050203000203" pitchFamily="49" charset="0"/>
              </a:rPr>
              <a:t> </a:t>
            </a:r>
          </a:p>
          <a:p>
            <a:r>
              <a:rPr lang="en-US" b="0" i="0">
                <a:solidFill>
                  <a:srgbClr val="8839EF"/>
                </a:solidFill>
                <a:effectLst/>
                <a:latin typeface="IBM Plex Mono" panose="020B0509050203000203" pitchFamily="49" charset="0"/>
              </a:rPr>
              <a:t>class</a:t>
            </a:r>
            <a:r>
              <a:rPr lang="en-US" b="0" i="0">
                <a:solidFill>
                  <a:srgbClr val="DF8E1D"/>
                </a:solidFill>
                <a:effectLst/>
                <a:latin typeface="IBM Plex Mono" panose="020B0509050203000203" pitchFamily="49" charset="0"/>
              </a:rPr>
              <a:t> State</a:t>
            </a:r>
            <a:r>
              <a:rPr lang="en-US" b="0" i="0">
                <a:solidFill>
                  <a:srgbClr val="7C7F93"/>
                </a:solidFill>
                <a:effectLst/>
                <a:latin typeface="IBM Plex Mono" panose="020B0509050203000203" pitchFamily="49" charset="0"/>
              </a:rPr>
              <a:t>(</a:t>
            </a:r>
            <a:r>
              <a:rPr lang="en-US" b="0" i="0" err="1">
                <a:solidFill>
                  <a:srgbClr val="DF8E1D"/>
                </a:solidFill>
                <a:effectLst/>
                <a:latin typeface="IBM Plex Mono" panose="020B0509050203000203" pitchFamily="49" charset="0"/>
              </a:rPr>
              <a:t>TypedDict</a:t>
            </a:r>
            <a:r>
              <a:rPr lang="en-US" b="0" i="0">
                <a:solidFill>
                  <a:srgbClr val="7C7F93"/>
                </a:solidFill>
                <a:effectLst/>
                <a:latin typeface="IBM Plex Mono" panose="020B0509050203000203" pitchFamily="49" charset="0"/>
              </a:rPr>
              <a:t>):</a:t>
            </a:r>
            <a:r>
              <a:rPr lang="en-US" b="0" i="0">
                <a:solidFill>
                  <a:srgbClr val="4C4F69"/>
                </a:solidFill>
                <a:effectLst/>
                <a:latin typeface="IBM Plex Mono" panose="020B0509050203000203" pitchFamily="49" charset="0"/>
              </a:rPr>
              <a:t> </a:t>
            </a:r>
          </a:p>
          <a:p>
            <a:r>
              <a:rPr lang="en-US">
                <a:solidFill>
                  <a:srgbClr val="4C4F69"/>
                </a:solidFill>
                <a:latin typeface="IBM Plex Mono" panose="020B0509050203000203" pitchFamily="49" charset="0"/>
              </a:rPr>
              <a:t>	</a:t>
            </a:r>
            <a:r>
              <a:rPr lang="en-US" b="0" i="0">
                <a:solidFill>
                  <a:srgbClr val="4C4F69"/>
                </a:solidFill>
                <a:effectLst/>
                <a:latin typeface="IBM Plex Mono" panose="020B0509050203000203" pitchFamily="49" charset="0"/>
              </a:rPr>
              <a:t>foo</a:t>
            </a:r>
            <a:r>
              <a:rPr lang="en-US" b="0" i="0">
                <a:solidFill>
                  <a:srgbClr val="7C7F93"/>
                </a:solidFill>
                <a:effectLst/>
                <a:latin typeface="IBM Plex Mono" panose="020B0509050203000203" pitchFamily="49" charset="0"/>
              </a:rPr>
              <a:t>:</a:t>
            </a:r>
            <a:r>
              <a:rPr lang="en-US" b="0" i="0">
                <a:solidFill>
                  <a:srgbClr val="8839EF"/>
                </a:solidFill>
                <a:effectLst/>
                <a:latin typeface="IBM Plex Mono" panose="020B0509050203000203" pitchFamily="49" charset="0"/>
              </a:rPr>
              <a:t> str</a:t>
            </a:r>
            <a:r>
              <a:rPr lang="en-US" b="0" i="0">
                <a:solidFill>
                  <a:srgbClr val="4C4F69"/>
                </a:solidFill>
                <a:effectLst/>
                <a:latin typeface="IBM Plex Mono" panose="020B0509050203000203" pitchFamily="49" charset="0"/>
              </a:rPr>
              <a:t> </a:t>
            </a:r>
          </a:p>
          <a:p>
            <a:endParaRPr lang="en-US">
              <a:solidFill>
                <a:srgbClr val="4C4F69"/>
              </a:solidFill>
              <a:latin typeface="IBM Plex Mono" panose="020B0509050203000203" pitchFamily="49" charset="0"/>
            </a:endParaRPr>
          </a:p>
          <a:p>
            <a:r>
              <a:rPr lang="en-US" b="0" i="0">
                <a:solidFill>
                  <a:srgbClr val="8839EF"/>
                </a:solidFill>
                <a:effectLst/>
                <a:latin typeface="IBM Plex Mono" panose="020B0509050203000203" pitchFamily="49" charset="0"/>
              </a:rPr>
              <a:t>def</a:t>
            </a:r>
            <a:r>
              <a:rPr lang="en-US" b="0" i="0">
                <a:solidFill>
                  <a:srgbClr val="1E66F5"/>
                </a:solidFill>
                <a:effectLst/>
                <a:latin typeface="IBM Plex Mono" panose="020B0509050203000203" pitchFamily="49" charset="0"/>
              </a:rPr>
              <a:t> </a:t>
            </a:r>
            <a:r>
              <a:rPr lang="en-US" b="0" i="0" err="1">
                <a:solidFill>
                  <a:srgbClr val="1E66F5"/>
                </a:solidFill>
                <a:effectLst/>
                <a:latin typeface="IBM Plex Mono" panose="020B0509050203000203" pitchFamily="49" charset="0"/>
              </a:rPr>
              <a:t>call_subgraph</a:t>
            </a:r>
            <a:r>
              <a:rPr lang="en-US" b="0" i="0">
                <a:solidFill>
                  <a:srgbClr val="7C7F93"/>
                </a:solidFill>
                <a:effectLst/>
                <a:latin typeface="IBM Plex Mono" panose="020B0509050203000203" pitchFamily="49" charset="0"/>
              </a:rPr>
              <a:t>(</a:t>
            </a:r>
            <a:r>
              <a:rPr lang="en-US" b="0" i="0">
                <a:solidFill>
                  <a:srgbClr val="E64553"/>
                </a:solidFill>
                <a:effectLst/>
                <a:latin typeface="IBM Plex Mono" panose="020B0509050203000203" pitchFamily="49" charset="0"/>
              </a:rPr>
              <a:t>state</a:t>
            </a:r>
            <a:r>
              <a:rPr lang="en-US" b="0" i="0">
                <a:solidFill>
                  <a:srgbClr val="7C7F93"/>
                </a:solidFill>
                <a:effectLst/>
                <a:latin typeface="IBM Plex Mono" panose="020B0509050203000203" pitchFamily="49" charset="0"/>
              </a:rPr>
              <a:t>:</a:t>
            </a:r>
            <a:r>
              <a:rPr lang="en-US" b="0" i="0">
                <a:solidFill>
                  <a:srgbClr val="E64553"/>
                </a:solidFill>
                <a:effectLst/>
                <a:latin typeface="IBM Plex Mono" panose="020B0509050203000203" pitchFamily="49" charset="0"/>
              </a:rPr>
              <a:t> State</a:t>
            </a:r>
            <a:r>
              <a:rPr lang="en-US" b="0" i="0">
                <a:solidFill>
                  <a:srgbClr val="7C7F93"/>
                </a:solidFill>
                <a:effectLst/>
                <a:latin typeface="IBM Plex Mono" panose="020B0509050203000203" pitchFamily="49" charset="0"/>
              </a:rPr>
              <a:t>):</a:t>
            </a:r>
            <a:r>
              <a:rPr lang="en-US" b="0" i="0">
                <a:solidFill>
                  <a:srgbClr val="4C4F69"/>
                </a:solidFill>
                <a:effectLst/>
                <a:latin typeface="IBM Plex Mono" panose="020B0509050203000203" pitchFamily="49" charset="0"/>
              </a:rPr>
              <a:t> </a:t>
            </a:r>
          </a:p>
          <a:p>
            <a:r>
              <a:rPr lang="en-US" b="0" i="0">
                <a:solidFill>
                  <a:srgbClr val="7C7F93"/>
                </a:solidFill>
                <a:effectLst/>
                <a:latin typeface="IBM Plex Mono" panose="020B0509050203000203" pitchFamily="49" charset="0"/>
              </a:rPr>
              <a:t>	# Transform the state to the subgraph state</a:t>
            </a:r>
            <a:r>
              <a:rPr lang="en-US" b="0" i="0">
                <a:solidFill>
                  <a:srgbClr val="4C4F69"/>
                </a:solidFill>
                <a:effectLst/>
                <a:latin typeface="IBM Plex Mono" panose="020B0509050203000203" pitchFamily="49" charset="0"/>
              </a:rPr>
              <a:t> 	</a:t>
            </a:r>
            <a:r>
              <a:rPr lang="en-US" b="0" i="0" err="1">
                <a:solidFill>
                  <a:srgbClr val="4C4F69"/>
                </a:solidFill>
                <a:effectLst/>
                <a:latin typeface="IBM Plex Mono" panose="020B0509050203000203" pitchFamily="49" charset="0"/>
              </a:rPr>
              <a:t>subgraph_output</a:t>
            </a:r>
            <a:r>
              <a:rPr lang="en-US" b="0" i="0">
                <a:solidFill>
                  <a:srgbClr val="4C4F69"/>
                </a:solidFill>
                <a:effectLst/>
                <a:latin typeface="IBM Plex Mono" panose="020B0509050203000203" pitchFamily="49" charset="0"/>
              </a:rPr>
              <a:t> </a:t>
            </a:r>
            <a:r>
              <a:rPr lang="en-US" b="0" i="0">
                <a:solidFill>
                  <a:srgbClr val="179299"/>
                </a:solidFill>
                <a:effectLst/>
                <a:latin typeface="IBM Plex Mono" panose="020B0509050203000203" pitchFamily="49" charset="0"/>
              </a:rPr>
              <a:t>=</a:t>
            </a:r>
            <a:r>
              <a:rPr lang="en-US" b="0" i="0">
                <a:solidFill>
                  <a:srgbClr val="4C4F69"/>
                </a:solidFill>
                <a:effectLst/>
                <a:latin typeface="IBM Plex Mono" panose="020B0509050203000203" pitchFamily="49" charset="0"/>
              </a:rPr>
              <a:t> </a:t>
            </a:r>
            <a:r>
              <a:rPr lang="en-US" b="0" i="0" err="1">
                <a:solidFill>
                  <a:srgbClr val="4C4F69"/>
                </a:solidFill>
                <a:effectLst/>
                <a:latin typeface="IBM Plex Mono" panose="020B0509050203000203" pitchFamily="49" charset="0"/>
              </a:rPr>
              <a:t>subgraph</a:t>
            </a:r>
            <a:r>
              <a:rPr lang="en-US" b="0" i="0" err="1">
                <a:solidFill>
                  <a:srgbClr val="7C7F93"/>
                </a:solidFill>
                <a:effectLst/>
                <a:latin typeface="IBM Plex Mono" panose="020B0509050203000203" pitchFamily="49" charset="0"/>
              </a:rPr>
              <a:t>.</a:t>
            </a:r>
            <a:r>
              <a:rPr lang="en-US" b="0" i="0" err="1">
                <a:solidFill>
                  <a:srgbClr val="1E66F5"/>
                </a:solidFill>
                <a:effectLst/>
                <a:latin typeface="IBM Plex Mono" panose="020B0509050203000203" pitchFamily="49" charset="0"/>
              </a:rPr>
              <a:t>invoke</a:t>
            </a:r>
            <a:r>
              <a:rPr lang="en-US" b="0" i="0">
                <a:solidFill>
                  <a:srgbClr val="7C7F93"/>
                </a:solidFill>
                <a:effectLst/>
                <a:latin typeface="IBM Plex Mono" panose="020B0509050203000203" pitchFamily="49" charset="0"/>
              </a:rPr>
              <a:t>(</a:t>
            </a:r>
          </a:p>
          <a:p>
            <a:r>
              <a:rPr lang="en-US">
                <a:solidFill>
                  <a:srgbClr val="7C7F93"/>
                </a:solidFill>
                <a:latin typeface="IBM Plex Mono" panose="020B0509050203000203" pitchFamily="49" charset="0"/>
              </a:rPr>
              <a:t>						</a:t>
            </a:r>
            <a:r>
              <a:rPr lang="en-US" b="0" i="0">
                <a:solidFill>
                  <a:srgbClr val="7C7F93"/>
                </a:solidFill>
                <a:effectLst/>
                <a:latin typeface="IBM Plex Mono" panose="020B0509050203000203" pitchFamily="49" charset="0"/>
              </a:rPr>
              <a:t>{</a:t>
            </a:r>
            <a:r>
              <a:rPr lang="en-US" b="0" i="0">
                <a:solidFill>
                  <a:srgbClr val="40A02B"/>
                </a:solidFill>
                <a:effectLst/>
                <a:latin typeface="IBM Plex Mono" panose="020B0509050203000203" pitchFamily="49" charset="0"/>
              </a:rPr>
              <a:t>"bar"</a:t>
            </a:r>
            <a:r>
              <a:rPr lang="en-US" b="0" i="0">
                <a:solidFill>
                  <a:srgbClr val="7C7F93"/>
                </a:solidFill>
                <a:effectLst/>
                <a:latin typeface="IBM Plex Mono" panose="020B0509050203000203" pitchFamily="49" charset="0"/>
              </a:rPr>
              <a:t>:</a:t>
            </a:r>
            <a:r>
              <a:rPr lang="en-US" b="0" i="0">
                <a:solidFill>
                  <a:srgbClr val="E64553"/>
                </a:solidFill>
                <a:effectLst/>
                <a:latin typeface="IBM Plex Mono" panose="020B0509050203000203" pitchFamily="49" charset="0"/>
              </a:rPr>
              <a:t> state</a:t>
            </a:r>
            <a:r>
              <a:rPr lang="en-US" b="0" i="0">
                <a:solidFill>
                  <a:srgbClr val="7C7F93"/>
                </a:solidFill>
                <a:effectLst/>
                <a:latin typeface="IBM Plex Mono" panose="020B0509050203000203" pitchFamily="49" charset="0"/>
              </a:rPr>
              <a:t>[</a:t>
            </a:r>
            <a:r>
              <a:rPr lang="en-US" b="0" i="0">
                <a:solidFill>
                  <a:srgbClr val="40A02B"/>
                </a:solidFill>
                <a:effectLst/>
                <a:latin typeface="IBM Plex Mono" panose="020B0509050203000203" pitchFamily="49" charset="0"/>
              </a:rPr>
              <a:t>"foo"</a:t>
            </a:r>
            <a:r>
              <a:rPr lang="en-US" b="0" i="0">
                <a:solidFill>
                  <a:srgbClr val="7C7F93"/>
                </a:solidFill>
                <a:effectLst/>
                <a:latin typeface="IBM Plex Mono" panose="020B0509050203000203" pitchFamily="49" charset="0"/>
              </a:rPr>
              <a:t>]})</a:t>
            </a:r>
            <a:r>
              <a:rPr lang="en-US" b="0" i="0">
                <a:solidFill>
                  <a:srgbClr val="4C4F69"/>
                </a:solidFill>
                <a:effectLst/>
                <a:latin typeface="IBM Plex Mono" panose="020B0509050203000203" pitchFamily="49" charset="0"/>
              </a:rPr>
              <a:t> </a:t>
            </a:r>
          </a:p>
          <a:p>
            <a:endParaRPr lang="en-US" b="0" i="0">
              <a:solidFill>
                <a:srgbClr val="7C7F93"/>
              </a:solidFill>
              <a:effectLst/>
              <a:latin typeface="IBM Plex Mono" panose="020B0509050203000203" pitchFamily="49" charset="0"/>
            </a:endParaRPr>
          </a:p>
          <a:p>
            <a:r>
              <a:rPr lang="en-US" b="0" i="0">
                <a:solidFill>
                  <a:srgbClr val="7C7F93"/>
                </a:solidFill>
                <a:effectLst/>
                <a:latin typeface="IBM Plex Mono" panose="020B0509050203000203" pitchFamily="49" charset="0"/>
              </a:rPr>
              <a:t>	# Transform response to the parent state</a:t>
            </a:r>
            <a:r>
              <a:rPr lang="en-US" b="0" i="0">
                <a:solidFill>
                  <a:srgbClr val="4C4F69"/>
                </a:solidFill>
                <a:effectLst/>
                <a:latin typeface="IBM Plex Mono" panose="020B0509050203000203" pitchFamily="49" charset="0"/>
              </a:rPr>
              <a:t> </a:t>
            </a:r>
          </a:p>
          <a:p>
            <a:r>
              <a:rPr lang="en-US" b="0" i="0">
                <a:solidFill>
                  <a:srgbClr val="8839EF"/>
                </a:solidFill>
                <a:effectLst/>
                <a:latin typeface="IBM Plex Mono" panose="020B0509050203000203" pitchFamily="49" charset="0"/>
              </a:rPr>
              <a:t>	return</a:t>
            </a:r>
            <a:r>
              <a:rPr lang="en-US" b="0" i="0">
                <a:solidFill>
                  <a:srgbClr val="7C7F93"/>
                </a:solidFill>
                <a:effectLst/>
                <a:latin typeface="IBM Plex Mono" panose="020B0509050203000203" pitchFamily="49" charset="0"/>
              </a:rPr>
              <a:t> {</a:t>
            </a:r>
            <a:r>
              <a:rPr lang="en-US" b="0" i="0">
                <a:solidFill>
                  <a:srgbClr val="40A02B"/>
                </a:solidFill>
                <a:effectLst/>
                <a:latin typeface="IBM Plex Mono" panose="020B0509050203000203" pitchFamily="49" charset="0"/>
              </a:rPr>
              <a:t>"foo"</a:t>
            </a:r>
            <a:r>
              <a:rPr lang="en-US" b="0" i="0">
                <a:solidFill>
                  <a:srgbClr val="7C7F93"/>
                </a:solidFill>
                <a:effectLst/>
                <a:latin typeface="IBM Plex Mono" panose="020B0509050203000203" pitchFamily="49" charset="0"/>
              </a:rPr>
              <a:t>:</a:t>
            </a:r>
            <a:r>
              <a:rPr lang="en-US" b="0" i="0">
                <a:solidFill>
                  <a:srgbClr val="E64553"/>
                </a:solidFill>
                <a:effectLst/>
                <a:latin typeface="IBM Plex Mono" panose="020B0509050203000203" pitchFamily="49" charset="0"/>
              </a:rPr>
              <a:t> </a:t>
            </a:r>
            <a:r>
              <a:rPr lang="en-US" b="0" i="0" err="1">
                <a:solidFill>
                  <a:srgbClr val="E64553"/>
                </a:solidFill>
                <a:effectLst/>
                <a:latin typeface="IBM Plex Mono" panose="020B0509050203000203" pitchFamily="49" charset="0"/>
              </a:rPr>
              <a:t>subgraph_output</a:t>
            </a:r>
            <a:r>
              <a:rPr lang="en-US" b="0" i="0">
                <a:solidFill>
                  <a:srgbClr val="7C7F93"/>
                </a:solidFill>
                <a:effectLst/>
                <a:latin typeface="IBM Plex Mono" panose="020B0509050203000203" pitchFamily="49" charset="0"/>
              </a:rPr>
              <a:t>[</a:t>
            </a:r>
            <a:r>
              <a:rPr lang="en-US" b="0" i="0">
                <a:solidFill>
                  <a:srgbClr val="40A02B"/>
                </a:solidFill>
                <a:effectLst/>
                <a:latin typeface="IBM Plex Mono" panose="020B0509050203000203" pitchFamily="49" charset="0"/>
              </a:rPr>
              <a:t>"bar"</a:t>
            </a:r>
            <a:r>
              <a:rPr lang="en-US" b="0" i="0">
                <a:solidFill>
                  <a:srgbClr val="7C7F93"/>
                </a:solidFill>
                <a:effectLst/>
                <a:latin typeface="IBM Plex Mono" panose="020B0509050203000203" pitchFamily="49" charset="0"/>
              </a:rPr>
              <a:t>]}</a:t>
            </a:r>
            <a:endParaRPr lang="en-US"/>
          </a:p>
        </p:txBody>
      </p:sp>
    </p:spTree>
    <p:extLst>
      <p:ext uri="{BB962C8B-B14F-4D97-AF65-F5344CB8AC3E}">
        <p14:creationId xmlns:p14="http://schemas.microsoft.com/office/powerpoint/2010/main" val="374464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982F4-BA25-9688-4D4C-3F2DF52B1588}"/>
              </a:ext>
            </a:extLst>
          </p:cNvPr>
          <p:cNvSpPr>
            <a:spLocks noGrp="1"/>
          </p:cNvSpPr>
          <p:nvPr>
            <p:ph type="title"/>
          </p:nvPr>
        </p:nvSpPr>
        <p:spPr/>
        <p:txBody>
          <a:bodyPr/>
          <a:lstStyle/>
          <a:p>
            <a:r>
              <a:rPr lang="en-US"/>
              <a:t>Add subgraph as node</a:t>
            </a:r>
          </a:p>
        </p:txBody>
      </p:sp>
      <p:sp>
        <p:nvSpPr>
          <p:cNvPr id="3" name="Content Placeholder 2">
            <a:extLst>
              <a:ext uri="{FF2B5EF4-FFF2-40B4-BE49-F238E27FC236}">
                <a16:creationId xmlns:a16="http://schemas.microsoft.com/office/drawing/2014/main" id="{2C127409-CADF-8D20-BAB1-7F157DC6223C}"/>
              </a:ext>
            </a:extLst>
          </p:cNvPr>
          <p:cNvSpPr>
            <a:spLocks noGrp="1"/>
          </p:cNvSpPr>
          <p:nvPr>
            <p:ph idx="1"/>
          </p:nvPr>
        </p:nvSpPr>
        <p:spPr>
          <a:xfrm>
            <a:off x="252549" y="1190139"/>
            <a:ext cx="4683886" cy="5217696"/>
          </a:xfrm>
        </p:spPr>
        <p:txBody>
          <a:bodyPr>
            <a:normAutofit fontScale="92500"/>
          </a:bodyPr>
          <a:lstStyle/>
          <a:p>
            <a:r>
              <a:rPr lang="en-US" sz="3200"/>
              <a:t>When the parent graph and subgraph </a:t>
            </a:r>
            <a:r>
              <a:rPr lang="en-US" sz="3200" b="1"/>
              <a:t>share state keys</a:t>
            </a:r>
            <a:r>
              <a:rPr lang="en-US" sz="3200"/>
              <a:t>, you can pass a compiled subgraph directly to </a:t>
            </a:r>
            <a:r>
              <a:rPr lang="en-US" sz="3200" err="1"/>
              <a:t>add_node</a:t>
            </a:r>
            <a:r>
              <a:rPr lang="en-US" sz="3200"/>
              <a:t>. </a:t>
            </a:r>
          </a:p>
          <a:p>
            <a:r>
              <a:rPr lang="en-US" sz="3200"/>
              <a:t>The subgraph reads from and writes to the parent’s state channels automatically. For example, in </a:t>
            </a:r>
            <a:r>
              <a:rPr lang="en-US" sz="3200">
                <a:hlinkClick r:id="rId2"/>
              </a:rPr>
              <a:t>multi-agent</a:t>
            </a:r>
            <a:r>
              <a:rPr lang="en-US" sz="3200"/>
              <a:t> systems, the agents often communicate over a shared </a:t>
            </a:r>
            <a:r>
              <a:rPr lang="en-US" sz="3200">
                <a:hlinkClick r:id="rId3"/>
              </a:rPr>
              <a:t>messages</a:t>
            </a:r>
            <a:r>
              <a:rPr lang="en-US" sz="3200"/>
              <a:t> key.</a:t>
            </a:r>
          </a:p>
        </p:txBody>
      </p:sp>
      <p:pic>
        <p:nvPicPr>
          <p:cNvPr id="4" name="Picture 3" descr="SQL agent graph">
            <a:extLst>
              <a:ext uri="{FF2B5EF4-FFF2-40B4-BE49-F238E27FC236}">
                <a16:creationId xmlns:a16="http://schemas.microsoft.com/office/drawing/2014/main" id="{FA15C80C-07EB-B8A9-9524-AFF161B0604C}"/>
              </a:ext>
            </a:extLst>
          </p:cNvPr>
          <p:cNvPicPr>
            <a:picLocks noChangeAspect="1"/>
          </p:cNvPicPr>
          <p:nvPr/>
        </p:nvPicPr>
        <p:blipFill>
          <a:blip r:embed="rId4"/>
          <a:srcRect l="1631" r="6150"/>
          <a:stretch>
            <a:fillRect/>
          </a:stretch>
        </p:blipFill>
        <p:spPr>
          <a:xfrm>
            <a:off x="5094703" y="1190139"/>
            <a:ext cx="6844748" cy="5158410"/>
          </a:xfrm>
          <a:prstGeom prst="rect">
            <a:avLst/>
          </a:prstGeom>
        </p:spPr>
      </p:pic>
    </p:spTree>
    <p:extLst>
      <p:ext uri="{BB962C8B-B14F-4D97-AF65-F5344CB8AC3E}">
        <p14:creationId xmlns:p14="http://schemas.microsoft.com/office/powerpoint/2010/main" val="424583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B479F-62C8-A0FF-5114-72DC00278121}"/>
              </a:ext>
            </a:extLst>
          </p:cNvPr>
          <p:cNvSpPr>
            <a:spLocks noGrp="1"/>
          </p:cNvSpPr>
          <p:nvPr>
            <p:ph type="title"/>
          </p:nvPr>
        </p:nvSpPr>
        <p:spPr/>
        <p:txBody>
          <a:bodyPr/>
          <a:lstStyle/>
          <a:p>
            <a:r>
              <a:rPr lang="en-US"/>
              <a:t>Subgraph as node: example</a:t>
            </a:r>
          </a:p>
        </p:txBody>
      </p:sp>
      <p:sp>
        <p:nvSpPr>
          <p:cNvPr id="3" name="Content Placeholder 2">
            <a:extLst>
              <a:ext uri="{FF2B5EF4-FFF2-40B4-BE49-F238E27FC236}">
                <a16:creationId xmlns:a16="http://schemas.microsoft.com/office/drawing/2014/main" id="{9E743E3C-ED0E-3870-81D4-27429133F621}"/>
              </a:ext>
            </a:extLst>
          </p:cNvPr>
          <p:cNvSpPr>
            <a:spLocks noGrp="1"/>
          </p:cNvSpPr>
          <p:nvPr>
            <p:ph idx="1"/>
          </p:nvPr>
        </p:nvSpPr>
        <p:spPr>
          <a:xfrm>
            <a:off x="240357" y="1130853"/>
            <a:ext cx="5166530" cy="5217696"/>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0" indent="0">
              <a:buNone/>
            </a:pPr>
            <a:r>
              <a:rPr lang="en-US" err="1"/>
              <a:t>sub_builder</a:t>
            </a:r>
            <a:r>
              <a:rPr lang="en-US"/>
              <a:t> = </a:t>
            </a:r>
            <a:r>
              <a:rPr lang="en-US" err="1"/>
              <a:t>StateGraph</a:t>
            </a:r>
            <a:r>
              <a:rPr lang="en-US"/>
              <a:t>(State)</a:t>
            </a:r>
          </a:p>
          <a:p>
            <a:pPr marL="0" indent="0">
              <a:buNone/>
            </a:pPr>
            <a:endParaRPr lang="en-US"/>
          </a:p>
          <a:p>
            <a:pPr marL="0" indent="0">
              <a:lnSpc>
                <a:spcPct val="120000"/>
              </a:lnSpc>
              <a:spcBef>
                <a:spcPts val="200"/>
              </a:spcBef>
              <a:buNone/>
            </a:pPr>
            <a:r>
              <a:rPr lang="en-US"/>
              <a:t>def node1(state):</a:t>
            </a:r>
          </a:p>
          <a:p>
            <a:pPr marL="0" indent="0">
              <a:buNone/>
            </a:pPr>
            <a:r>
              <a:rPr lang="en-US"/>
              <a:t>    ...</a:t>
            </a:r>
          </a:p>
          <a:p>
            <a:pPr marL="0" indent="0">
              <a:buNone/>
            </a:pPr>
            <a:r>
              <a:rPr lang="en-US"/>
              <a:t>def node2(state):</a:t>
            </a:r>
          </a:p>
          <a:p>
            <a:pPr marL="0" indent="0">
              <a:buNone/>
            </a:pPr>
            <a:r>
              <a:rPr lang="en-US"/>
              <a:t>    ...</a:t>
            </a:r>
          </a:p>
          <a:p>
            <a:pPr marL="0" indent="0">
              <a:buNone/>
            </a:pPr>
            <a:r>
              <a:rPr lang="en-US" err="1"/>
              <a:t>sub_builder.add_node</a:t>
            </a:r>
            <a:r>
              <a:rPr lang="en-US"/>
              <a:t>("node1", node1)</a:t>
            </a:r>
          </a:p>
          <a:p>
            <a:pPr marL="0" indent="0">
              <a:buNone/>
            </a:pPr>
            <a:r>
              <a:rPr lang="en-US" err="1"/>
              <a:t>sub_builder.add_node</a:t>
            </a:r>
            <a:r>
              <a:rPr lang="en-US"/>
              <a:t>("node2", node2)</a:t>
            </a:r>
          </a:p>
          <a:p>
            <a:pPr marL="0" indent="0">
              <a:buNone/>
            </a:pPr>
            <a:r>
              <a:rPr lang="en-US" err="1"/>
              <a:t>sub_builder.add_edge</a:t>
            </a:r>
            <a:r>
              <a:rPr lang="en-US"/>
              <a:t>(START, "node1")</a:t>
            </a:r>
          </a:p>
          <a:p>
            <a:pPr marL="0" indent="0">
              <a:buNone/>
            </a:pPr>
            <a:r>
              <a:rPr lang="en-US" err="1"/>
              <a:t>sub_builder.add_edge</a:t>
            </a:r>
            <a:r>
              <a:rPr lang="en-US"/>
              <a:t>("node1", "node2")</a:t>
            </a:r>
          </a:p>
          <a:p>
            <a:pPr marL="0" indent="0">
              <a:buNone/>
            </a:pPr>
            <a:br>
              <a:rPr lang="en-US"/>
            </a:br>
            <a:endParaRPr lang="en-US"/>
          </a:p>
          <a:p>
            <a:pPr marL="0" indent="0">
              <a:buNone/>
            </a:pPr>
            <a:r>
              <a:rPr lang="en-US"/>
              <a:t>subgraph = </a:t>
            </a:r>
            <a:r>
              <a:rPr lang="en-US" err="1"/>
              <a:t>sub_builder.compile</a:t>
            </a:r>
            <a:r>
              <a:rPr lang="en-US"/>
              <a:t>()</a:t>
            </a:r>
          </a:p>
        </p:txBody>
      </p:sp>
      <p:sp>
        <p:nvSpPr>
          <p:cNvPr id="5" name="TextBox 4">
            <a:extLst>
              <a:ext uri="{FF2B5EF4-FFF2-40B4-BE49-F238E27FC236}">
                <a16:creationId xmlns:a16="http://schemas.microsoft.com/office/drawing/2014/main" id="{49399860-F9A2-6AB0-FB73-CCE50A0019EA}"/>
              </a:ext>
            </a:extLst>
          </p:cNvPr>
          <p:cNvSpPr txBox="1"/>
          <p:nvPr/>
        </p:nvSpPr>
        <p:spPr>
          <a:xfrm>
            <a:off x="5475042" y="1130853"/>
            <a:ext cx="6299200" cy="22467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2000" err="1">
                <a:latin typeface="Consolas" panose="020B0609020204030204" pitchFamily="49" charset="0"/>
              </a:rPr>
              <a:t>main_builder</a:t>
            </a:r>
            <a:r>
              <a:rPr lang="en-US" sz="2000">
                <a:latin typeface="Consolas" panose="020B0609020204030204" pitchFamily="49" charset="0"/>
              </a:rPr>
              <a:t> = </a:t>
            </a:r>
            <a:r>
              <a:rPr lang="en-US" sz="2000" err="1">
                <a:latin typeface="Consolas" panose="020B0609020204030204" pitchFamily="49" charset="0"/>
              </a:rPr>
              <a:t>StateGraph</a:t>
            </a:r>
            <a:r>
              <a:rPr lang="en-US" sz="2000">
                <a:latin typeface="Consolas" panose="020B0609020204030204" pitchFamily="49" charset="0"/>
              </a:rPr>
              <a:t>(State)</a:t>
            </a:r>
          </a:p>
          <a:p>
            <a:pPr>
              <a:buNone/>
            </a:pPr>
            <a:endParaRPr lang="en-US" sz="2000">
              <a:latin typeface="Consolas" panose="020B0609020204030204" pitchFamily="49" charset="0"/>
            </a:endParaRPr>
          </a:p>
          <a:p>
            <a:pPr>
              <a:buNone/>
            </a:pPr>
            <a:r>
              <a:rPr lang="en-US" sz="2000" err="1">
                <a:latin typeface="Consolas" panose="020B0609020204030204" pitchFamily="49" charset="0"/>
              </a:rPr>
              <a:t>main_builder.add_node</a:t>
            </a:r>
            <a:r>
              <a:rPr lang="en-US" sz="2000">
                <a:latin typeface="Consolas" panose="020B0609020204030204" pitchFamily="49" charset="0"/>
              </a:rPr>
              <a:t>("analysis", subgraph)</a:t>
            </a:r>
          </a:p>
          <a:p>
            <a:pPr>
              <a:buNone/>
            </a:pPr>
            <a:endParaRPr lang="en-US" sz="2000">
              <a:latin typeface="Consolas" panose="020B0609020204030204" pitchFamily="49" charset="0"/>
            </a:endParaRPr>
          </a:p>
          <a:p>
            <a:pPr>
              <a:buNone/>
            </a:pPr>
            <a:r>
              <a:rPr lang="en-US" sz="2000" err="1">
                <a:latin typeface="Consolas" panose="020B0609020204030204" pitchFamily="49" charset="0"/>
              </a:rPr>
              <a:t>main_builder.add_edge</a:t>
            </a:r>
            <a:r>
              <a:rPr lang="en-US" sz="2000">
                <a:latin typeface="Consolas" panose="020B0609020204030204" pitchFamily="49" charset="0"/>
              </a:rPr>
              <a:t>(START, "analysis")</a:t>
            </a:r>
          </a:p>
          <a:p>
            <a:pPr>
              <a:buNone/>
            </a:pPr>
            <a:br>
              <a:rPr lang="en-US" sz="2000">
                <a:latin typeface="Consolas" panose="020B0609020204030204" pitchFamily="49" charset="0"/>
              </a:rPr>
            </a:br>
            <a:r>
              <a:rPr lang="en-US" sz="2000" err="1">
                <a:latin typeface="Consolas" panose="020B0609020204030204" pitchFamily="49" charset="0"/>
              </a:rPr>
              <a:t>main_graph</a:t>
            </a:r>
            <a:r>
              <a:rPr lang="en-US" sz="2000">
                <a:latin typeface="Consolas" panose="020B0609020204030204" pitchFamily="49" charset="0"/>
              </a:rPr>
              <a:t> = </a:t>
            </a:r>
            <a:r>
              <a:rPr lang="en-US" sz="2000" err="1">
                <a:latin typeface="Consolas" panose="020B0609020204030204" pitchFamily="49" charset="0"/>
              </a:rPr>
              <a:t>main_builder.compile</a:t>
            </a:r>
            <a:r>
              <a:rPr lang="en-US" sz="2000">
                <a:latin typeface="Consolas" panose="020B0609020204030204" pitchFamily="49" charset="0"/>
              </a:rPr>
              <a:t>()</a:t>
            </a:r>
          </a:p>
        </p:txBody>
      </p:sp>
    </p:spTree>
    <p:extLst>
      <p:ext uri="{BB962C8B-B14F-4D97-AF65-F5344CB8AC3E}">
        <p14:creationId xmlns:p14="http://schemas.microsoft.com/office/powerpoint/2010/main" val="3230241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45D7-1954-72A5-F90F-CADA7B4F0EE0}"/>
              </a:ext>
            </a:extLst>
          </p:cNvPr>
          <p:cNvSpPr>
            <a:spLocks noGrp="1"/>
          </p:cNvSpPr>
          <p:nvPr>
            <p:ph type="title"/>
          </p:nvPr>
        </p:nvSpPr>
        <p:spPr/>
        <p:txBody>
          <a:bodyPr/>
          <a:lstStyle/>
          <a:p>
            <a:r>
              <a:rPr lang="en-US" dirty="0"/>
              <a:t>Subgraph persistence</a:t>
            </a:r>
          </a:p>
        </p:txBody>
      </p:sp>
      <p:sp>
        <p:nvSpPr>
          <p:cNvPr id="3" name="Content Placeholder 2">
            <a:extLst>
              <a:ext uri="{FF2B5EF4-FFF2-40B4-BE49-F238E27FC236}">
                <a16:creationId xmlns:a16="http://schemas.microsoft.com/office/drawing/2014/main" id="{282B82C2-BEBE-673C-3557-1079E802AC75}"/>
              </a:ext>
            </a:extLst>
          </p:cNvPr>
          <p:cNvSpPr>
            <a:spLocks noGrp="1"/>
          </p:cNvSpPr>
          <p:nvPr>
            <p:ph idx="1"/>
          </p:nvPr>
        </p:nvSpPr>
        <p:spPr>
          <a:xfrm>
            <a:off x="240356" y="1130853"/>
            <a:ext cx="11699095" cy="2896202"/>
          </a:xfrm>
        </p:spPr>
        <p:txBody>
          <a:bodyPr>
            <a:noAutofit/>
          </a:bodyPr>
          <a:lstStyle/>
          <a:p>
            <a:r>
              <a:rPr lang="en-US" sz="3200" dirty="0"/>
              <a:t>When you use a subgraph, you need to decide what happens to its internal data between calls</a:t>
            </a:r>
          </a:p>
          <a:p>
            <a:r>
              <a:rPr lang="en-US" sz="3200" dirty="0"/>
              <a:t>Stateful subgraphs </a:t>
            </a:r>
            <a:r>
              <a:rPr lang="en-US" sz="3200" b="1" u="sng" dirty="0">
                <a:solidFill>
                  <a:srgbClr val="FFFF00"/>
                </a:solidFill>
              </a:rPr>
              <a:t>inherit the parent graph’s checkpointer</a:t>
            </a:r>
            <a:r>
              <a:rPr lang="en-US" sz="3200" dirty="0"/>
              <a:t>, which enables </a:t>
            </a:r>
            <a:r>
              <a:rPr lang="en-US" sz="3200" dirty="0">
                <a:solidFill>
                  <a:schemeClr val="accent3">
                    <a:lumMod val="60000"/>
                    <a:lumOff val="40000"/>
                  </a:schemeClr>
                </a:solidFill>
                <a:hlinkClick r:id="rId2">
                  <a:extLst>
                    <a:ext uri="{A12FA001-AC4F-418D-AE19-62706E023703}">
                      <ahyp:hlinkClr xmlns:ahyp="http://schemas.microsoft.com/office/drawing/2018/hyperlinkcolor" val="tx"/>
                    </a:ext>
                  </a:extLst>
                </a:hlinkClick>
              </a:rPr>
              <a:t>interrupts</a:t>
            </a:r>
            <a:r>
              <a:rPr lang="en-US" sz="3200" dirty="0"/>
              <a:t>, </a:t>
            </a:r>
            <a:r>
              <a:rPr lang="en-US" sz="3200" dirty="0">
                <a:solidFill>
                  <a:schemeClr val="accent3">
                    <a:lumMod val="60000"/>
                    <a:lumOff val="40000"/>
                  </a:schemeClr>
                </a:solidFill>
                <a:hlinkClick r:id="rId3">
                  <a:extLst>
                    <a:ext uri="{A12FA001-AC4F-418D-AE19-62706E023703}">
                      <ahyp:hlinkClr xmlns:ahyp="http://schemas.microsoft.com/office/drawing/2018/hyperlinkcolor" val="tx"/>
                    </a:ext>
                  </a:extLst>
                </a:hlinkClick>
              </a:rPr>
              <a:t>durable execution</a:t>
            </a:r>
            <a:r>
              <a:rPr lang="en-US" sz="3200" dirty="0"/>
              <a:t>, and </a:t>
            </a:r>
            <a:r>
              <a:rPr lang="en-US" sz="3200" u="sng" dirty="0">
                <a:solidFill>
                  <a:schemeClr val="accent3">
                    <a:lumMod val="60000"/>
                    <a:lumOff val="40000"/>
                  </a:schemeClr>
                </a:solidFill>
              </a:rPr>
              <a:t>state inspection</a:t>
            </a:r>
            <a:r>
              <a:rPr lang="en-US" sz="3200" dirty="0"/>
              <a:t>. The two stateful modes (per-invocation, per-thread) differ in how long state is retained.</a:t>
            </a:r>
          </a:p>
        </p:txBody>
      </p:sp>
      <p:graphicFrame>
        <p:nvGraphicFramePr>
          <p:cNvPr id="4" name="Table 3">
            <a:extLst>
              <a:ext uri="{FF2B5EF4-FFF2-40B4-BE49-F238E27FC236}">
                <a16:creationId xmlns:a16="http://schemas.microsoft.com/office/drawing/2014/main" id="{73AC3616-E61A-9AA1-0FA4-C41F1C01258C}"/>
              </a:ext>
            </a:extLst>
          </p:cNvPr>
          <p:cNvGraphicFramePr>
            <a:graphicFrameLocks noGrp="1"/>
          </p:cNvGraphicFramePr>
          <p:nvPr>
            <p:extLst>
              <p:ext uri="{D42A27DB-BD31-4B8C-83A1-F6EECF244321}">
                <p14:modId xmlns:p14="http://schemas.microsoft.com/office/powerpoint/2010/main" val="3586540567"/>
              </p:ext>
            </p:extLst>
          </p:nvPr>
        </p:nvGraphicFramePr>
        <p:xfrm>
          <a:off x="542686" y="4082749"/>
          <a:ext cx="11189852" cy="2338896"/>
        </p:xfrm>
        <a:graphic>
          <a:graphicData uri="http://schemas.openxmlformats.org/drawingml/2006/table">
            <a:tbl>
              <a:tblPr firstRow="1">
                <a:tableStyleId>{69C7853C-536D-4A76-A0AE-DD22124D55A5}</a:tableStyleId>
              </a:tblPr>
              <a:tblGrid>
                <a:gridCol w="1713857">
                  <a:extLst>
                    <a:ext uri="{9D8B030D-6E8A-4147-A177-3AD203B41FA5}">
                      <a16:colId xmlns:a16="http://schemas.microsoft.com/office/drawing/2014/main" val="2144202554"/>
                    </a:ext>
                  </a:extLst>
                </a:gridCol>
                <a:gridCol w="1603429">
                  <a:extLst>
                    <a:ext uri="{9D8B030D-6E8A-4147-A177-3AD203B41FA5}">
                      <a16:colId xmlns:a16="http://schemas.microsoft.com/office/drawing/2014/main" val="3149268090"/>
                    </a:ext>
                  </a:extLst>
                </a:gridCol>
                <a:gridCol w="7872566">
                  <a:extLst>
                    <a:ext uri="{9D8B030D-6E8A-4147-A177-3AD203B41FA5}">
                      <a16:colId xmlns:a16="http://schemas.microsoft.com/office/drawing/2014/main" val="2178565692"/>
                    </a:ext>
                  </a:extLst>
                </a:gridCol>
              </a:tblGrid>
              <a:tr h="173621">
                <a:tc>
                  <a:txBody>
                    <a:bodyPr/>
                    <a:lstStyle/>
                    <a:p>
                      <a:pPr algn="l" fontAlgn="ctr">
                        <a:buNone/>
                      </a:pPr>
                      <a:r>
                        <a:rPr lang="en-US" sz="2000" b="0" dirty="0">
                          <a:solidFill>
                            <a:srgbClr val="111827"/>
                          </a:solidFill>
                          <a:effectLst/>
                        </a:rPr>
                        <a:t>Mode</a:t>
                      </a:r>
                    </a:p>
                  </a:txBody>
                  <a:tcPr marL="51324" marR="51324" marT="25662" marB="25662" anchor="ctr"/>
                </a:tc>
                <a:tc>
                  <a:txBody>
                    <a:bodyPr/>
                    <a:lstStyle/>
                    <a:p>
                      <a:pPr algn="l" fontAlgn="ctr">
                        <a:buNone/>
                      </a:pPr>
                      <a:r>
                        <a:rPr lang="en-US" sz="2000" b="0" dirty="0">
                          <a:solidFill>
                            <a:srgbClr val="111827"/>
                          </a:solidFill>
                          <a:effectLst/>
                        </a:rPr>
                        <a:t>checkpointer</a:t>
                      </a:r>
                    </a:p>
                  </a:txBody>
                  <a:tcPr marL="51324" marR="51324" marT="25662" marB="25662" anchor="ctr"/>
                </a:tc>
                <a:tc>
                  <a:txBody>
                    <a:bodyPr/>
                    <a:lstStyle/>
                    <a:p>
                      <a:pPr algn="l" fontAlgn="ctr">
                        <a:buNone/>
                      </a:pPr>
                      <a:r>
                        <a:rPr lang="en-US" sz="2000" b="0" dirty="0">
                          <a:solidFill>
                            <a:srgbClr val="111827"/>
                          </a:solidFill>
                          <a:effectLst/>
                        </a:rPr>
                        <a:t>Behavior</a:t>
                      </a:r>
                    </a:p>
                  </a:txBody>
                  <a:tcPr marL="51324" marR="51324" marT="25662" marB="25662" anchor="ctr"/>
                </a:tc>
                <a:extLst>
                  <a:ext uri="{0D108BD9-81ED-4DB2-BD59-A6C34878D82A}">
                    <a16:rowId xmlns:a16="http://schemas.microsoft.com/office/drawing/2014/main" val="142278698"/>
                  </a:ext>
                </a:extLst>
              </a:tr>
              <a:tr h="609141">
                <a:tc>
                  <a:txBody>
                    <a:bodyPr/>
                    <a:lstStyle/>
                    <a:p>
                      <a:pPr fontAlgn="ctr">
                        <a:buNone/>
                      </a:pPr>
                      <a:r>
                        <a:rPr lang="en-US" sz="2000" b="0" u="none" strike="noStrike">
                          <a:solidFill>
                            <a:srgbClr val="111827"/>
                          </a:solidFill>
                          <a:effectLst/>
                          <a:hlinkClick r:id="rId4"/>
                        </a:rPr>
                        <a:t>Per-invocation</a:t>
                      </a:r>
                      <a:endParaRPr lang="en-US" sz="2000" b="0">
                        <a:effectLst/>
                      </a:endParaRPr>
                    </a:p>
                  </a:txBody>
                  <a:tcPr marL="51324" marR="51324" marT="25662" marB="25662" anchor="ctr"/>
                </a:tc>
                <a:tc>
                  <a:txBody>
                    <a:bodyPr/>
                    <a:lstStyle/>
                    <a:p>
                      <a:pPr fontAlgn="ctr">
                        <a:buNone/>
                      </a:pPr>
                      <a:r>
                        <a:rPr lang="en-US" sz="2000" b="0">
                          <a:solidFill>
                            <a:srgbClr val="111827"/>
                          </a:solidFill>
                          <a:effectLst/>
                        </a:rPr>
                        <a:t>None</a:t>
                      </a:r>
                      <a:r>
                        <a:rPr lang="en-US" sz="2000" b="0">
                          <a:effectLst/>
                        </a:rPr>
                        <a:t> (default)</a:t>
                      </a:r>
                    </a:p>
                  </a:txBody>
                  <a:tcPr marL="51324" marR="51324" marT="25662" marB="25662" anchor="ctr"/>
                </a:tc>
                <a:tc>
                  <a:txBody>
                    <a:bodyPr/>
                    <a:lstStyle/>
                    <a:p>
                      <a:pPr fontAlgn="ctr">
                        <a:buNone/>
                      </a:pPr>
                      <a:r>
                        <a:rPr lang="en-US" sz="2000" b="0" dirty="0">
                          <a:effectLst/>
                        </a:rPr>
                        <a:t>Each call starts fresh and inherits the parent’s checkpointer to support </a:t>
                      </a:r>
                      <a:r>
                        <a:rPr lang="en-US" sz="2000" b="0" u="none" strike="noStrike" dirty="0">
                          <a:solidFill>
                            <a:srgbClr val="111827"/>
                          </a:solidFill>
                          <a:effectLst/>
                          <a:hlinkClick r:id="rId2"/>
                        </a:rPr>
                        <a:t>interrupts</a:t>
                      </a:r>
                      <a:r>
                        <a:rPr lang="en-US" sz="2000" b="0" dirty="0">
                          <a:effectLst/>
                        </a:rPr>
                        <a:t> and </a:t>
                      </a:r>
                      <a:r>
                        <a:rPr lang="en-US" sz="2000" b="0" u="none" strike="noStrike" dirty="0">
                          <a:solidFill>
                            <a:srgbClr val="111827"/>
                          </a:solidFill>
                          <a:effectLst/>
                          <a:hlinkClick r:id="rId3"/>
                        </a:rPr>
                        <a:t>durable execution</a:t>
                      </a:r>
                      <a:r>
                        <a:rPr lang="en-US" sz="2000" b="0" dirty="0">
                          <a:effectLst/>
                        </a:rPr>
                        <a:t> within a single call.</a:t>
                      </a:r>
                    </a:p>
                  </a:txBody>
                  <a:tcPr marL="51324" marR="51324" marT="25662" marB="25662" anchor="ctr"/>
                </a:tc>
                <a:extLst>
                  <a:ext uri="{0D108BD9-81ED-4DB2-BD59-A6C34878D82A}">
                    <a16:rowId xmlns:a16="http://schemas.microsoft.com/office/drawing/2014/main" val="310803285"/>
                  </a:ext>
                </a:extLst>
              </a:tr>
              <a:tr h="460972">
                <a:tc>
                  <a:txBody>
                    <a:bodyPr/>
                    <a:lstStyle/>
                    <a:p>
                      <a:pPr fontAlgn="ctr">
                        <a:buNone/>
                      </a:pPr>
                      <a:r>
                        <a:rPr lang="en-US" sz="2000" b="0" u="none" strike="noStrike">
                          <a:solidFill>
                            <a:srgbClr val="111827"/>
                          </a:solidFill>
                          <a:effectLst/>
                          <a:hlinkClick r:id="rId5"/>
                        </a:rPr>
                        <a:t>Per-thread</a:t>
                      </a:r>
                      <a:endParaRPr lang="en-US" sz="2000" b="0">
                        <a:effectLst/>
                      </a:endParaRPr>
                    </a:p>
                  </a:txBody>
                  <a:tcPr marL="51324" marR="51324" marT="25662" marB="25662" anchor="ctr"/>
                </a:tc>
                <a:tc>
                  <a:txBody>
                    <a:bodyPr/>
                    <a:lstStyle/>
                    <a:p>
                      <a:pPr fontAlgn="ctr">
                        <a:buNone/>
                      </a:pPr>
                      <a:r>
                        <a:rPr lang="en-US" sz="2000" b="0">
                          <a:solidFill>
                            <a:srgbClr val="111827"/>
                          </a:solidFill>
                          <a:effectLst/>
                        </a:rPr>
                        <a:t>True</a:t>
                      </a:r>
                      <a:endParaRPr lang="en-US" sz="2000" b="0">
                        <a:effectLst/>
                      </a:endParaRPr>
                    </a:p>
                  </a:txBody>
                  <a:tcPr marL="51324" marR="51324" marT="25662" marB="25662" anchor="ctr"/>
                </a:tc>
                <a:tc>
                  <a:txBody>
                    <a:bodyPr/>
                    <a:lstStyle/>
                    <a:p>
                      <a:pPr fontAlgn="ctr">
                        <a:buNone/>
                      </a:pPr>
                      <a:r>
                        <a:rPr lang="en-US" sz="2000" b="0">
                          <a:effectLst/>
                        </a:rPr>
                        <a:t>State accumulates across calls on the same thread. Each call picks up where the last one left off.</a:t>
                      </a:r>
                    </a:p>
                  </a:txBody>
                  <a:tcPr marL="51324" marR="51324" marT="25662" marB="25662" anchor="ctr"/>
                </a:tc>
                <a:extLst>
                  <a:ext uri="{0D108BD9-81ED-4DB2-BD59-A6C34878D82A}">
                    <a16:rowId xmlns:a16="http://schemas.microsoft.com/office/drawing/2014/main" val="3773975192"/>
                  </a:ext>
                </a:extLst>
              </a:tr>
              <a:tr h="460972">
                <a:tc>
                  <a:txBody>
                    <a:bodyPr/>
                    <a:lstStyle/>
                    <a:p>
                      <a:pPr fontAlgn="ctr">
                        <a:buNone/>
                      </a:pPr>
                      <a:r>
                        <a:rPr lang="en-US" sz="2000" b="0" u="none" strike="noStrike">
                          <a:solidFill>
                            <a:srgbClr val="111827"/>
                          </a:solidFill>
                          <a:effectLst/>
                          <a:hlinkClick r:id="rId6"/>
                        </a:rPr>
                        <a:t>Stateless</a:t>
                      </a:r>
                      <a:endParaRPr lang="en-US" sz="2000" b="0">
                        <a:effectLst/>
                      </a:endParaRPr>
                    </a:p>
                  </a:txBody>
                  <a:tcPr marL="51324" marR="51324" marT="25662" marB="25662" anchor="ctr"/>
                </a:tc>
                <a:tc>
                  <a:txBody>
                    <a:bodyPr/>
                    <a:lstStyle/>
                    <a:p>
                      <a:pPr fontAlgn="ctr">
                        <a:buNone/>
                      </a:pPr>
                      <a:r>
                        <a:rPr lang="en-US" sz="2000" b="0">
                          <a:solidFill>
                            <a:srgbClr val="111827"/>
                          </a:solidFill>
                          <a:effectLst/>
                        </a:rPr>
                        <a:t>False</a:t>
                      </a:r>
                      <a:endParaRPr lang="en-US" sz="2000" b="0">
                        <a:effectLst/>
                      </a:endParaRPr>
                    </a:p>
                  </a:txBody>
                  <a:tcPr marL="51324" marR="51324" marT="25662" marB="25662" anchor="ctr"/>
                </a:tc>
                <a:tc>
                  <a:txBody>
                    <a:bodyPr/>
                    <a:lstStyle/>
                    <a:p>
                      <a:pPr fontAlgn="ctr">
                        <a:buNone/>
                      </a:pPr>
                      <a:r>
                        <a:rPr lang="en-US" sz="2000" b="0" dirty="0">
                          <a:effectLst/>
                        </a:rPr>
                        <a:t>No checkpointing at all—runs like a plain function call. No interrupts or durable execution.</a:t>
                      </a:r>
                    </a:p>
                  </a:txBody>
                  <a:tcPr marL="51324" marR="51324" marT="25662" marB="25662" anchor="ctr"/>
                </a:tc>
                <a:extLst>
                  <a:ext uri="{0D108BD9-81ED-4DB2-BD59-A6C34878D82A}">
                    <a16:rowId xmlns:a16="http://schemas.microsoft.com/office/drawing/2014/main" val="2902144333"/>
                  </a:ext>
                </a:extLst>
              </a:tr>
            </a:tbl>
          </a:graphicData>
        </a:graphic>
      </p:graphicFrame>
    </p:spTree>
    <p:extLst>
      <p:ext uri="{BB962C8B-B14F-4D97-AF65-F5344CB8AC3E}">
        <p14:creationId xmlns:p14="http://schemas.microsoft.com/office/powerpoint/2010/main" val="300399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4F9F1-074A-FCCC-2EB4-D4F5942455D6}"/>
              </a:ext>
            </a:extLst>
          </p:cNvPr>
          <p:cNvSpPr>
            <a:spLocks noGrp="1"/>
          </p:cNvSpPr>
          <p:nvPr>
            <p:ph type="title"/>
          </p:nvPr>
        </p:nvSpPr>
        <p:spPr/>
        <p:txBody>
          <a:bodyPr/>
          <a:lstStyle/>
          <a:p>
            <a:r>
              <a:rPr lang="en-US" dirty="0"/>
              <a:t>Checkpointer inheritance</a:t>
            </a:r>
          </a:p>
        </p:txBody>
      </p:sp>
      <p:sp>
        <p:nvSpPr>
          <p:cNvPr id="3" name="Content Placeholder 2">
            <a:extLst>
              <a:ext uri="{FF2B5EF4-FFF2-40B4-BE49-F238E27FC236}">
                <a16:creationId xmlns:a16="http://schemas.microsoft.com/office/drawing/2014/main" id="{52C1ADFF-AE43-07CF-174E-EA6DA93B8CDD}"/>
              </a:ext>
            </a:extLst>
          </p:cNvPr>
          <p:cNvSpPr>
            <a:spLocks noGrp="1"/>
          </p:cNvSpPr>
          <p:nvPr>
            <p:ph idx="1"/>
          </p:nvPr>
        </p:nvSpPr>
        <p:spPr/>
        <p:txBody>
          <a:bodyPr/>
          <a:lstStyle/>
          <a:p>
            <a:r>
              <a:rPr lang="en-US" dirty="0"/>
              <a:t>Checkpointer inheritance gives the subgraph three important capabilities:</a:t>
            </a:r>
          </a:p>
          <a:p>
            <a:r>
              <a:rPr lang="en-US" b="1" dirty="0"/>
              <a:t>Interrupts</a:t>
            </a:r>
            <a:r>
              <a:rPr lang="en-US" dirty="0"/>
              <a:t> – a subgraph can call interrupt() and pause execution, then resume later from saved state. This only works when checkpointing is present.</a:t>
            </a:r>
          </a:p>
          <a:p>
            <a:r>
              <a:rPr lang="en-US" b="1" dirty="0"/>
              <a:t>Durable execution</a:t>
            </a:r>
            <a:r>
              <a:rPr lang="en-US" dirty="0"/>
              <a:t> – if execution stops or fails, LangGraph can resume from the last saved checkpoint instead of rerunning everything from scratch.</a:t>
            </a:r>
          </a:p>
          <a:p>
            <a:r>
              <a:rPr lang="en-US" b="1" dirty="0"/>
              <a:t>State inspection</a:t>
            </a:r>
            <a:r>
              <a:rPr lang="en-US" dirty="0"/>
              <a:t> – you can inspect saved subgraph state using APIs such as </a:t>
            </a:r>
            <a:r>
              <a:rPr lang="en-US" dirty="0" err="1"/>
              <a:t>get_state</a:t>
            </a:r>
            <a:r>
              <a:rPr lang="en-US" dirty="0"/>
              <a:t>(..., subgraphs=True).</a:t>
            </a:r>
          </a:p>
          <a:p>
            <a:endParaRPr lang="en-US" dirty="0"/>
          </a:p>
          <a:p>
            <a:endParaRPr lang="en-US" dirty="0"/>
          </a:p>
        </p:txBody>
      </p:sp>
    </p:spTree>
    <p:extLst>
      <p:ext uri="{BB962C8B-B14F-4D97-AF65-F5344CB8AC3E}">
        <p14:creationId xmlns:p14="http://schemas.microsoft.com/office/powerpoint/2010/main" val="1922281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9AF7E-F52E-7091-D50A-D49FD940902F}"/>
              </a:ext>
            </a:extLst>
          </p:cNvPr>
          <p:cNvSpPr>
            <a:spLocks noGrp="1"/>
          </p:cNvSpPr>
          <p:nvPr>
            <p:ph type="title"/>
          </p:nvPr>
        </p:nvSpPr>
        <p:spPr/>
        <p:txBody>
          <a:bodyPr/>
          <a:lstStyle/>
          <a:p>
            <a:r>
              <a:rPr lang="en-US" dirty="0"/>
              <a:t>Subgraph persistence </a:t>
            </a:r>
          </a:p>
        </p:txBody>
      </p:sp>
      <p:sp>
        <p:nvSpPr>
          <p:cNvPr id="3" name="Content Placeholder 2">
            <a:extLst>
              <a:ext uri="{FF2B5EF4-FFF2-40B4-BE49-F238E27FC236}">
                <a16:creationId xmlns:a16="http://schemas.microsoft.com/office/drawing/2014/main" id="{B60492F2-F73C-F2EB-58E1-3C1CCDB810D5}"/>
              </a:ext>
            </a:extLst>
          </p:cNvPr>
          <p:cNvSpPr>
            <a:spLocks noGrp="1"/>
          </p:cNvSpPr>
          <p:nvPr>
            <p:ph idx="1"/>
          </p:nvPr>
        </p:nvSpPr>
        <p:spPr>
          <a:xfrm>
            <a:off x="288064" y="935407"/>
            <a:ext cx="11699095" cy="5684053"/>
          </a:xfrm>
        </p:spPr>
        <p:txBody>
          <a:bodyPr>
            <a:noAutofit/>
          </a:bodyPr>
          <a:lstStyle/>
          <a:p>
            <a:r>
              <a:rPr lang="en-US" sz="2800" b="1" dirty="0"/>
              <a:t>Per-invocation (default)</a:t>
            </a:r>
          </a:p>
          <a:p>
            <a:pPr lvl="1"/>
            <a:r>
              <a:rPr lang="en-US" sz="2800" dirty="0"/>
              <a:t>Used when each call to the subgraph is independent and the subagent doesn’t need to remember anything from previous calls. </a:t>
            </a:r>
          </a:p>
          <a:p>
            <a:pPr lvl="1"/>
            <a:r>
              <a:rPr lang="en-US" sz="2800" dirty="0"/>
              <a:t>Most common pattern, where subagents handle requests like “look up this customer’s order” or “summarize this document.”</a:t>
            </a:r>
          </a:p>
          <a:p>
            <a:pPr lvl="1"/>
            <a:r>
              <a:rPr lang="en-US" dirty="0"/>
              <a:t>Safer support for </a:t>
            </a:r>
            <a:r>
              <a:rPr lang="en-US" b="1" dirty="0"/>
              <a:t>parallel calls</a:t>
            </a:r>
            <a:r>
              <a:rPr lang="en-US" dirty="0"/>
              <a:t>, because each invocation gets its own checkpoint namespace and isolated state.</a:t>
            </a:r>
            <a:endParaRPr lang="en-US" sz="2800" dirty="0"/>
          </a:p>
          <a:p>
            <a:r>
              <a:rPr lang="en-US" sz="2800" b="1" dirty="0"/>
              <a:t>Per-thread (same thread id)</a:t>
            </a:r>
          </a:p>
          <a:p>
            <a:pPr lvl="1"/>
            <a:r>
              <a:rPr lang="en-US" sz="2800" dirty="0"/>
              <a:t>Used when a subagent needs to remember previous interactions. </a:t>
            </a:r>
          </a:p>
          <a:p>
            <a:pPr lvl="1"/>
            <a:r>
              <a:rPr lang="en-US" sz="2800" dirty="0"/>
              <a:t>For example, a research assistant that builds up context over several exchanges, or a coding assistant that tracks what files it has already edited. </a:t>
            </a:r>
          </a:p>
          <a:p>
            <a:pPr lvl="1"/>
            <a:r>
              <a:rPr lang="en-US" sz="2800" dirty="0"/>
              <a:t>The subagent’s conversation history and data accumulate across calls on the same thread. Each call picks up where the last one left off.</a:t>
            </a:r>
          </a:p>
        </p:txBody>
      </p:sp>
    </p:spTree>
    <p:extLst>
      <p:ext uri="{BB962C8B-B14F-4D97-AF65-F5344CB8AC3E}">
        <p14:creationId xmlns:p14="http://schemas.microsoft.com/office/powerpoint/2010/main" val="400761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1D99BA8-BA91-F027-8ED5-1A59CA0D11F2}"/>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8CED2307-F79F-42F9-B81B-91F768E72B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5DB38FF-CE38-4D82-B9F2-DFE28A019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A83E24CA-3560-4B77-9F4B-793BE2A6D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 useBgFill="1">
        <p:nvSpPr>
          <p:cNvPr id="23" name="Rectangle 22">
            <a:extLst>
              <a:ext uri="{FF2B5EF4-FFF2-40B4-BE49-F238E27FC236}">
                <a16:creationId xmlns:a16="http://schemas.microsoft.com/office/drawing/2014/main" id="{36A995F0-906C-4573-A739-16EED217D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9343" y="620720"/>
            <a:ext cx="6442480" cy="55931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E75B6DE-617B-8635-E76A-42BBB692306F}"/>
              </a:ext>
            </a:extLst>
          </p:cNvPr>
          <p:cNvSpPr>
            <a:spLocks noGrp="1"/>
          </p:cNvSpPr>
          <p:nvPr>
            <p:ph type="title"/>
          </p:nvPr>
        </p:nvSpPr>
        <p:spPr>
          <a:xfrm>
            <a:off x="5590120" y="1105351"/>
            <a:ext cx="5477071" cy="3023981"/>
          </a:xfrm>
        </p:spPr>
        <p:txBody>
          <a:bodyPr vert="horz" lIns="91440" tIns="45720" rIns="91440" bIns="45720" rtlCol="0" anchor="b">
            <a:normAutofit/>
          </a:bodyPr>
          <a:lstStyle/>
          <a:p>
            <a:pPr algn="l"/>
            <a:r>
              <a:rPr lang="en-US" sz="4400" dirty="0">
                <a:solidFill>
                  <a:schemeClr val="tx1"/>
                </a:solidFill>
              </a:rPr>
              <a:t>DEMO (Subgraphs)</a:t>
            </a:r>
          </a:p>
        </p:txBody>
      </p:sp>
      <p:cxnSp>
        <p:nvCxnSpPr>
          <p:cNvPr id="25" name="Straight Connector 24">
            <a:extLst>
              <a:ext uri="{FF2B5EF4-FFF2-40B4-BE49-F238E27FC236}">
                <a16:creationId xmlns:a16="http://schemas.microsoft.com/office/drawing/2014/main" id="{C3F5F06D-7250-43A5-9B61-0B7F1FD7E3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09960" y="4214336"/>
            <a:ext cx="51206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69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320F47-D854-D1E5-DE56-4E615A411440}"/>
              </a:ext>
            </a:extLst>
          </p:cNvPr>
          <p:cNvSpPr>
            <a:spLocks noGrp="1"/>
          </p:cNvSpPr>
          <p:nvPr>
            <p:ph type="title"/>
          </p:nvPr>
        </p:nvSpPr>
        <p:spPr/>
        <p:txBody>
          <a:bodyPr/>
          <a:lstStyle/>
          <a:p>
            <a:r>
              <a:rPr lang="en-US" dirty="0" err="1"/>
              <a:t>Langgraph</a:t>
            </a:r>
            <a:r>
              <a:rPr lang="en-US" dirty="0"/>
              <a:t> streaming</a:t>
            </a:r>
          </a:p>
        </p:txBody>
      </p:sp>
      <p:sp>
        <p:nvSpPr>
          <p:cNvPr id="6" name="Content Placeholder 5">
            <a:extLst>
              <a:ext uri="{FF2B5EF4-FFF2-40B4-BE49-F238E27FC236}">
                <a16:creationId xmlns:a16="http://schemas.microsoft.com/office/drawing/2014/main" id="{C6E94537-C022-14D4-8534-AF304CF7643A}"/>
              </a:ext>
            </a:extLst>
          </p:cNvPr>
          <p:cNvSpPr>
            <a:spLocks noGrp="1"/>
          </p:cNvSpPr>
          <p:nvPr>
            <p:ph idx="1"/>
          </p:nvPr>
        </p:nvSpPr>
        <p:spPr/>
        <p:txBody>
          <a:bodyPr>
            <a:normAutofit/>
          </a:bodyPr>
          <a:lstStyle/>
          <a:p>
            <a:r>
              <a:rPr lang="en-US" sz="3200" dirty="0"/>
              <a:t>Delivering partial execution results in real time while the graph is still running</a:t>
            </a:r>
          </a:p>
          <a:p>
            <a:pPr fontAlgn="t"/>
            <a:r>
              <a:rPr lang="en-US" sz="3200" dirty="0"/>
              <a:t>Every compiled graph exposes two methods:</a:t>
            </a:r>
          </a:p>
          <a:p>
            <a:pPr lvl="1" fontAlgn="t"/>
            <a:r>
              <a:rPr lang="en-US" sz="3200" b="1" dirty="0" err="1"/>
              <a:t>graph.stream</a:t>
            </a:r>
            <a:r>
              <a:rPr lang="en-US" sz="3200" b="1" dirty="0"/>
              <a:t>(...)</a:t>
            </a:r>
            <a:r>
              <a:rPr lang="en-US" sz="3200" dirty="0"/>
              <a:t> → synchronous streaming</a:t>
            </a:r>
          </a:p>
          <a:p>
            <a:pPr lvl="1" fontAlgn="t"/>
            <a:r>
              <a:rPr lang="en-US" sz="3200" b="1" dirty="0" err="1"/>
              <a:t>graph.astream</a:t>
            </a:r>
            <a:r>
              <a:rPr lang="en-US" sz="3200" b="1" dirty="0"/>
              <a:t>(...)</a:t>
            </a:r>
            <a:r>
              <a:rPr lang="en-US" sz="3200" dirty="0"/>
              <a:t> → asynchronous streaming</a:t>
            </a:r>
          </a:p>
          <a:p>
            <a:r>
              <a:rPr lang="en-US" sz="3200" dirty="0"/>
              <a:t>Both functions return an </a:t>
            </a:r>
            <a:r>
              <a:rPr lang="en-US" sz="3200" b="1" dirty="0"/>
              <a:t>iterator of events</a:t>
            </a:r>
            <a:r>
              <a:rPr lang="en-US" sz="3200" dirty="0"/>
              <a:t> that you read in a loop as the graph executes.</a:t>
            </a:r>
          </a:p>
          <a:p>
            <a:r>
              <a:rPr lang="en-US" sz="3200" dirty="0"/>
              <a:t>The output you receive depends on the </a:t>
            </a:r>
            <a:r>
              <a:rPr lang="en-US" sz="3200" b="1" dirty="0"/>
              <a:t>stream mode(s)</a:t>
            </a:r>
            <a:r>
              <a:rPr lang="en-US" sz="3200" dirty="0"/>
              <a:t> you pass in </a:t>
            </a:r>
            <a:r>
              <a:rPr lang="en-US" sz="3200" dirty="0" err="1"/>
              <a:t>stream_mode</a:t>
            </a:r>
            <a:r>
              <a:rPr lang="en-US" sz="3200" dirty="0"/>
              <a:t>.  LangGraph supports several types, each designed for a different purpose.</a:t>
            </a:r>
          </a:p>
          <a:p>
            <a:endParaRPr lang="en-US" sz="3200" dirty="0"/>
          </a:p>
          <a:p>
            <a:endParaRPr lang="en-US" sz="3200" dirty="0"/>
          </a:p>
        </p:txBody>
      </p:sp>
    </p:spTree>
    <p:extLst>
      <p:ext uri="{BB962C8B-B14F-4D97-AF65-F5344CB8AC3E}">
        <p14:creationId xmlns:p14="http://schemas.microsoft.com/office/powerpoint/2010/main" val="29874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0CDAE-9303-6789-C1BD-CF656783F36C}"/>
              </a:ext>
            </a:extLst>
          </p:cNvPr>
          <p:cNvSpPr>
            <a:spLocks noGrp="1"/>
          </p:cNvSpPr>
          <p:nvPr>
            <p:ph type="title"/>
          </p:nvPr>
        </p:nvSpPr>
        <p:spPr/>
        <p:txBody>
          <a:bodyPr/>
          <a:lstStyle/>
          <a:p>
            <a:r>
              <a:rPr lang="en-US" dirty="0" err="1"/>
              <a:t>Stream_mode</a:t>
            </a:r>
            <a:r>
              <a:rPr lang="en-US" dirty="0"/>
              <a:t>="</a:t>
            </a:r>
            <a:r>
              <a:rPr lang="en-US" dirty="0">
                <a:solidFill>
                  <a:srgbClr val="FFFF00"/>
                </a:solidFill>
              </a:rPr>
              <a:t>updates</a:t>
            </a:r>
            <a:r>
              <a:rPr lang="en-US" dirty="0"/>
              <a:t>"</a:t>
            </a:r>
          </a:p>
        </p:txBody>
      </p:sp>
      <p:sp>
        <p:nvSpPr>
          <p:cNvPr id="3" name="Content Placeholder 2">
            <a:extLst>
              <a:ext uri="{FF2B5EF4-FFF2-40B4-BE49-F238E27FC236}">
                <a16:creationId xmlns:a16="http://schemas.microsoft.com/office/drawing/2014/main" id="{A3A09582-9916-2AE8-FF1C-8AE2696B3CC8}"/>
              </a:ext>
            </a:extLst>
          </p:cNvPr>
          <p:cNvSpPr>
            <a:spLocks noGrp="1"/>
          </p:cNvSpPr>
          <p:nvPr>
            <p:ph idx="1"/>
          </p:nvPr>
        </p:nvSpPr>
        <p:spPr>
          <a:xfrm>
            <a:off x="288064" y="934910"/>
            <a:ext cx="11699095" cy="4028976"/>
          </a:xfrm>
        </p:spPr>
        <p:txBody>
          <a:bodyPr>
            <a:noAutofit/>
          </a:bodyPr>
          <a:lstStyle/>
          <a:p>
            <a:r>
              <a:rPr lang="en-US" sz="3200" dirty="0"/>
              <a:t>This mode emits </a:t>
            </a:r>
            <a:r>
              <a:rPr lang="en-US" sz="3200" b="1" dirty="0"/>
              <a:t>state updates after each graph step</a:t>
            </a:r>
            <a:r>
              <a:rPr lang="en-US" sz="3200" dirty="0"/>
              <a:t>. Each time a node executes and modifies the graph’s state, a new event appears.</a:t>
            </a:r>
          </a:p>
          <a:p>
            <a:pPr fontAlgn="t"/>
            <a:r>
              <a:rPr lang="en-US" sz="3200" dirty="0"/>
              <a:t>Example sequence for a tool‑calling agent:</a:t>
            </a:r>
          </a:p>
          <a:p>
            <a:pPr lvl="1" fontAlgn="t"/>
            <a:r>
              <a:rPr lang="en-US" sz="3200" dirty="0"/>
              <a:t>LLM creates tool call | Tool node returns the tool result | LLM creates final result</a:t>
            </a:r>
          </a:p>
          <a:p>
            <a:pPr fontAlgn="t"/>
            <a:r>
              <a:rPr lang="en-US" sz="3200" dirty="0"/>
              <a:t>Each of these steps is streamed individually so progress becomes visible.</a:t>
            </a:r>
          </a:p>
          <a:p>
            <a:endParaRPr lang="en-US" sz="3200" dirty="0"/>
          </a:p>
          <a:p>
            <a:pPr lvl="1"/>
            <a:endParaRPr lang="en-US" sz="3200" dirty="0"/>
          </a:p>
        </p:txBody>
      </p:sp>
      <p:sp>
        <p:nvSpPr>
          <p:cNvPr id="5" name="TextBox 4">
            <a:extLst>
              <a:ext uri="{FF2B5EF4-FFF2-40B4-BE49-F238E27FC236}">
                <a16:creationId xmlns:a16="http://schemas.microsoft.com/office/drawing/2014/main" id="{F04E8460-B497-9818-7B35-40D1ECE88023}"/>
              </a:ext>
            </a:extLst>
          </p:cNvPr>
          <p:cNvSpPr txBox="1"/>
          <p:nvPr/>
        </p:nvSpPr>
        <p:spPr>
          <a:xfrm>
            <a:off x="288064" y="5045927"/>
            <a:ext cx="11824974"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en-US" sz="3600" dirty="0"/>
              <a:t>for chunk in </a:t>
            </a:r>
            <a:r>
              <a:rPr lang="en-US" sz="3600" dirty="0" err="1"/>
              <a:t>graph.stream</a:t>
            </a:r>
            <a:r>
              <a:rPr lang="en-US" sz="3600" dirty="0"/>
              <a:t>(inputs, </a:t>
            </a:r>
            <a:r>
              <a:rPr lang="en-US" sz="3600" dirty="0" err="1"/>
              <a:t>stream_mode</a:t>
            </a:r>
            <a:r>
              <a:rPr lang="en-US" sz="3600" dirty="0"/>
              <a:t>="updates", 																	version="v2"):</a:t>
            </a:r>
          </a:p>
          <a:p>
            <a:pPr>
              <a:buNone/>
            </a:pPr>
            <a:r>
              <a:rPr lang="en-US" sz="3600" dirty="0"/>
              <a:t>    print(chunk)</a:t>
            </a:r>
          </a:p>
        </p:txBody>
      </p:sp>
    </p:spTree>
    <p:extLst>
      <p:ext uri="{BB962C8B-B14F-4D97-AF65-F5344CB8AC3E}">
        <p14:creationId xmlns:p14="http://schemas.microsoft.com/office/powerpoint/2010/main" val="1089820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8F387-4004-3C4E-6B67-371DE0DCFA61}"/>
              </a:ext>
            </a:extLst>
          </p:cNvPr>
          <p:cNvSpPr>
            <a:spLocks noGrp="1"/>
          </p:cNvSpPr>
          <p:nvPr>
            <p:ph type="title"/>
          </p:nvPr>
        </p:nvSpPr>
        <p:spPr/>
        <p:txBody>
          <a:bodyPr/>
          <a:lstStyle/>
          <a:p>
            <a:r>
              <a:rPr lang="en-US" dirty="0" err="1"/>
              <a:t>Stream_mode</a:t>
            </a:r>
            <a:r>
              <a:rPr lang="en-US" dirty="0"/>
              <a:t>=“</a:t>
            </a:r>
            <a:r>
              <a:rPr lang="en-US" dirty="0">
                <a:solidFill>
                  <a:srgbClr val="FFFF00"/>
                </a:solidFill>
              </a:rPr>
              <a:t>messages</a:t>
            </a:r>
            <a:r>
              <a:rPr lang="en-US" dirty="0"/>
              <a:t>"</a:t>
            </a:r>
          </a:p>
        </p:txBody>
      </p:sp>
      <p:sp>
        <p:nvSpPr>
          <p:cNvPr id="3" name="Content Placeholder 2">
            <a:extLst>
              <a:ext uri="{FF2B5EF4-FFF2-40B4-BE49-F238E27FC236}">
                <a16:creationId xmlns:a16="http://schemas.microsoft.com/office/drawing/2014/main" id="{5BE2FCF1-5F65-87E1-C26B-14D9A5C1998A}"/>
              </a:ext>
            </a:extLst>
          </p:cNvPr>
          <p:cNvSpPr>
            <a:spLocks noGrp="1"/>
          </p:cNvSpPr>
          <p:nvPr>
            <p:ph idx="1"/>
          </p:nvPr>
        </p:nvSpPr>
        <p:spPr>
          <a:xfrm>
            <a:off x="240356" y="1130853"/>
            <a:ext cx="11699095" cy="2164550"/>
          </a:xfrm>
        </p:spPr>
        <p:txBody>
          <a:bodyPr>
            <a:normAutofit/>
          </a:bodyPr>
          <a:lstStyle/>
          <a:p>
            <a:r>
              <a:rPr lang="en-US" sz="3200" dirty="0"/>
              <a:t>This mode streams </a:t>
            </a:r>
            <a:r>
              <a:rPr lang="en-US" sz="3200" b="1" dirty="0"/>
              <a:t>tokens generated by language models</a:t>
            </a:r>
            <a:r>
              <a:rPr lang="en-US" sz="3200" dirty="0"/>
              <a:t> as they are produced.</a:t>
            </a:r>
          </a:p>
          <a:p>
            <a:r>
              <a:rPr lang="en-US" sz="3200" dirty="0"/>
              <a:t>Instead of waiting for a full LLM response, tokens arrive incrementally.  Used for building responsive interfaces</a:t>
            </a:r>
          </a:p>
        </p:txBody>
      </p:sp>
      <p:sp>
        <p:nvSpPr>
          <p:cNvPr id="4" name="Title 1">
            <a:extLst>
              <a:ext uri="{FF2B5EF4-FFF2-40B4-BE49-F238E27FC236}">
                <a16:creationId xmlns:a16="http://schemas.microsoft.com/office/drawing/2014/main" id="{8CA33CBA-6C23-B3C2-4251-80FC51FE148D}"/>
              </a:ext>
            </a:extLst>
          </p:cNvPr>
          <p:cNvSpPr txBox="1">
            <a:spLocks/>
          </p:cNvSpPr>
          <p:nvPr/>
        </p:nvSpPr>
        <p:spPr>
          <a:xfrm>
            <a:off x="322645" y="3429000"/>
            <a:ext cx="11534516" cy="762729"/>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dirty="0" err="1"/>
              <a:t>Stream_mode</a:t>
            </a:r>
            <a:r>
              <a:rPr lang="en-US" dirty="0"/>
              <a:t>=“</a:t>
            </a:r>
            <a:r>
              <a:rPr lang="en-US" dirty="0">
                <a:solidFill>
                  <a:srgbClr val="FFFF00"/>
                </a:solidFill>
              </a:rPr>
              <a:t>Custom</a:t>
            </a:r>
            <a:r>
              <a:rPr lang="en-US" dirty="0"/>
              <a:t>"</a:t>
            </a:r>
          </a:p>
        </p:txBody>
      </p:sp>
      <p:sp>
        <p:nvSpPr>
          <p:cNvPr id="5" name="Content Placeholder 2">
            <a:extLst>
              <a:ext uri="{FF2B5EF4-FFF2-40B4-BE49-F238E27FC236}">
                <a16:creationId xmlns:a16="http://schemas.microsoft.com/office/drawing/2014/main" id="{EBFF6551-9CCA-68AB-33F2-06DCCFE94E6D}"/>
              </a:ext>
            </a:extLst>
          </p:cNvPr>
          <p:cNvSpPr txBox="1">
            <a:spLocks/>
          </p:cNvSpPr>
          <p:nvPr/>
        </p:nvSpPr>
        <p:spPr>
          <a:xfrm>
            <a:off x="205775" y="4240209"/>
            <a:ext cx="11699095" cy="2164550"/>
          </a:xfrm>
          <a:prstGeom prst="rect">
            <a:avLst/>
          </a:prstGeom>
        </p:spPr>
        <p:txBody>
          <a:bodyPr vert="horz" lIns="45720" tIns="45720" rIns="45720" bIns="45720" rtlCol="0">
            <a:normAutofit/>
          </a:bodyPr>
          <a:lstStyle>
            <a:lvl1pPr marL="230188" indent="-230188" algn="l" defTabSz="914400" rtl="0" eaLnBrk="1" latinLnBrk="0" hangingPunct="1">
              <a:lnSpc>
                <a:spcPct val="90000"/>
              </a:lnSpc>
              <a:spcBef>
                <a:spcPts val="1200"/>
              </a:spcBef>
              <a:spcAft>
                <a:spcPts val="200"/>
              </a:spcAft>
              <a:buClr>
                <a:schemeClr val="accent2"/>
              </a:buClr>
              <a:buSzPct val="100000"/>
              <a:buFont typeface="Wingdings" panose="05000000000000000000" pitchFamily="2" charset="2"/>
              <a:buChar char="§"/>
              <a:defRPr sz="2400" kern="1200">
                <a:solidFill>
                  <a:schemeClr val="tx1"/>
                </a:solidFill>
                <a:latin typeface="+mn-lt"/>
                <a:ea typeface="+mn-ea"/>
                <a:cs typeface="+mn-cs"/>
              </a:defRPr>
            </a:lvl1pPr>
            <a:lvl2pPr marL="344488" indent="-171450" algn="l" defTabSz="914400" rtl="0" eaLnBrk="1" latinLnBrk="0" hangingPunct="1">
              <a:lnSpc>
                <a:spcPct val="90000"/>
              </a:lnSpc>
              <a:spcBef>
                <a:spcPts val="200"/>
              </a:spcBef>
              <a:spcAft>
                <a:spcPts val="400"/>
              </a:spcAft>
              <a:buClr>
                <a:schemeClr val="accent2"/>
              </a:buClr>
              <a:buFont typeface="Wingdings 3" pitchFamily="18" charset="2"/>
              <a:buChar char=""/>
              <a:defRPr sz="2400" kern="1200">
                <a:solidFill>
                  <a:schemeClr val="tx1"/>
                </a:solidFill>
                <a:latin typeface="+mn-lt"/>
                <a:ea typeface="+mn-ea"/>
                <a:cs typeface="+mn-cs"/>
              </a:defRPr>
            </a:lvl2pPr>
            <a:lvl3pPr marL="515938" indent="-193675" algn="l" defTabSz="914400" rtl="0" eaLnBrk="1" latinLnBrk="0" hangingPunct="1">
              <a:lnSpc>
                <a:spcPct val="90000"/>
              </a:lnSpc>
              <a:spcBef>
                <a:spcPts val="200"/>
              </a:spcBef>
              <a:spcAft>
                <a:spcPts val="400"/>
              </a:spcAft>
              <a:buClr>
                <a:schemeClr val="accent2"/>
              </a:buClr>
              <a:buFont typeface="Wingdings 3" pitchFamily="18" charset="2"/>
              <a:buChar char=""/>
              <a:defRPr sz="2200" kern="1200">
                <a:solidFill>
                  <a:schemeClr val="tx1"/>
                </a:solidFill>
                <a:latin typeface="+mn-lt"/>
                <a:ea typeface="+mn-ea"/>
                <a:cs typeface="+mn-cs"/>
              </a:defRPr>
            </a:lvl3pPr>
            <a:lvl4pPr marL="628650" indent="-171450" algn="l" defTabSz="914400" rtl="0" eaLnBrk="1" latinLnBrk="0" hangingPunct="1">
              <a:lnSpc>
                <a:spcPct val="90000"/>
              </a:lnSpc>
              <a:spcBef>
                <a:spcPts val="200"/>
              </a:spcBef>
              <a:spcAft>
                <a:spcPts val="400"/>
              </a:spcAft>
              <a:buClr>
                <a:schemeClr val="accent2"/>
              </a:buClr>
              <a:buFont typeface="Wingdings 3" pitchFamily="18" charset="2"/>
              <a:buChar char=""/>
              <a:defRPr sz="2000" kern="1200">
                <a:solidFill>
                  <a:schemeClr val="tx1"/>
                </a:solidFill>
                <a:latin typeface="+mn-lt"/>
                <a:ea typeface="+mn-ea"/>
                <a:cs typeface="+mn-cs"/>
              </a:defRPr>
            </a:lvl4pPr>
            <a:lvl5pPr marL="801688" indent="-161925" algn="l" defTabSz="914400" rtl="0" eaLnBrk="1" latinLnBrk="0" hangingPunct="1">
              <a:lnSpc>
                <a:spcPct val="90000"/>
              </a:lnSpc>
              <a:spcBef>
                <a:spcPts val="200"/>
              </a:spcBef>
              <a:spcAft>
                <a:spcPts val="400"/>
              </a:spcAft>
              <a:buClr>
                <a:schemeClr val="accent2"/>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r>
              <a:rPr lang="en-US" sz="3200" dirty="0"/>
              <a:t>Nodes inside your graph can emit arbitrary user‑defined streaming events.</a:t>
            </a:r>
          </a:p>
          <a:p>
            <a:pPr lvl="1"/>
            <a:r>
              <a:rPr lang="en-US" sz="3200" dirty="0"/>
              <a:t>"Fetched 20/100 records" </a:t>
            </a:r>
          </a:p>
          <a:p>
            <a:pPr lvl="1"/>
            <a:r>
              <a:rPr lang="en-US" sz="3200" dirty="0"/>
              <a:t>"Analyzing documents..."</a:t>
            </a:r>
            <a:endParaRPr lang="en-US" sz="4000" dirty="0"/>
          </a:p>
        </p:txBody>
      </p:sp>
    </p:spTree>
    <p:extLst>
      <p:ext uri="{BB962C8B-B14F-4D97-AF65-F5344CB8AC3E}">
        <p14:creationId xmlns:p14="http://schemas.microsoft.com/office/powerpoint/2010/main" val="860064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83697-3619-F40F-E298-98F6A9EB8019}"/>
              </a:ext>
            </a:extLst>
          </p:cNvPr>
          <p:cNvSpPr>
            <a:spLocks noGrp="1"/>
          </p:cNvSpPr>
          <p:nvPr>
            <p:ph type="title"/>
          </p:nvPr>
        </p:nvSpPr>
        <p:spPr/>
        <p:txBody>
          <a:bodyPr/>
          <a:lstStyle/>
          <a:p>
            <a:r>
              <a:rPr lang="en-US" dirty="0"/>
              <a:t>Other streaming modes</a:t>
            </a:r>
          </a:p>
        </p:txBody>
      </p:sp>
      <p:sp>
        <p:nvSpPr>
          <p:cNvPr id="3" name="Content Placeholder 2">
            <a:extLst>
              <a:ext uri="{FF2B5EF4-FFF2-40B4-BE49-F238E27FC236}">
                <a16:creationId xmlns:a16="http://schemas.microsoft.com/office/drawing/2014/main" id="{549E9D6A-04B2-012C-CA58-FD8DD426DD01}"/>
              </a:ext>
            </a:extLst>
          </p:cNvPr>
          <p:cNvSpPr>
            <a:spLocks noGrp="1"/>
          </p:cNvSpPr>
          <p:nvPr>
            <p:ph idx="1"/>
          </p:nvPr>
        </p:nvSpPr>
        <p:spPr/>
        <p:txBody>
          <a:bodyPr>
            <a:normAutofit/>
          </a:bodyPr>
          <a:lstStyle/>
          <a:p>
            <a:r>
              <a:rPr lang="en-US" sz="3200" dirty="0"/>
              <a:t>Used for inspection, debugging, or advanced monitoring of graph execution.</a:t>
            </a:r>
          </a:p>
          <a:p>
            <a:pPr lvl="1"/>
            <a:r>
              <a:rPr lang="en-US" sz="3200" dirty="0">
                <a:latin typeface="Consolas" panose="020B0609020204030204" pitchFamily="49" charset="0"/>
              </a:rPr>
              <a:t>Values</a:t>
            </a:r>
          </a:p>
          <a:p>
            <a:pPr lvl="1"/>
            <a:r>
              <a:rPr lang="en-US" sz="3200" dirty="0">
                <a:latin typeface="Consolas" panose="020B0609020204030204" pitchFamily="49" charset="0"/>
              </a:rPr>
              <a:t>Checkpoints</a:t>
            </a:r>
          </a:p>
          <a:p>
            <a:pPr lvl="1"/>
            <a:r>
              <a:rPr lang="en-US" sz="3200" dirty="0">
                <a:latin typeface="Consolas" panose="020B0609020204030204" pitchFamily="49" charset="0"/>
              </a:rPr>
              <a:t>Tasks</a:t>
            </a:r>
          </a:p>
          <a:p>
            <a:pPr lvl="1"/>
            <a:r>
              <a:rPr lang="en-US" sz="3200" dirty="0">
                <a:latin typeface="Consolas" panose="020B0609020204030204" pitchFamily="49" charset="0"/>
              </a:rPr>
              <a:t>debug</a:t>
            </a:r>
          </a:p>
        </p:txBody>
      </p:sp>
    </p:spTree>
    <p:extLst>
      <p:ext uri="{BB962C8B-B14F-4D97-AF65-F5344CB8AC3E}">
        <p14:creationId xmlns:p14="http://schemas.microsoft.com/office/powerpoint/2010/main" val="633755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9FB286-CCC7-F07B-6FAD-A2F84272F7A3}"/>
              </a:ext>
            </a:extLst>
          </p:cNvPr>
          <p:cNvPicPr>
            <a:picLocks noGrp="1" noChangeAspect="1"/>
          </p:cNvPicPr>
          <p:nvPr>
            <p:ph idx="1"/>
          </p:nvPr>
        </p:nvPicPr>
        <p:blipFill>
          <a:blip r:embed="rId2"/>
          <a:stretch>
            <a:fillRect/>
          </a:stretch>
        </p:blipFill>
        <p:spPr>
          <a:xfrm>
            <a:off x="1472812" y="62822"/>
            <a:ext cx="10108274" cy="6738850"/>
          </a:xfrm>
          <a:prstGeom prst="rect">
            <a:avLst/>
          </a:prstGeom>
        </p:spPr>
      </p:pic>
    </p:spTree>
    <p:extLst>
      <p:ext uri="{BB962C8B-B14F-4D97-AF65-F5344CB8AC3E}">
        <p14:creationId xmlns:p14="http://schemas.microsoft.com/office/powerpoint/2010/main" val="35594174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FDE113-F279-BFAB-4E8C-71B09F195589}"/>
              </a:ext>
            </a:extLst>
          </p:cNvPr>
          <p:cNvSpPr>
            <a:spLocks noGrp="1"/>
          </p:cNvSpPr>
          <p:nvPr>
            <p:ph type="title"/>
          </p:nvPr>
        </p:nvSpPr>
        <p:spPr/>
        <p:txBody>
          <a:bodyPr/>
          <a:lstStyle/>
          <a:p>
            <a:r>
              <a:rPr lang="en-US" err="1"/>
              <a:t>Langraph</a:t>
            </a:r>
            <a:r>
              <a:rPr lang="en-US"/>
              <a:t> - Persistence</a:t>
            </a:r>
          </a:p>
        </p:txBody>
      </p:sp>
      <p:sp>
        <p:nvSpPr>
          <p:cNvPr id="5" name="Content Placeholder 4">
            <a:extLst>
              <a:ext uri="{FF2B5EF4-FFF2-40B4-BE49-F238E27FC236}">
                <a16:creationId xmlns:a16="http://schemas.microsoft.com/office/drawing/2014/main" id="{8884729F-1AB2-DBF2-F888-EB04BBF2428C}"/>
              </a:ext>
            </a:extLst>
          </p:cNvPr>
          <p:cNvSpPr>
            <a:spLocks noGrp="1"/>
          </p:cNvSpPr>
          <p:nvPr>
            <p:ph idx="1"/>
          </p:nvPr>
        </p:nvSpPr>
        <p:spPr/>
        <p:txBody>
          <a:bodyPr>
            <a:normAutofit/>
          </a:bodyPr>
          <a:lstStyle/>
          <a:p>
            <a:r>
              <a:rPr lang="en-US" sz="2800" dirty="0"/>
              <a:t>LangGraph has a built-in persistence layer that saves graph state as checkpoints. </a:t>
            </a:r>
          </a:p>
          <a:p>
            <a:r>
              <a:rPr lang="en-US" sz="2800" dirty="0"/>
              <a:t>When you compile a graph with a checkpointer, a snapshot of the graph state is saved at every step of execution, organized into threads. </a:t>
            </a:r>
          </a:p>
        </p:txBody>
      </p:sp>
      <p:pic>
        <p:nvPicPr>
          <p:cNvPr id="7" name="Picture 6">
            <a:extLst>
              <a:ext uri="{FF2B5EF4-FFF2-40B4-BE49-F238E27FC236}">
                <a16:creationId xmlns:a16="http://schemas.microsoft.com/office/drawing/2014/main" id="{5B816EFD-9C09-EBDE-1ED7-3759BB789B65}"/>
              </a:ext>
            </a:extLst>
          </p:cNvPr>
          <p:cNvPicPr>
            <a:picLocks noChangeAspect="1"/>
          </p:cNvPicPr>
          <p:nvPr/>
        </p:nvPicPr>
        <p:blipFill>
          <a:blip r:embed="rId3"/>
          <a:stretch>
            <a:fillRect/>
          </a:stretch>
        </p:blipFill>
        <p:spPr>
          <a:xfrm>
            <a:off x="443948" y="3034908"/>
            <a:ext cx="11098695" cy="3584553"/>
          </a:xfrm>
          <a:prstGeom prst="rect">
            <a:avLst/>
          </a:prstGeom>
        </p:spPr>
      </p:pic>
    </p:spTree>
    <p:extLst>
      <p:ext uri="{BB962C8B-B14F-4D97-AF65-F5344CB8AC3E}">
        <p14:creationId xmlns:p14="http://schemas.microsoft.com/office/powerpoint/2010/main" val="478096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ADCE2-B3A6-AC2D-86BF-58FFF353DAAD}"/>
              </a:ext>
            </a:extLst>
          </p:cNvPr>
          <p:cNvSpPr>
            <a:spLocks noGrp="1"/>
          </p:cNvSpPr>
          <p:nvPr>
            <p:ph type="title"/>
          </p:nvPr>
        </p:nvSpPr>
        <p:spPr/>
        <p:txBody>
          <a:bodyPr/>
          <a:lstStyle/>
          <a:p>
            <a:r>
              <a:rPr lang="en-US" dirty="0" err="1"/>
              <a:t>Langgraph</a:t>
            </a:r>
            <a:r>
              <a:rPr lang="en-US" dirty="0"/>
              <a:t> - durability</a:t>
            </a:r>
          </a:p>
        </p:txBody>
      </p:sp>
      <p:sp>
        <p:nvSpPr>
          <p:cNvPr id="3" name="Content Placeholder 2">
            <a:extLst>
              <a:ext uri="{FF2B5EF4-FFF2-40B4-BE49-F238E27FC236}">
                <a16:creationId xmlns:a16="http://schemas.microsoft.com/office/drawing/2014/main" id="{FE6041BE-EE36-8EE0-3839-88708C346D55}"/>
              </a:ext>
            </a:extLst>
          </p:cNvPr>
          <p:cNvSpPr>
            <a:spLocks noGrp="1"/>
          </p:cNvSpPr>
          <p:nvPr>
            <p:ph idx="1"/>
          </p:nvPr>
        </p:nvSpPr>
        <p:spPr/>
        <p:txBody>
          <a:bodyPr>
            <a:normAutofit lnSpcReduction="10000"/>
          </a:bodyPr>
          <a:lstStyle/>
          <a:p>
            <a:r>
              <a:rPr lang="en-US" sz="3200" b="1" dirty="0"/>
              <a:t>Durable execution</a:t>
            </a:r>
            <a:r>
              <a:rPr lang="en-US" sz="3200" dirty="0"/>
              <a:t> is a technique in which a process or workflow saves its progress at key points, allowing it to pause and later resume exactly where it left off. </a:t>
            </a:r>
          </a:p>
          <a:p>
            <a:r>
              <a:rPr lang="en-US" sz="3200" dirty="0"/>
              <a:t>Enable </a:t>
            </a:r>
            <a:r>
              <a:rPr lang="en-US" sz="3200" dirty="0">
                <a:hlinkClick r:id="rId3"/>
              </a:rPr>
              <a:t>persistence</a:t>
            </a:r>
            <a:r>
              <a:rPr lang="en-US" sz="3200" dirty="0"/>
              <a:t> in your workflow by specifying a </a:t>
            </a:r>
            <a:r>
              <a:rPr lang="en-US" sz="3200" dirty="0">
                <a:hlinkClick r:id="rId4"/>
              </a:rPr>
              <a:t>checkpointer</a:t>
            </a:r>
            <a:r>
              <a:rPr lang="en-US" sz="3200" dirty="0"/>
              <a:t> that will save workflow progress.</a:t>
            </a:r>
          </a:p>
          <a:p>
            <a:r>
              <a:rPr lang="en-US" sz="3200" dirty="0"/>
              <a:t>Specify a </a:t>
            </a:r>
            <a:r>
              <a:rPr lang="en-US" sz="3200" dirty="0">
                <a:hlinkClick r:id="rId5"/>
              </a:rPr>
              <a:t>thread identifier</a:t>
            </a:r>
            <a:r>
              <a:rPr lang="en-US" sz="3200" dirty="0"/>
              <a:t> when executing a workflow. This will track the execution history for a particular instance of the workflow.</a:t>
            </a:r>
          </a:p>
          <a:p>
            <a:r>
              <a:rPr lang="en-US" sz="3200" dirty="0"/>
              <a:t>Wrap any non-deterministic operations (e.g., random number generation) or operations with side effects (e.g., file writes, API calls) inside </a:t>
            </a:r>
            <a:r>
              <a:rPr lang="en-US" sz="3200" dirty="0">
                <a:hlinkClick r:id="rId6"/>
              </a:rPr>
              <a:t>tasks</a:t>
            </a:r>
            <a:r>
              <a:rPr lang="en-US" sz="3200" dirty="0"/>
              <a:t> to ensure that when a workflow is resumed, these operations are not repeated</a:t>
            </a:r>
          </a:p>
        </p:txBody>
      </p:sp>
    </p:spTree>
    <p:extLst>
      <p:ext uri="{BB962C8B-B14F-4D97-AF65-F5344CB8AC3E}">
        <p14:creationId xmlns:p14="http://schemas.microsoft.com/office/powerpoint/2010/main" val="95004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02E850A-6987-44E3-B322-33D86241D75E}"/>
              </a:ext>
            </a:extLst>
          </p:cNvPr>
          <p:cNvSpPr txBox="1"/>
          <p:nvPr/>
        </p:nvSpPr>
        <p:spPr>
          <a:xfrm>
            <a:off x="2296470" y="2276942"/>
            <a:ext cx="6772492" cy="2800767"/>
          </a:xfrm>
          <a:prstGeom prst="rect">
            <a:avLst/>
          </a:prstGeom>
          <a:effectLst>
            <a:glow rad="63500">
              <a:schemeClr val="accent5">
                <a:satMod val="175000"/>
                <a:alpha val="40000"/>
              </a:schemeClr>
            </a:glow>
            <a:outerShdw blurRad="50800" dist="38100" dir="2700000" algn="tl" rotWithShape="0">
              <a:prstClr val="black">
                <a:alpha val="40000"/>
              </a:prstClr>
            </a:outerShdw>
          </a:effectLst>
        </p:spPr>
        <p:style>
          <a:lnRef idx="0">
            <a:schemeClr val="accent6"/>
          </a:lnRef>
          <a:fillRef idx="3">
            <a:schemeClr val="accent6"/>
          </a:fillRef>
          <a:effectRef idx="3">
            <a:schemeClr val="accent6"/>
          </a:effectRef>
          <a:fontRef idx="minor">
            <a:schemeClr val="lt1"/>
          </a:fontRef>
        </p:style>
        <p:txBody>
          <a:bodyPr wrap="square">
            <a:spAutoFit/>
          </a:bodyPr>
          <a:lstStyle/>
          <a:p>
            <a:r>
              <a:rPr lang="en-US" sz="4400" dirty="0">
                <a:latin typeface="Roboto Slab Thin" pitchFamily="2" charset="0"/>
                <a:ea typeface="Roboto Slab Thin" pitchFamily="2" charset="0"/>
              </a:rPr>
              <a:t>Anything </a:t>
            </a:r>
            <a:r>
              <a:rPr lang="en-US" sz="4400" b="1" dirty="0">
                <a:solidFill>
                  <a:srgbClr val="C00000"/>
                </a:solidFill>
                <a:latin typeface="Roboto Slab Thin" pitchFamily="2" charset="0"/>
                <a:ea typeface="Roboto Slab Thin" pitchFamily="2" charset="0"/>
              </a:rPr>
              <a:t>expensive</a:t>
            </a:r>
            <a:r>
              <a:rPr lang="en-US" sz="4400" dirty="0">
                <a:latin typeface="Roboto Slab Thin" pitchFamily="2" charset="0"/>
                <a:ea typeface="Roboto Slab Thin" pitchFamily="2" charset="0"/>
              </a:rPr>
              <a:t>, </a:t>
            </a:r>
            <a:r>
              <a:rPr lang="en-US" sz="4400" b="1" dirty="0">
                <a:solidFill>
                  <a:srgbClr val="C00000"/>
                </a:solidFill>
                <a:latin typeface="Roboto Slab Thin" pitchFamily="2" charset="0"/>
                <a:ea typeface="Roboto Slab Thin" pitchFamily="2" charset="0"/>
              </a:rPr>
              <a:t>side-effecting</a:t>
            </a:r>
            <a:r>
              <a:rPr lang="en-US" sz="4400" dirty="0">
                <a:latin typeface="Roboto Slab Thin" pitchFamily="2" charset="0"/>
                <a:ea typeface="Roboto Slab Thin" pitchFamily="2" charset="0"/>
              </a:rPr>
              <a:t>, or </a:t>
            </a:r>
            <a:r>
              <a:rPr lang="en-US" sz="4400" b="1" dirty="0">
                <a:solidFill>
                  <a:srgbClr val="C00000"/>
                </a:solidFill>
                <a:latin typeface="Roboto Slab Thin" pitchFamily="2" charset="0"/>
                <a:ea typeface="Roboto Slab Thin" pitchFamily="2" charset="0"/>
              </a:rPr>
              <a:t>non-deterministic</a:t>
            </a:r>
            <a:r>
              <a:rPr lang="en-US" sz="4400" dirty="0">
                <a:latin typeface="Roboto Slab Thin" pitchFamily="2" charset="0"/>
                <a:ea typeface="Roboto Slab Thin" pitchFamily="2" charset="0"/>
              </a:rPr>
              <a:t> should be isolated in </a:t>
            </a:r>
            <a:r>
              <a:rPr lang="en-US" sz="4400" b="1" dirty="0">
                <a:solidFill>
                  <a:srgbClr val="C00000"/>
                </a:solidFill>
                <a:latin typeface="Roboto Slab Thin" pitchFamily="2" charset="0"/>
                <a:ea typeface="Roboto Slab Thin" pitchFamily="2" charset="0"/>
              </a:rPr>
              <a:t>tasks</a:t>
            </a:r>
            <a:r>
              <a:rPr lang="en-US" sz="4400" dirty="0">
                <a:latin typeface="Roboto Slab Thin" pitchFamily="2" charset="0"/>
                <a:ea typeface="Roboto Slab Thin" pitchFamily="2" charset="0"/>
              </a:rPr>
              <a:t>.</a:t>
            </a:r>
          </a:p>
        </p:txBody>
      </p:sp>
    </p:spTree>
    <p:extLst>
      <p:ext uri="{BB962C8B-B14F-4D97-AF65-F5344CB8AC3E}">
        <p14:creationId xmlns:p14="http://schemas.microsoft.com/office/powerpoint/2010/main" val="694961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01796-0E2C-15CA-418B-75D903337835}"/>
              </a:ext>
            </a:extLst>
          </p:cNvPr>
          <p:cNvSpPr>
            <a:spLocks noGrp="1"/>
          </p:cNvSpPr>
          <p:nvPr>
            <p:ph type="title"/>
          </p:nvPr>
        </p:nvSpPr>
        <p:spPr>
          <a:xfrm>
            <a:off x="328742" y="96922"/>
            <a:ext cx="11534516" cy="762729"/>
          </a:xfrm>
        </p:spPr>
        <p:txBody>
          <a:bodyPr/>
          <a:lstStyle/>
          <a:p>
            <a:r>
              <a:rPr lang="en-US" dirty="0"/>
              <a:t>Durability modes in </a:t>
            </a:r>
            <a:r>
              <a:rPr lang="en-US" dirty="0" err="1"/>
              <a:t>LangGraph</a:t>
            </a:r>
            <a:endParaRPr lang="en-US" dirty="0"/>
          </a:p>
        </p:txBody>
      </p:sp>
      <p:sp>
        <p:nvSpPr>
          <p:cNvPr id="3" name="Content Placeholder 2">
            <a:extLst>
              <a:ext uri="{FF2B5EF4-FFF2-40B4-BE49-F238E27FC236}">
                <a16:creationId xmlns:a16="http://schemas.microsoft.com/office/drawing/2014/main" id="{32D8D06E-9556-4631-7601-DA980DA7CB29}"/>
              </a:ext>
            </a:extLst>
          </p:cNvPr>
          <p:cNvSpPr>
            <a:spLocks noGrp="1"/>
          </p:cNvSpPr>
          <p:nvPr>
            <p:ph idx="1"/>
          </p:nvPr>
        </p:nvSpPr>
        <p:spPr>
          <a:xfrm>
            <a:off x="274372" y="782869"/>
            <a:ext cx="11833695" cy="5845585"/>
          </a:xfrm>
        </p:spPr>
        <p:txBody>
          <a:bodyPr>
            <a:normAutofit fontScale="85000" lnSpcReduction="20000"/>
          </a:bodyPr>
          <a:lstStyle/>
          <a:p>
            <a:pPr fontAlgn="t"/>
            <a:r>
              <a:rPr lang="en-US" sz="3800" b="1" dirty="0">
                <a:solidFill>
                  <a:srgbClr val="FFFF00"/>
                </a:solidFill>
              </a:rPr>
              <a:t>exit</a:t>
            </a:r>
            <a:endParaRPr lang="en-US" sz="3500" b="1" dirty="0">
              <a:solidFill>
                <a:srgbClr val="FFFF00"/>
              </a:solidFill>
            </a:endParaRPr>
          </a:p>
          <a:p>
            <a:pPr lvl="1" fontAlgn="t"/>
            <a:r>
              <a:rPr lang="en-US" sz="3500" dirty="0"/>
              <a:t>State is persisted only when graph execution exits successfully, with an error, or via interrupt.</a:t>
            </a:r>
          </a:p>
          <a:p>
            <a:pPr lvl="1" fontAlgn="t"/>
            <a:r>
              <a:rPr lang="en-US" sz="3500" dirty="0"/>
              <a:t>Fastest, but if the process crashes mid-run, intermediate progress is not saved. </a:t>
            </a:r>
          </a:p>
          <a:p>
            <a:pPr fontAlgn="t"/>
            <a:r>
              <a:rPr lang="en-US" sz="3800" b="1" dirty="0">
                <a:solidFill>
                  <a:srgbClr val="FFFF00"/>
                </a:solidFill>
              </a:rPr>
              <a:t>async</a:t>
            </a:r>
            <a:endParaRPr lang="en-US" sz="3500" b="1" dirty="0">
              <a:solidFill>
                <a:srgbClr val="FFFF00"/>
              </a:solidFill>
            </a:endParaRPr>
          </a:p>
          <a:p>
            <a:pPr lvl="1" fontAlgn="t"/>
            <a:r>
              <a:rPr lang="en-US" sz="3500" dirty="0"/>
              <a:t>State is persisted asynchronously while the next step runs.</a:t>
            </a:r>
          </a:p>
          <a:p>
            <a:pPr lvl="1" fontAlgn="t"/>
            <a:r>
              <a:rPr lang="en-US" sz="3500" dirty="0"/>
              <a:t>Good balance of speed and durability</a:t>
            </a:r>
          </a:p>
          <a:p>
            <a:pPr fontAlgn="t"/>
            <a:r>
              <a:rPr lang="en-US" sz="3500" dirty="0"/>
              <a:t>Small risk that the latest checkpoint is not written if the process crashes at the wrong moment. </a:t>
            </a:r>
            <a:endParaRPr lang="en-US" sz="3500" b="1" dirty="0"/>
          </a:p>
          <a:p>
            <a:pPr fontAlgn="t"/>
            <a:r>
              <a:rPr lang="en-US" sz="3800" b="1" dirty="0">
                <a:solidFill>
                  <a:srgbClr val="FFFF00"/>
                </a:solidFill>
              </a:rPr>
              <a:t>sync</a:t>
            </a:r>
            <a:endParaRPr lang="en-US" sz="3500" b="1" dirty="0">
              <a:solidFill>
                <a:srgbClr val="FFFF00"/>
              </a:solidFill>
            </a:endParaRPr>
          </a:p>
          <a:p>
            <a:pPr lvl="1" fontAlgn="t"/>
            <a:r>
              <a:rPr lang="en-US" sz="3500" dirty="0"/>
              <a:t>State is persisted synchronously before the next step starts.</a:t>
            </a:r>
          </a:p>
          <a:p>
            <a:pPr lvl="1" fontAlgn="t"/>
            <a:r>
              <a:rPr lang="en-US" sz="3500" dirty="0"/>
              <a:t>Strongest durability</a:t>
            </a:r>
          </a:p>
          <a:p>
            <a:pPr lvl="1" fontAlgn="t"/>
            <a:r>
              <a:rPr lang="en-US" sz="3500" dirty="0"/>
              <a:t>Highest overhead / slowest of the three.</a:t>
            </a:r>
          </a:p>
          <a:p>
            <a:endParaRPr lang="en-US" dirty="0"/>
          </a:p>
        </p:txBody>
      </p:sp>
    </p:spTree>
    <p:extLst>
      <p:ext uri="{BB962C8B-B14F-4D97-AF65-F5344CB8AC3E}">
        <p14:creationId xmlns:p14="http://schemas.microsoft.com/office/powerpoint/2010/main" val="20647153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BA5591-2F97-A991-E400-F3F37C7758F0}"/>
              </a:ext>
            </a:extLst>
          </p:cNvPr>
          <p:cNvSpPr txBox="1"/>
          <p:nvPr/>
        </p:nvSpPr>
        <p:spPr>
          <a:xfrm>
            <a:off x="1902556" y="1159503"/>
            <a:ext cx="8798018" cy="415498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4400" dirty="0"/>
              <a:t>Use </a:t>
            </a:r>
            <a:r>
              <a:rPr lang="en-US" sz="4400" b="1" dirty="0">
                <a:solidFill>
                  <a:srgbClr val="C00000"/>
                </a:solidFill>
              </a:rPr>
              <a:t>exit</a:t>
            </a:r>
            <a:r>
              <a:rPr lang="en-US" sz="4400" dirty="0"/>
              <a:t> for simpler or lower-risk runs.</a:t>
            </a:r>
          </a:p>
          <a:p>
            <a:endParaRPr lang="en-US" sz="4400" dirty="0"/>
          </a:p>
          <a:p>
            <a:r>
              <a:rPr lang="en-US" sz="4400" dirty="0"/>
              <a:t>Use </a:t>
            </a:r>
            <a:r>
              <a:rPr lang="en-US" sz="4400" b="1" dirty="0">
                <a:solidFill>
                  <a:srgbClr val="C00000"/>
                </a:solidFill>
              </a:rPr>
              <a:t>async</a:t>
            </a:r>
            <a:r>
              <a:rPr lang="en-US" sz="4400" dirty="0"/>
              <a:t> for many real-world apps.</a:t>
            </a:r>
          </a:p>
          <a:p>
            <a:endParaRPr lang="en-US" sz="4400" dirty="0"/>
          </a:p>
          <a:p>
            <a:r>
              <a:rPr lang="en-US" sz="4400" dirty="0"/>
              <a:t>Use </a:t>
            </a:r>
            <a:r>
              <a:rPr lang="en-US" sz="4400" b="1" dirty="0">
                <a:solidFill>
                  <a:srgbClr val="C00000"/>
                </a:solidFill>
              </a:rPr>
              <a:t>sync</a:t>
            </a:r>
            <a:r>
              <a:rPr lang="en-US" sz="4400" dirty="0"/>
              <a:t> when you really care about not losing the latest step</a:t>
            </a:r>
          </a:p>
        </p:txBody>
      </p:sp>
    </p:spTree>
    <p:extLst>
      <p:ext uri="{BB962C8B-B14F-4D97-AF65-F5344CB8AC3E}">
        <p14:creationId xmlns:p14="http://schemas.microsoft.com/office/powerpoint/2010/main" val="13571572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73D9-B39C-EE49-A5B0-D86072CFF919}"/>
              </a:ext>
            </a:extLst>
          </p:cNvPr>
          <p:cNvSpPr>
            <a:spLocks noGrp="1"/>
          </p:cNvSpPr>
          <p:nvPr>
            <p:ph type="title"/>
          </p:nvPr>
        </p:nvSpPr>
        <p:spPr/>
        <p:txBody>
          <a:bodyPr/>
          <a:lstStyle/>
          <a:p>
            <a:r>
              <a:rPr lang="en-US" dirty="0"/>
              <a:t>Tasks</a:t>
            </a:r>
          </a:p>
        </p:txBody>
      </p:sp>
      <p:sp>
        <p:nvSpPr>
          <p:cNvPr id="3" name="Content Placeholder 2">
            <a:extLst>
              <a:ext uri="{FF2B5EF4-FFF2-40B4-BE49-F238E27FC236}">
                <a16:creationId xmlns:a16="http://schemas.microsoft.com/office/drawing/2014/main" id="{CD0FD96E-ABC6-447A-ABCA-4D3AD353245A}"/>
              </a:ext>
            </a:extLst>
          </p:cNvPr>
          <p:cNvSpPr>
            <a:spLocks noGrp="1"/>
          </p:cNvSpPr>
          <p:nvPr>
            <p:ph idx="1"/>
          </p:nvPr>
        </p:nvSpPr>
        <p:spPr/>
        <p:txBody>
          <a:bodyPr/>
          <a:lstStyle/>
          <a:p>
            <a:r>
              <a:rPr lang="en-US" sz="3200" dirty="0"/>
              <a:t>A </a:t>
            </a:r>
            <a:r>
              <a:rPr lang="en-US" sz="3200" b="1" dirty="0"/>
              <a:t>task</a:t>
            </a:r>
            <a:r>
              <a:rPr lang="en-US" sz="3200" dirty="0"/>
              <a:t> in </a:t>
            </a:r>
            <a:r>
              <a:rPr lang="en-US" sz="3200" dirty="0" err="1"/>
              <a:t>LangGraph</a:t>
            </a:r>
            <a:r>
              <a:rPr lang="en-US" sz="3200" dirty="0"/>
              <a:t> is the unit you should use to wrap:</a:t>
            </a:r>
          </a:p>
          <a:p>
            <a:pPr lvl="1"/>
            <a:r>
              <a:rPr lang="en-US" sz="3200" b="1" dirty="0"/>
              <a:t>side effects</a:t>
            </a:r>
            <a:r>
              <a:rPr lang="en-US" sz="3200" dirty="0"/>
              <a:t> (API calls, file writes, database writes, tool invocations)</a:t>
            </a:r>
          </a:p>
          <a:p>
            <a:pPr lvl="1"/>
            <a:r>
              <a:rPr lang="en-US" sz="3200" b="1" dirty="0"/>
              <a:t>non-deterministic operations</a:t>
            </a:r>
            <a:r>
              <a:rPr lang="en-US" sz="3200" dirty="0"/>
              <a:t> (randomness, variable external responses)</a:t>
            </a:r>
          </a:p>
          <a:p>
            <a:pPr lvl="1"/>
            <a:r>
              <a:rPr lang="en-US" sz="3200" dirty="0"/>
              <a:t>and any work you </a:t>
            </a:r>
            <a:r>
              <a:rPr lang="en-US" sz="3200" b="1" dirty="0"/>
              <a:t>do not want repeated</a:t>
            </a:r>
            <a:r>
              <a:rPr lang="en-US" sz="3200" dirty="0"/>
              <a:t> on resume/replay</a:t>
            </a:r>
          </a:p>
          <a:p>
            <a:r>
              <a:rPr lang="en-US" sz="3200" dirty="0" err="1"/>
              <a:t>LangGraph</a:t>
            </a:r>
            <a:r>
              <a:rPr lang="en-US" sz="3200" dirty="0"/>
              <a:t> does </a:t>
            </a:r>
            <a:r>
              <a:rPr lang="en-US" sz="3200" b="1" dirty="0"/>
              <a:t>not</a:t>
            </a:r>
            <a:r>
              <a:rPr lang="en-US" sz="3200" dirty="0"/>
              <a:t> literally resume from the exact source-code line where it crashed. Instead, it restarts from an appropriate </a:t>
            </a:r>
            <a:r>
              <a:rPr lang="en-US" sz="3200" b="1" dirty="0"/>
              <a:t>checkpoint boundary</a:t>
            </a:r>
            <a:r>
              <a:rPr lang="en-US" sz="3200" dirty="0"/>
              <a:t> and may </a:t>
            </a:r>
            <a:r>
              <a:rPr lang="en-US" sz="3200" b="1" dirty="0"/>
              <a:t>replay</a:t>
            </a:r>
            <a:r>
              <a:rPr lang="en-US" sz="3200" dirty="0"/>
              <a:t> part of the workflow to reach the stopping point.</a:t>
            </a:r>
          </a:p>
          <a:p>
            <a:pPr lvl="1"/>
            <a:endParaRPr lang="en-US" dirty="0"/>
          </a:p>
          <a:p>
            <a:endParaRPr lang="en-US" dirty="0"/>
          </a:p>
        </p:txBody>
      </p:sp>
    </p:spTree>
    <p:extLst>
      <p:ext uri="{BB962C8B-B14F-4D97-AF65-F5344CB8AC3E}">
        <p14:creationId xmlns:p14="http://schemas.microsoft.com/office/powerpoint/2010/main" val="162746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409F7-9D8C-E061-2266-B7728C2F7904}"/>
              </a:ext>
            </a:extLst>
          </p:cNvPr>
          <p:cNvSpPr>
            <a:spLocks noGrp="1"/>
          </p:cNvSpPr>
          <p:nvPr>
            <p:ph type="title"/>
          </p:nvPr>
        </p:nvSpPr>
        <p:spPr/>
        <p:txBody>
          <a:bodyPr/>
          <a:lstStyle/>
          <a:p>
            <a:r>
              <a:rPr lang="en-US"/>
              <a:t>tasks</a:t>
            </a:r>
          </a:p>
        </p:txBody>
      </p:sp>
      <p:sp>
        <p:nvSpPr>
          <p:cNvPr id="5" name="TextBox 4">
            <a:extLst>
              <a:ext uri="{FF2B5EF4-FFF2-40B4-BE49-F238E27FC236}">
                <a16:creationId xmlns:a16="http://schemas.microsoft.com/office/drawing/2014/main" id="{24070CE6-88E7-DE8C-8234-5E979E04E216}"/>
              </a:ext>
            </a:extLst>
          </p:cNvPr>
          <p:cNvSpPr txBox="1"/>
          <p:nvPr/>
        </p:nvSpPr>
        <p:spPr>
          <a:xfrm>
            <a:off x="265043" y="1129893"/>
            <a:ext cx="11429054"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b="0" i="0">
                <a:solidFill>
                  <a:srgbClr val="8839EF"/>
                </a:solidFill>
                <a:effectLst/>
                <a:latin typeface="IBM Plex Mono" panose="020B0509050203000203" pitchFamily="49" charset="0"/>
              </a:rPr>
              <a:t>def</a:t>
            </a:r>
            <a:r>
              <a:rPr lang="en-US" sz="2400" b="0" i="0">
                <a:solidFill>
                  <a:srgbClr val="1E66F5"/>
                </a:solidFill>
                <a:effectLst/>
                <a:latin typeface="IBM Plex Mono" panose="020B0509050203000203" pitchFamily="49" charset="0"/>
              </a:rPr>
              <a:t> </a:t>
            </a:r>
            <a:r>
              <a:rPr lang="en-US" sz="2400" b="0" i="0" err="1">
                <a:solidFill>
                  <a:srgbClr val="1E66F5"/>
                </a:solidFill>
                <a:effectLst/>
                <a:latin typeface="IBM Plex Mono" panose="020B0509050203000203" pitchFamily="49" charset="0"/>
              </a:rPr>
              <a:t>call_api</a:t>
            </a:r>
            <a:r>
              <a:rPr lang="en-US" sz="2400" b="0" i="0">
                <a:solidFill>
                  <a:srgbClr val="7C7F93"/>
                </a:solidFill>
                <a:effectLst/>
                <a:latin typeface="IBM Plex Mono" panose="020B0509050203000203" pitchFamily="49" charset="0"/>
              </a:rPr>
              <a:t>(</a:t>
            </a:r>
            <a:r>
              <a:rPr lang="en-US" sz="2400" b="0" i="0">
                <a:solidFill>
                  <a:srgbClr val="E64553"/>
                </a:solidFill>
                <a:effectLst/>
                <a:latin typeface="IBM Plex Mono" panose="020B0509050203000203" pitchFamily="49" charset="0"/>
              </a:rPr>
              <a:t>state</a:t>
            </a:r>
            <a:r>
              <a:rPr lang="en-US" sz="2400" b="0" i="0">
                <a:solidFill>
                  <a:srgbClr val="7C7F93"/>
                </a:solidFill>
                <a:effectLst/>
                <a:latin typeface="IBM Plex Mono" panose="020B0509050203000203" pitchFamily="49" charset="0"/>
              </a:rPr>
              <a:t>:</a:t>
            </a:r>
            <a:r>
              <a:rPr lang="en-US" sz="2400" b="0" i="0">
                <a:solidFill>
                  <a:srgbClr val="E64553"/>
                </a:solidFill>
                <a:effectLst/>
                <a:latin typeface="IBM Plex Mono" panose="020B0509050203000203" pitchFamily="49" charset="0"/>
              </a:rPr>
              <a:t> State</a:t>
            </a:r>
            <a:r>
              <a:rPr lang="en-US" sz="2400" b="0" i="0">
                <a:solidFill>
                  <a:srgbClr val="7C7F93"/>
                </a:solidFill>
                <a:effectLst/>
                <a:latin typeface="IBM Plex Mono" panose="020B0509050203000203" pitchFamily="49" charset="0"/>
              </a:rPr>
              <a:t>):</a:t>
            </a:r>
            <a:r>
              <a:rPr lang="en-US" sz="2400" b="0" i="0">
                <a:solidFill>
                  <a:srgbClr val="4C4F69"/>
                </a:solidFill>
                <a:effectLst/>
                <a:latin typeface="IBM Plex Mono" panose="020B0509050203000203" pitchFamily="49" charset="0"/>
              </a:rPr>
              <a:t> </a:t>
            </a:r>
          </a:p>
          <a:p>
            <a:endParaRPr lang="en-US" sz="2400" b="0" i="0">
              <a:solidFill>
                <a:srgbClr val="4C4F69"/>
              </a:solidFill>
              <a:effectLst/>
              <a:latin typeface="IBM Plex Mono" panose="020B0509050203000203" pitchFamily="49" charset="0"/>
            </a:endParaRPr>
          </a:p>
          <a:p>
            <a:r>
              <a:rPr lang="en-US" sz="2400">
                <a:solidFill>
                  <a:srgbClr val="4C4F69"/>
                </a:solidFill>
                <a:latin typeface="IBM Plex Mono" panose="020B0509050203000203" pitchFamily="49" charset="0"/>
              </a:rPr>
              <a:t>	</a:t>
            </a:r>
            <a:r>
              <a:rPr lang="en-US" sz="2400" b="0" i="0">
                <a:solidFill>
                  <a:srgbClr val="40A02B"/>
                </a:solidFill>
                <a:effectLst/>
                <a:latin typeface="IBM Plex Mono" panose="020B0509050203000203" pitchFamily="49" charset="0"/>
              </a:rPr>
              <a:t>"""Example node that makes an API request."""</a:t>
            </a:r>
            <a:r>
              <a:rPr lang="en-US" sz="2400" b="0" i="0">
                <a:solidFill>
                  <a:srgbClr val="4C4F69"/>
                </a:solidFill>
                <a:effectLst/>
                <a:latin typeface="IBM Plex Mono" panose="020B0509050203000203" pitchFamily="49" charset="0"/>
              </a:rPr>
              <a:t> </a:t>
            </a:r>
          </a:p>
          <a:p>
            <a:r>
              <a:rPr lang="en-US" sz="2400">
                <a:solidFill>
                  <a:srgbClr val="4C4F69"/>
                </a:solidFill>
                <a:latin typeface="IBM Plex Mono" panose="020B0509050203000203" pitchFamily="49" charset="0"/>
              </a:rPr>
              <a:t>	</a:t>
            </a:r>
            <a:r>
              <a:rPr lang="en-US" sz="2400" b="0" i="0">
                <a:solidFill>
                  <a:srgbClr val="4C4F69"/>
                </a:solidFill>
                <a:effectLst/>
                <a:latin typeface="IBM Plex Mono" panose="020B0509050203000203" pitchFamily="49" charset="0"/>
              </a:rPr>
              <a:t>result </a:t>
            </a:r>
            <a:r>
              <a:rPr lang="en-US" sz="2400" b="0" i="0">
                <a:solidFill>
                  <a:srgbClr val="179299"/>
                </a:solidFill>
                <a:effectLst/>
                <a:latin typeface="IBM Plex Mono" panose="020B0509050203000203" pitchFamily="49" charset="0"/>
              </a:rPr>
              <a:t>=</a:t>
            </a:r>
            <a:r>
              <a:rPr lang="en-US" sz="2400" b="0" i="0">
                <a:solidFill>
                  <a:srgbClr val="4C4F69"/>
                </a:solidFill>
                <a:effectLst/>
                <a:latin typeface="IBM Plex Mono" panose="020B0509050203000203" pitchFamily="49" charset="0"/>
              </a:rPr>
              <a:t> </a:t>
            </a:r>
            <a:r>
              <a:rPr lang="en-US" sz="2400" b="0" i="0" err="1">
                <a:solidFill>
                  <a:srgbClr val="4C4F69"/>
                </a:solidFill>
                <a:effectLst/>
                <a:latin typeface="IBM Plex Mono" panose="020B0509050203000203" pitchFamily="49" charset="0"/>
              </a:rPr>
              <a:t>requests</a:t>
            </a:r>
            <a:r>
              <a:rPr lang="en-US" sz="2400" b="0" i="0" err="1">
                <a:solidFill>
                  <a:srgbClr val="7C7F93"/>
                </a:solidFill>
                <a:effectLst/>
                <a:latin typeface="IBM Plex Mono" panose="020B0509050203000203" pitchFamily="49" charset="0"/>
              </a:rPr>
              <a:t>.</a:t>
            </a:r>
            <a:r>
              <a:rPr lang="en-US" sz="2400" b="0" i="0" err="1">
                <a:solidFill>
                  <a:srgbClr val="1E66F5"/>
                </a:solidFill>
                <a:effectLst/>
                <a:latin typeface="IBM Plex Mono" panose="020B0509050203000203" pitchFamily="49" charset="0"/>
              </a:rPr>
              <a:t>get</a:t>
            </a:r>
            <a:r>
              <a:rPr lang="en-US" sz="2400" b="0" i="0">
                <a:solidFill>
                  <a:srgbClr val="7C7F93"/>
                </a:solidFill>
                <a:effectLst/>
                <a:latin typeface="IBM Plex Mono" panose="020B0509050203000203" pitchFamily="49" charset="0"/>
              </a:rPr>
              <a:t>(</a:t>
            </a:r>
            <a:r>
              <a:rPr lang="en-US" sz="2400" b="0" i="0">
                <a:solidFill>
                  <a:srgbClr val="E64553"/>
                </a:solidFill>
                <a:effectLst/>
                <a:latin typeface="IBM Plex Mono" panose="020B0509050203000203" pitchFamily="49" charset="0"/>
              </a:rPr>
              <a:t>state</a:t>
            </a:r>
            <a:r>
              <a:rPr lang="en-US" sz="2400" b="0" i="0">
                <a:solidFill>
                  <a:srgbClr val="7C7F93"/>
                </a:solidFill>
                <a:effectLst/>
                <a:latin typeface="IBM Plex Mono" panose="020B0509050203000203" pitchFamily="49" charset="0"/>
              </a:rPr>
              <a:t>[</a:t>
            </a:r>
            <a:r>
              <a:rPr lang="en-US" sz="2400" b="0" i="0">
                <a:solidFill>
                  <a:srgbClr val="40A02B"/>
                </a:solidFill>
                <a:effectLst/>
                <a:latin typeface="IBM Plex Mono" panose="020B0509050203000203" pitchFamily="49" charset="0"/>
              </a:rPr>
              <a:t>'</a:t>
            </a:r>
            <a:r>
              <a:rPr lang="en-US" sz="2400" b="0" i="0" err="1">
                <a:solidFill>
                  <a:srgbClr val="40A02B"/>
                </a:solidFill>
                <a:effectLst/>
                <a:latin typeface="IBM Plex Mono" panose="020B0509050203000203" pitchFamily="49" charset="0"/>
              </a:rPr>
              <a:t>url</a:t>
            </a:r>
            <a:r>
              <a:rPr lang="en-US" sz="2400" b="0" i="0">
                <a:solidFill>
                  <a:srgbClr val="40A02B"/>
                </a:solidFill>
                <a:effectLst/>
                <a:latin typeface="IBM Plex Mono" panose="020B0509050203000203" pitchFamily="49" charset="0"/>
              </a:rPr>
              <a:t>'</a:t>
            </a:r>
            <a:r>
              <a:rPr lang="en-US" sz="2400" b="0" i="0">
                <a:solidFill>
                  <a:srgbClr val="7C7F93"/>
                </a:solidFill>
                <a:effectLst/>
                <a:latin typeface="IBM Plex Mono" panose="020B0509050203000203" pitchFamily="49" charset="0"/>
              </a:rPr>
              <a:t>]).</a:t>
            </a:r>
            <a:r>
              <a:rPr lang="en-US" sz="2400" b="0" i="0">
                <a:solidFill>
                  <a:srgbClr val="E64553"/>
                </a:solidFill>
                <a:effectLst/>
                <a:latin typeface="IBM Plex Mono" panose="020B0509050203000203" pitchFamily="49" charset="0"/>
              </a:rPr>
              <a:t>text</a:t>
            </a:r>
            <a:r>
              <a:rPr lang="en-US" sz="2400" b="0" i="0">
                <a:solidFill>
                  <a:srgbClr val="7C7F93"/>
                </a:solidFill>
                <a:effectLst/>
                <a:latin typeface="IBM Plex Mono" panose="020B0509050203000203" pitchFamily="49" charset="0"/>
              </a:rPr>
              <a:t>[:</a:t>
            </a:r>
            <a:r>
              <a:rPr lang="en-US" sz="2400" b="0" i="0">
                <a:solidFill>
                  <a:srgbClr val="FE640B"/>
                </a:solidFill>
                <a:effectLst/>
                <a:latin typeface="IBM Plex Mono" panose="020B0509050203000203" pitchFamily="49" charset="0"/>
              </a:rPr>
              <a:t>100</a:t>
            </a:r>
            <a:r>
              <a:rPr lang="en-US" sz="2400" b="0" i="0">
                <a:solidFill>
                  <a:srgbClr val="7C7F93"/>
                </a:solidFill>
                <a:effectLst/>
                <a:latin typeface="IBM Plex Mono" panose="020B0509050203000203" pitchFamily="49" charset="0"/>
              </a:rPr>
              <a:t>] </a:t>
            </a:r>
            <a:endParaRPr lang="en-US" sz="2400" b="0" i="0">
              <a:solidFill>
                <a:srgbClr val="4C4F69"/>
              </a:solidFill>
              <a:effectLst/>
              <a:latin typeface="IBM Plex Mono" panose="020B0509050203000203" pitchFamily="49" charset="0"/>
            </a:endParaRPr>
          </a:p>
          <a:p>
            <a:r>
              <a:rPr lang="en-US" sz="2400" b="0" i="0">
                <a:solidFill>
                  <a:srgbClr val="8839EF"/>
                </a:solidFill>
                <a:effectLst/>
                <a:latin typeface="IBM Plex Mono" panose="020B0509050203000203" pitchFamily="49" charset="0"/>
              </a:rPr>
              <a:t>	</a:t>
            </a:r>
          </a:p>
          <a:p>
            <a:r>
              <a:rPr lang="en-US" sz="2400">
                <a:solidFill>
                  <a:srgbClr val="8839EF"/>
                </a:solidFill>
                <a:latin typeface="IBM Plex Mono" panose="020B0509050203000203" pitchFamily="49" charset="0"/>
              </a:rPr>
              <a:t>	</a:t>
            </a:r>
            <a:r>
              <a:rPr lang="en-US" sz="2400" b="0" i="0">
                <a:solidFill>
                  <a:srgbClr val="8839EF"/>
                </a:solidFill>
                <a:effectLst/>
                <a:latin typeface="IBM Plex Mono" panose="020B0509050203000203" pitchFamily="49" charset="0"/>
              </a:rPr>
              <a:t>return</a:t>
            </a:r>
            <a:r>
              <a:rPr lang="en-US" sz="2400" b="0" i="0">
                <a:solidFill>
                  <a:srgbClr val="7C7F93"/>
                </a:solidFill>
                <a:effectLst/>
                <a:latin typeface="IBM Plex Mono" panose="020B0509050203000203" pitchFamily="49" charset="0"/>
              </a:rPr>
              <a:t> {</a:t>
            </a:r>
            <a:r>
              <a:rPr lang="en-US" sz="2400" b="0" i="0">
                <a:solidFill>
                  <a:srgbClr val="4C4F69"/>
                </a:solidFill>
                <a:effectLst/>
                <a:latin typeface="IBM Plex Mono" panose="020B0509050203000203" pitchFamily="49" charset="0"/>
              </a:rPr>
              <a:t> </a:t>
            </a:r>
            <a:r>
              <a:rPr lang="en-US" sz="2400" b="0" i="0">
                <a:solidFill>
                  <a:srgbClr val="40A02B"/>
                </a:solidFill>
                <a:effectLst/>
                <a:latin typeface="IBM Plex Mono" panose="020B0509050203000203" pitchFamily="49" charset="0"/>
              </a:rPr>
              <a:t>"result"</a:t>
            </a:r>
            <a:r>
              <a:rPr lang="en-US" sz="2400" b="0" i="0">
                <a:solidFill>
                  <a:srgbClr val="7C7F93"/>
                </a:solidFill>
                <a:effectLst/>
                <a:latin typeface="IBM Plex Mono" panose="020B0509050203000203" pitchFamily="49" charset="0"/>
              </a:rPr>
              <a:t>:</a:t>
            </a:r>
            <a:r>
              <a:rPr lang="en-US" sz="2400" b="0" i="0">
                <a:solidFill>
                  <a:srgbClr val="4C4F69"/>
                </a:solidFill>
                <a:effectLst/>
                <a:latin typeface="IBM Plex Mono" panose="020B0509050203000203" pitchFamily="49" charset="0"/>
              </a:rPr>
              <a:t> result </a:t>
            </a:r>
            <a:r>
              <a:rPr lang="en-US" sz="2400" b="0" i="0">
                <a:solidFill>
                  <a:srgbClr val="7C7F93"/>
                </a:solidFill>
                <a:effectLst/>
                <a:latin typeface="IBM Plex Mono" panose="020B0509050203000203" pitchFamily="49" charset="0"/>
              </a:rPr>
              <a:t>}</a:t>
            </a:r>
            <a:r>
              <a:rPr lang="en-US" sz="2400" b="0" i="0">
                <a:solidFill>
                  <a:srgbClr val="4C4F69"/>
                </a:solidFill>
                <a:effectLst/>
                <a:latin typeface="IBM Plex Mono" panose="020B0509050203000203" pitchFamily="49" charset="0"/>
              </a:rPr>
              <a:t> </a:t>
            </a:r>
            <a:endParaRPr lang="en-US" sz="2400"/>
          </a:p>
        </p:txBody>
      </p:sp>
      <p:sp>
        <p:nvSpPr>
          <p:cNvPr id="7" name="TextBox 6">
            <a:extLst>
              <a:ext uri="{FF2B5EF4-FFF2-40B4-BE49-F238E27FC236}">
                <a16:creationId xmlns:a16="http://schemas.microsoft.com/office/drawing/2014/main" id="{C02930C4-2F60-EE4D-66F5-236875A97F9E}"/>
              </a:ext>
            </a:extLst>
          </p:cNvPr>
          <p:cNvSpPr txBox="1"/>
          <p:nvPr/>
        </p:nvSpPr>
        <p:spPr>
          <a:xfrm>
            <a:off x="316631" y="4084777"/>
            <a:ext cx="10394911"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800" b="0" i="0">
                <a:solidFill>
                  <a:srgbClr val="FE640B"/>
                </a:solidFill>
                <a:effectLst/>
                <a:latin typeface="IBM Plex Mono" panose="020B0509050203000203" pitchFamily="49" charset="0"/>
              </a:rPr>
              <a:t>@task</a:t>
            </a:r>
            <a:r>
              <a:rPr lang="en-US" sz="2800" b="0" i="0">
                <a:solidFill>
                  <a:srgbClr val="4C4F69"/>
                </a:solidFill>
                <a:effectLst/>
                <a:latin typeface="IBM Plex Mono" panose="020B0509050203000203" pitchFamily="49" charset="0"/>
              </a:rPr>
              <a:t> </a:t>
            </a:r>
            <a:r>
              <a:rPr lang="en-US" sz="2800" b="0" i="0">
                <a:solidFill>
                  <a:srgbClr val="8839EF"/>
                </a:solidFill>
                <a:effectLst/>
                <a:latin typeface="IBM Plex Mono" panose="020B0509050203000203" pitchFamily="49" charset="0"/>
              </a:rPr>
              <a:t>def</a:t>
            </a:r>
            <a:r>
              <a:rPr lang="en-US" sz="2800" b="0" i="0">
                <a:solidFill>
                  <a:srgbClr val="1E66F5"/>
                </a:solidFill>
                <a:effectLst/>
                <a:latin typeface="IBM Plex Mono" panose="020B0509050203000203" pitchFamily="49" charset="0"/>
              </a:rPr>
              <a:t> _</a:t>
            </a:r>
            <a:r>
              <a:rPr lang="en-US" sz="2800" b="0" i="0" err="1">
                <a:solidFill>
                  <a:srgbClr val="1E66F5"/>
                </a:solidFill>
                <a:effectLst/>
                <a:latin typeface="IBM Plex Mono" panose="020B0509050203000203" pitchFamily="49" charset="0"/>
              </a:rPr>
              <a:t>make_request</a:t>
            </a:r>
            <a:r>
              <a:rPr lang="en-US" sz="2800" b="0" i="0">
                <a:solidFill>
                  <a:srgbClr val="7C7F93"/>
                </a:solidFill>
                <a:effectLst/>
                <a:latin typeface="IBM Plex Mono" panose="020B0509050203000203" pitchFamily="49" charset="0"/>
              </a:rPr>
              <a:t>(</a:t>
            </a:r>
            <a:r>
              <a:rPr lang="en-US" sz="2800" b="0" i="0">
                <a:solidFill>
                  <a:srgbClr val="E64553"/>
                </a:solidFill>
                <a:effectLst/>
                <a:latin typeface="IBM Plex Mono" panose="020B0509050203000203" pitchFamily="49" charset="0"/>
              </a:rPr>
              <a:t>url</a:t>
            </a:r>
            <a:r>
              <a:rPr lang="en-US" sz="2800" b="0" i="0">
                <a:solidFill>
                  <a:srgbClr val="7C7F93"/>
                </a:solidFill>
                <a:effectLst/>
                <a:latin typeface="IBM Plex Mono" panose="020B0509050203000203" pitchFamily="49" charset="0"/>
              </a:rPr>
              <a:t>:</a:t>
            </a:r>
            <a:r>
              <a:rPr lang="en-US" sz="2800" b="0" i="0">
                <a:solidFill>
                  <a:srgbClr val="8839EF"/>
                </a:solidFill>
                <a:effectLst/>
                <a:latin typeface="IBM Plex Mono" panose="020B0509050203000203" pitchFamily="49" charset="0"/>
              </a:rPr>
              <a:t> str</a:t>
            </a:r>
            <a:r>
              <a:rPr lang="en-US" sz="2800" b="0" i="0">
                <a:solidFill>
                  <a:srgbClr val="7C7F93"/>
                </a:solidFill>
                <a:effectLst/>
                <a:latin typeface="IBM Plex Mono" panose="020B0509050203000203" pitchFamily="49" charset="0"/>
              </a:rPr>
              <a:t>):</a:t>
            </a:r>
            <a:r>
              <a:rPr lang="en-US" sz="2800" b="0" i="0">
                <a:solidFill>
                  <a:srgbClr val="4C4F69"/>
                </a:solidFill>
                <a:effectLst/>
                <a:latin typeface="IBM Plex Mono" panose="020B0509050203000203" pitchFamily="49" charset="0"/>
              </a:rPr>
              <a:t> </a:t>
            </a:r>
          </a:p>
          <a:p>
            <a:r>
              <a:rPr lang="en-US" sz="2800">
                <a:solidFill>
                  <a:srgbClr val="4C4F69"/>
                </a:solidFill>
                <a:latin typeface="IBM Plex Mono" panose="020B0509050203000203" pitchFamily="49" charset="0"/>
              </a:rPr>
              <a:t>	</a:t>
            </a:r>
          </a:p>
          <a:p>
            <a:r>
              <a:rPr lang="en-US" sz="2800" b="0" i="0">
                <a:solidFill>
                  <a:srgbClr val="4C4F69"/>
                </a:solidFill>
                <a:effectLst/>
                <a:latin typeface="IBM Plex Mono" panose="020B0509050203000203" pitchFamily="49" charset="0"/>
              </a:rPr>
              <a:t>	</a:t>
            </a:r>
            <a:r>
              <a:rPr lang="en-US" sz="2800" b="0" i="0">
                <a:solidFill>
                  <a:srgbClr val="40A02B"/>
                </a:solidFill>
                <a:effectLst/>
                <a:latin typeface="IBM Plex Mono" panose="020B0509050203000203" pitchFamily="49" charset="0"/>
              </a:rPr>
              <a:t>"""Make a request."""</a:t>
            </a:r>
            <a:r>
              <a:rPr lang="en-US" sz="2800" b="0" i="0">
                <a:solidFill>
                  <a:srgbClr val="4C4F69"/>
                </a:solidFill>
                <a:effectLst/>
                <a:latin typeface="IBM Plex Mono" panose="020B0509050203000203" pitchFamily="49" charset="0"/>
              </a:rPr>
              <a:t> </a:t>
            </a:r>
          </a:p>
          <a:p>
            <a:r>
              <a:rPr lang="en-US" sz="2800">
                <a:solidFill>
                  <a:srgbClr val="4C4F69"/>
                </a:solidFill>
                <a:latin typeface="IBM Plex Mono" panose="020B0509050203000203" pitchFamily="49" charset="0"/>
              </a:rPr>
              <a:t>	</a:t>
            </a:r>
            <a:r>
              <a:rPr lang="en-US" sz="2800" b="0" i="0">
                <a:solidFill>
                  <a:srgbClr val="8839EF"/>
                </a:solidFill>
                <a:effectLst/>
                <a:latin typeface="IBM Plex Mono" panose="020B0509050203000203" pitchFamily="49" charset="0"/>
              </a:rPr>
              <a:t>return</a:t>
            </a:r>
            <a:r>
              <a:rPr lang="en-US" sz="2800" b="0" i="0">
                <a:solidFill>
                  <a:srgbClr val="4C4F69"/>
                </a:solidFill>
                <a:effectLst/>
                <a:latin typeface="IBM Plex Mono" panose="020B0509050203000203" pitchFamily="49" charset="0"/>
              </a:rPr>
              <a:t> </a:t>
            </a:r>
            <a:r>
              <a:rPr lang="en-US" sz="2800" b="0" i="0" err="1">
                <a:solidFill>
                  <a:srgbClr val="4C4F69"/>
                </a:solidFill>
                <a:effectLst/>
                <a:latin typeface="IBM Plex Mono" panose="020B0509050203000203" pitchFamily="49" charset="0"/>
              </a:rPr>
              <a:t>requests</a:t>
            </a:r>
            <a:r>
              <a:rPr lang="en-US" sz="2800" b="0" i="0" err="1">
                <a:solidFill>
                  <a:srgbClr val="7C7F93"/>
                </a:solidFill>
                <a:effectLst/>
                <a:latin typeface="IBM Plex Mono" panose="020B0509050203000203" pitchFamily="49" charset="0"/>
              </a:rPr>
              <a:t>.</a:t>
            </a:r>
            <a:r>
              <a:rPr lang="en-US" sz="2800" b="0" i="0" err="1">
                <a:solidFill>
                  <a:srgbClr val="1E66F5"/>
                </a:solidFill>
                <a:effectLst/>
                <a:latin typeface="IBM Plex Mono" panose="020B0509050203000203" pitchFamily="49" charset="0"/>
              </a:rPr>
              <a:t>get</a:t>
            </a:r>
            <a:r>
              <a:rPr lang="en-US" sz="2800" b="0" i="0">
                <a:solidFill>
                  <a:srgbClr val="7C7F93"/>
                </a:solidFill>
                <a:effectLst/>
                <a:latin typeface="IBM Plex Mono" panose="020B0509050203000203" pitchFamily="49" charset="0"/>
              </a:rPr>
              <a:t>(</a:t>
            </a:r>
            <a:r>
              <a:rPr lang="en-US" sz="2800" b="0" i="0" err="1">
                <a:solidFill>
                  <a:srgbClr val="4C4F69"/>
                </a:solidFill>
                <a:effectLst/>
                <a:latin typeface="IBM Plex Mono" panose="020B0509050203000203" pitchFamily="49" charset="0"/>
              </a:rPr>
              <a:t>url</a:t>
            </a:r>
            <a:r>
              <a:rPr lang="en-US" sz="2800" b="0" i="0">
                <a:solidFill>
                  <a:srgbClr val="7C7F93"/>
                </a:solidFill>
                <a:effectLst/>
                <a:latin typeface="IBM Plex Mono" panose="020B0509050203000203" pitchFamily="49" charset="0"/>
              </a:rPr>
              <a:t>).</a:t>
            </a:r>
            <a:r>
              <a:rPr lang="en-US" sz="2800" b="0" i="0">
                <a:solidFill>
                  <a:srgbClr val="E64553"/>
                </a:solidFill>
                <a:effectLst/>
                <a:latin typeface="IBM Plex Mono" panose="020B0509050203000203" pitchFamily="49" charset="0"/>
              </a:rPr>
              <a:t>text</a:t>
            </a:r>
            <a:r>
              <a:rPr lang="en-US" sz="2800" b="0" i="0">
                <a:solidFill>
                  <a:srgbClr val="7C7F93"/>
                </a:solidFill>
                <a:effectLst/>
                <a:latin typeface="IBM Plex Mono" panose="020B0509050203000203" pitchFamily="49" charset="0"/>
              </a:rPr>
              <a:t>[:</a:t>
            </a:r>
            <a:r>
              <a:rPr lang="en-US" sz="2800" b="0" i="0">
                <a:solidFill>
                  <a:srgbClr val="FE640B"/>
                </a:solidFill>
                <a:effectLst/>
                <a:latin typeface="IBM Plex Mono" panose="020B0509050203000203" pitchFamily="49" charset="0"/>
              </a:rPr>
              <a:t>100</a:t>
            </a:r>
            <a:r>
              <a:rPr lang="en-US" sz="2800" b="0" i="0">
                <a:solidFill>
                  <a:srgbClr val="7C7F93"/>
                </a:solidFill>
                <a:effectLst/>
                <a:latin typeface="IBM Plex Mono" panose="020B0509050203000203" pitchFamily="49" charset="0"/>
              </a:rPr>
              <a:t>]</a:t>
            </a:r>
            <a:endParaRPr lang="en-US" sz="2800"/>
          </a:p>
        </p:txBody>
      </p:sp>
    </p:spTree>
    <p:extLst>
      <p:ext uri="{BB962C8B-B14F-4D97-AF65-F5344CB8AC3E}">
        <p14:creationId xmlns:p14="http://schemas.microsoft.com/office/powerpoint/2010/main" val="1624361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06B2509-F052-2C3E-2B75-B1D6213C2C4F}"/>
              </a:ext>
            </a:extLst>
          </p:cNvPr>
          <p:cNvSpPr>
            <a:spLocks noGrp="1"/>
          </p:cNvSpPr>
          <p:nvPr>
            <p:ph type="title"/>
          </p:nvPr>
        </p:nvSpPr>
        <p:spPr/>
        <p:txBody>
          <a:bodyPr/>
          <a:lstStyle/>
          <a:p>
            <a:r>
              <a:rPr lang="en-US"/>
              <a:t>Deployment</a:t>
            </a:r>
          </a:p>
        </p:txBody>
      </p:sp>
      <p:sp>
        <p:nvSpPr>
          <p:cNvPr id="3" name="Text Placeholder 2">
            <a:extLst>
              <a:ext uri="{FF2B5EF4-FFF2-40B4-BE49-F238E27FC236}">
                <a16:creationId xmlns:a16="http://schemas.microsoft.com/office/drawing/2014/main" id="{C583986D-DE71-FCB5-9729-755A25AA322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473753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94282B-6EA2-537F-3A9B-EC81D959A0C0}"/>
              </a:ext>
            </a:extLst>
          </p:cNvPr>
          <p:cNvSpPr>
            <a:spLocks noGrp="1"/>
          </p:cNvSpPr>
          <p:nvPr>
            <p:ph type="title"/>
          </p:nvPr>
        </p:nvSpPr>
        <p:spPr/>
        <p:txBody>
          <a:bodyPr/>
          <a:lstStyle/>
          <a:p>
            <a:r>
              <a:rPr lang="en-US" dirty="0"/>
              <a:t>LangSmith Deployment</a:t>
            </a:r>
          </a:p>
        </p:txBody>
      </p:sp>
      <p:sp>
        <p:nvSpPr>
          <p:cNvPr id="5" name="Content Placeholder 4">
            <a:extLst>
              <a:ext uri="{FF2B5EF4-FFF2-40B4-BE49-F238E27FC236}">
                <a16:creationId xmlns:a16="http://schemas.microsoft.com/office/drawing/2014/main" id="{812D8EA1-BF78-ABF9-40A8-59F3B4F2029C}"/>
              </a:ext>
            </a:extLst>
          </p:cNvPr>
          <p:cNvSpPr>
            <a:spLocks noGrp="1"/>
          </p:cNvSpPr>
          <p:nvPr>
            <p:ph idx="1"/>
          </p:nvPr>
        </p:nvSpPr>
        <p:spPr>
          <a:xfrm>
            <a:off x="205775" y="1534614"/>
            <a:ext cx="11699095" cy="4408986"/>
          </a:xfrm>
        </p:spPr>
        <p:txBody>
          <a:bodyPr>
            <a:noAutofit/>
          </a:bodyPr>
          <a:lstStyle/>
          <a:p>
            <a:r>
              <a:rPr lang="en-US" sz="3200" dirty="0"/>
              <a:t>LangSmith Deployment is a workflow orchestration runtime purpose-built for agent workloads. </a:t>
            </a:r>
          </a:p>
          <a:p>
            <a:r>
              <a:rPr lang="en-US" sz="3200" dirty="0"/>
              <a:t>It take your agent code (for example a LangGraph graph) and expose it as a production‑ready API service with built‑in state management, scaling, monitoring, and persistence. </a:t>
            </a:r>
          </a:p>
          <a:p>
            <a:r>
              <a:rPr lang="en-US" sz="3200" dirty="0"/>
              <a:t>LangSmith Deployment is </a:t>
            </a:r>
            <a:r>
              <a:rPr lang="en-US" sz="3200" b="1" dirty="0">
                <a:solidFill>
                  <a:srgbClr val="FFC000"/>
                </a:solidFill>
              </a:rPr>
              <a:t>framework-agnostic</a:t>
            </a:r>
            <a:r>
              <a:rPr lang="en-US" sz="3200" dirty="0"/>
              <a:t>: you can deploy agents built with LangGraph or other frameworks.</a:t>
            </a:r>
          </a:p>
        </p:txBody>
      </p:sp>
    </p:spTree>
    <p:extLst>
      <p:ext uri="{BB962C8B-B14F-4D97-AF65-F5344CB8AC3E}">
        <p14:creationId xmlns:p14="http://schemas.microsoft.com/office/powerpoint/2010/main" val="294516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C406-2AD0-FE85-EEB7-904B5D550DD6}"/>
              </a:ext>
            </a:extLst>
          </p:cNvPr>
          <p:cNvSpPr>
            <a:spLocks noGrp="1"/>
          </p:cNvSpPr>
          <p:nvPr>
            <p:ph type="title"/>
          </p:nvPr>
        </p:nvSpPr>
        <p:spPr/>
        <p:txBody>
          <a:bodyPr/>
          <a:lstStyle/>
          <a:p>
            <a:r>
              <a:rPr lang="en-US" dirty="0" err="1"/>
              <a:t>Langsmith</a:t>
            </a:r>
            <a:r>
              <a:rPr lang="en-US" dirty="0"/>
              <a:t> deployment (</a:t>
            </a:r>
            <a:r>
              <a:rPr lang="en-US" dirty="0" err="1"/>
              <a:t>cont</a:t>
            </a:r>
            <a:r>
              <a:rPr lang="en-US" dirty="0"/>
              <a:t>…)</a:t>
            </a:r>
          </a:p>
        </p:txBody>
      </p:sp>
      <p:sp>
        <p:nvSpPr>
          <p:cNvPr id="3" name="Content Placeholder 2">
            <a:extLst>
              <a:ext uri="{FF2B5EF4-FFF2-40B4-BE49-F238E27FC236}">
                <a16:creationId xmlns:a16="http://schemas.microsoft.com/office/drawing/2014/main" id="{BD3B8853-DFF5-D7A5-651A-FD2307F58EBD}"/>
              </a:ext>
            </a:extLst>
          </p:cNvPr>
          <p:cNvSpPr>
            <a:spLocks noGrp="1"/>
          </p:cNvSpPr>
          <p:nvPr>
            <p:ph idx="1"/>
          </p:nvPr>
        </p:nvSpPr>
        <p:spPr/>
        <p:txBody>
          <a:bodyPr/>
          <a:lstStyle/>
          <a:p>
            <a:pPr fontAlgn="t"/>
            <a:r>
              <a:rPr lang="en-US" sz="3200" dirty="0" err="1"/>
              <a:t>LangSmith’s</a:t>
            </a:r>
            <a:r>
              <a:rPr lang="en-US" sz="3200" dirty="0"/>
              <a:t> deployment layer provides:</a:t>
            </a:r>
          </a:p>
          <a:p>
            <a:pPr lvl="1" fontAlgn="t"/>
            <a:r>
              <a:rPr lang="en-US" sz="3200" dirty="0"/>
              <a:t>Durable execution of agent workloads with persistent state &amp; conversation memory</a:t>
            </a:r>
          </a:p>
          <a:p>
            <a:pPr lvl="1" fontAlgn="t"/>
            <a:r>
              <a:rPr lang="en-US" sz="3200" dirty="0"/>
              <a:t>API endpoints for interacting with agents</a:t>
            </a:r>
          </a:p>
          <a:p>
            <a:pPr lvl="1" fontAlgn="t"/>
            <a:r>
              <a:rPr lang="en-US" sz="3200" dirty="0"/>
              <a:t>Monitoring and debugging tools</a:t>
            </a:r>
          </a:p>
          <a:p>
            <a:pPr lvl="1" fontAlgn="t"/>
            <a:r>
              <a:rPr lang="en-US" sz="3200" dirty="0"/>
              <a:t>Deployment infrastructure (cloud, hybrid, or self‑hosted)</a:t>
            </a:r>
          </a:p>
          <a:p>
            <a:endParaRPr lang="en-US" dirty="0"/>
          </a:p>
        </p:txBody>
      </p:sp>
    </p:spTree>
    <p:extLst>
      <p:ext uri="{BB962C8B-B14F-4D97-AF65-F5344CB8AC3E}">
        <p14:creationId xmlns:p14="http://schemas.microsoft.com/office/powerpoint/2010/main" val="8661452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5CB3C-D871-94F9-5060-3DD15B6047FF}"/>
              </a:ext>
            </a:extLst>
          </p:cNvPr>
          <p:cNvSpPr>
            <a:spLocks noGrp="1"/>
          </p:cNvSpPr>
          <p:nvPr>
            <p:ph type="title"/>
          </p:nvPr>
        </p:nvSpPr>
        <p:spPr/>
        <p:txBody>
          <a:bodyPr/>
          <a:lstStyle/>
          <a:p>
            <a:r>
              <a:rPr lang="en-US"/>
              <a:t>Agent Server</a:t>
            </a:r>
          </a:p>
        </p:txBody>
      </p:sp>
      <p:sp>
        <p:nvSpPr>
          <p:cNvPr id="3" name="Content Placeholder 2">
            <a:extLst>
              <a:ext uri="{FF2B5EF4-FFF2-40B4-BE49-F238E27FC236}">
                <a16:creationId xmlns:a16="http://schemas.microsoft.com/office/drawing/2014/main" id="{E8C02140-9CA4-25FA-71AE-0FF5728C2E36}"/>
              </a:ext>
            </a:extLst>
          </p:cNvPr>
          <p:cNvSpPr>
            <a:spLocks noGrp="1"/>
          </p:cNvSpPr>
          <p:nvPr>
            <p:ph idx="1"/>
          </p:nvPr>
        </p:nvSpPr>
        <p:spPr/>
        <p:txBody>
          <a:bodyPr>
            <a:normAutofit/>
          </a:bodyPr>
          <a:lstStyle/>
          <a:p>
            <a:r>
              <a:rPr lang="en-US" sz="2800" dirty="0"/>
              <a:t>When you deploy to LangSmith, you are basically deploying to an </a:t>
            </a:r>
            <a:r>
              <a:rPr lang="en-US" sz="2800" b="1" dirty="0"/>
              <a:t>Agent Server</a:t>
            </a:r>
            <a:r>
              <a:rPr lang="en-US" sz="2800" dirty="0"/>
              <a:t> — a backend service designed to execute agent graphs.</a:t>
            </a:r>
          </a:p>
          <a:p>
            <a:r>
              <a:rPr lang="en-US" sz="3000" dirty="0"/>
              <a:t>Agent server exposes a structured </a:t>
            </a:r>
            <a:r>
              <a:rPr lang="en-US" sz="3000" b="1" dirty="0"/>
              <a:t>API</a:t>
            </a:r>
            <a:r>
              <a:rPr lang="en-US" sz="3000" dirty="0"/>
              <a:t> for managing agents and their executions.</a:t>
            </a:r>
          </a:p>
          <a:p>
            <a:r>
              <a:rPr lang="en-US" sz="3000" dirty="0"/>
              <a:t>Agent Server API is built around four main concepts:</a:t>
            </a:r>
          </a:p>
          <a:p>
            <a:endParaRPr lang="en-US" dirty="0"/>
          </a:p>
        </p:txBody>
      </p:sp>
      <p:graphicFrame>
        <p:nvGraphicFramePr>
          <p:cNvPr id="4" name="Table 3">
            <a:extLst>
              <a:ext uri="{FF2B5EF4-FFF2-40B4-BE49-F238E27FC236}">
                <a16:creationId xmlns:a16="http://schemas.microsoft.com/office/drawing/2014/main" id="{A812B278-3200-F9DC-1C1B-A9228EB28D16}"/>
              </a:ext>
            </a:extLst>
          </p:cNvPr>
          <p:cNvGraphicFramePr>
            <a:graphicFrameLocks noGrp="1"/>
          </p:cNvGraphicFramePr>
          <p:nvPr>
            <p:extLst>
              <p:ext uri="{D42A27DB-BD31-4B8C-83A1-F6EECF244321}">
                <p14:modId xmlns:p14="http://schemas.microsoft.com/office/powerpoint/2010/main" val="2257773193"/>
              </p:ext>
            </p:extLst>
          </p:nvPr>
        </p:nvGraphicFramePr>
        <p:xfrm>
          <a:off x="529684" y="3822071"/>
          <a:ext cx="8764858" cy="2286000"/>
        </p:xfrm>
        <a:graphic>
          <a:graphicData uri="http://schemas.openxmlformats.org/drawingml/2006/table">
            <a:tbl>
              <a:tblPr firstRow="1" firstCol="1">
                <a:tableStyleId>{284E427A-3D55-4303-BF80-6455036E1DE7}</a:tableStyleId>
              </a:tblPr>
              <a:tblGrid>
                <a:gridCol w="2841534">
                  <a:extLst>
                    <a:ext uri="{9D8B030D-6E8A-4147-A177-3AD203B41FA5}">
                      <a16:colId xmlns:a16="http://schemas.microsoft.com/office/drawing/2014/main" val="4238889605"/>
                    </a:ext>
                  </a:extLst>
                </a:gridCol>
                <a:gridCol w="5923324">
                  <a:extLst>
                    <a:ext uri="{9D8B030D-6E8A-4147-A177-3AD203B41FA5}">
                      <a16:colId xmlns:a16="http://schemas.microsoft.com/office/drawing/2014/main" val="3384691856"/>
                    </a:ext>
                  </a:extLst>
                </a:gridCol>
              </a:tblGrid>
              <a:tr h="0">
                <a:tc>
                  <a:txBody>
                    <a:bodyPr/>
                    <a:lstStyle/>
                    <a:p>
                      <a:pPr>
                        <a:buNone/>
                      </a:pPr>
                      <a:r>
                        <a:rPr lang="en-US" sz="2400">
                          <a:effectLst/>
                        </a:rPr>
                        <a:t>Entity</a:t>
                      </a:r>
                    </a:p>
                  </a:txBody>
                  <a:tcPr anchor="ctr"/>
                </a:tc>
                <a:tc>
                  <a:txBody>
                    <a:bodyPr/>
                    <a:lstStyle/>
                    <a:p>
                      <a:pPr>
                        <a:buNone/>
                      </a:pPr>
                      <a:r>
                        <a:rPr lang="en-US" sz="2400">
                          <a:effectLst/>
                        </a:rPr>
                        <a:t>What it represents</a:t>
                      </a:r>
                    </a:p>
                  </a:txBody>
                  <a:tcPr anchor="ctr"/>
                </a:tc>
                <a:extLst>
                  <a:ext uri="{0D108BD9-81ED-4DB2-BD59-A6C34878D82A}">
                    <a16:rowId xmlns:a16="http://schemas.microsoft.com/office/drawing/2014/main" val="2218759613"/>
                  </a:ext>
                </a:extLst>
              </a:tr>
              <a:tr h="0">
                <a:tc>
                  <a:txBody>
                    <a:bodyPr/>
                    <a:lstStyle/>
                    <a:p>
                      <a:pPr>
                        <a:buNone/>
                      </a:pPr>
                      <a:r>
                        <a:rPr lang="en-US" sz="2400" b="1">
                          <a:effectLst/>
                        </a:rPr>
                        <a:t>Assistant</a:t>
                      </a:r>
                      <a:endParaRPr lang="en-US" sz="2400">
                        <a:effectLst/>
                      </a:endParaRPr>
                    </a:p>
                  </a:txBody>
                  <a:tcPr anchor="ctr"/>
                </a:tc>
                <a:tc>
                  <a:txBody>
                    <a:bodyPr/>
                    <a:lstStyle/>
                    <a:p>
                      <a:pPr>
                        <a:buNone/>
                      </a:pPr>
                      <a:r>
                        <a:rPr lang="en-US" sz="2400">
                          <a:effectLst/>
                        </a:rPr>
                        <a:t>a configured agent</a:t>
                      </a:r>
                    </a:p>
                  </a:txBody>
                  <a:tcPr anchor="ctr"/>
                </a:tc>
                <a:extLst>
                  <a:ext uri="{0D108BD9-81ED-4DB2-BD59-A6C34878D82A}">
                    <a16:rowId xmlns:a16="http://schemas.microsoft.com/office/drawing/2014/main" val="1666791716"/>
                  </a:ext>
                </a:extLst>
              </a:tr>
              <a:tr h="0">
                <a:tc>
                  <a:txBody>
                    <a:bodyPr/>
                    <a:lstStyle/>
                    <a:p>
                      <a:pPr>
                        <a:buNone/>
                      </a:pPr>
                      <a:r>
                        <a:rPr lang="en-US" sz="2400" b="1">
                          <a:effectLst/>
                        </a:rPr>
                        <a:t>Thread</a:t>
                      </a:r>
                      <a:endParaRPr lang="en-US" sz="2400">
                        <a:effectLst/>
                      </a:endParaRPr>
                    </a:p>
                  </a:txBody>
                  <a:tcPr anchor="ctr"/>
                </a:tc>
                <a:tc>
                  <a:txBody>
                    <a:bodyPr/>
                    <a:lstStyle/>
                    <a:p>
                      <a:pPr>
                        <a:buNone/>
                      </a:pPr>
                      <a:r>
                        <a:rPr lang="en-US" sz="2400">
                          <a:effectLst/>
                        </a:rPr>
                        <a:t>an execution context with shared state</a:t>
                      </a:r>
                    </a:p>
                  </a:txBody>
                  <a:tcPr anchor="ctr"/>
                </a:tc>
                <a:extLst>
                  <a:ext uri="{0D108BD9-81ED-4DB2-BD59-A6C34878D82A}">
                    <a16:rowId xmlns:a16="http://schemas.microsoft.com/office/drawing/2014/main" val="4137323294"/>
                  </a:ext>
                </a:extLst>
              </a:tr>
              <a:tr h="0">
                <a:tc>
                  <a:txBody>
                    <a:bodyPr/>
                    <a:lstStyle/>
                    <a:p>
                      <a:pPr>
                        <a:buNone/>
                      </a:pPr>
                      <a:r>
                        <a:rPr lang="en-US" sz="2400" b="1">
                          <a:effectLst/>
                        </a:rPr>
                        <a:t>Run</a:t>
                      </a:r>
                      <a:endParaRPr lang="en-US" sz="2400">
                        <a:effectLst/>
                      </a:endParaRPr>
                    </a:p>
                  </a:txBody>
                  <a:tcPr anchor="ctr"/>
                </a:tc>
                <a:tc>
                  <a:txBody>
                    <a:bodyPr/>
                    <a:lstStyle/>
                    <a:p>
                      <a:pPr>
                        <a:buNone/>
                      </a:pPr>
                      <a:r>
                        <a:rPr lang="en-US" sz="2400">
                          <a:effectLst/>
                        </a:rPr>
                        <a:t>one execution of the agent</a:t>
                      </a:r>
                    </a:p>
                  </a:txBody>
                  <a:tcPr anchor="ctr"/>
                </a:tc>
                <a:extLst>
                  <a:ext uri="{0D108BD9-81ED-4DB2-BD59-A6C34878D82A}">
                    <a16:rowId xmlns:a16="http://schemas.microsoft.com/office/drawing/2014/main" val="2197338636"/>
                  </a:ext>
                </a:extLst>
              </a:tr>
              <a:tr h="0">
                <a:tc>
                  <a:txBody>
                    <a:bodyPr/>
                    <a:lstStyle/>
                    <a:p>
                      <a:pPr>
                        <a:buNone/>
                      </a:pPr>
                      <a:r>
                        <a:rPr lang="en-US" sz="2400" b="1">
                          <a:effectLst/>
                        </a:rPr>
                        <a:t>Store</a:t>
                      </a:r>
                      <a:endParaRPr lang="en-US" sz="2400">
                        <a:effectLst/>
                      </a:endParaRPr>
                    </a:p>
                  </a:txBody>
                  <a:tcPr anchor="ctr"/>
                </a:tc>
                <a:tc>
                  <a:txBody>
                    <a:bodyPr/>
                    <a:lstStyle/>
                    <a:p>
                      <a:pPr>
                        <a:buNone/>
                      </a:pPr>
                      <a:r>
                        <a:rPr lang="en-US" sz="2400">
                          <a:effectLst/>
                        </a:rPr>
                        <a:t>persistent key‑value memory</a:t>
                      </a:r>
                    </a:p>
                  </a:txBody>
                  <a:tcPr anchor="ctr"/>
                </a:tc>
                <a:extLst>
                  <a:ext uri="{0D108BD9-81ED-4DB2-BD59-A6C34878D82A}">
                    <a16:rowId xmlns:a16="http://schemas.microsoft.com/office/drawing/2014/main" val="3121572507"/>
                  </a:ext>
                </a:extLst>
              </a:tr>
            </a:tbl>
          </a:graphicData>
        </a:graphic>
      </p:graphicFrame>
    </p:spTree>
    <p:extLst>
      <p:ext uri="{BB962C8B-B14F-4D97-AF65-F5344CB8AC3E}">
        <p14:creationId xmlns:p14="http://schemas.microsoft.com/office/powerpoint/2010/main" val="388231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5A8D-1DDC-481A-3A68-EF5316DDB74B}"/>
              </a:ext>
            </a:extLst>
          </p:cNvPr>
          <p:cNvSpPr>
            <a:spLocks noGrp="1"/>
          </p:cNvSpPr>
          <p:nvPr>
            <p:ph type="title"/>
          </p:nvPr>
        </p:nvSpPr>
        <p:spPr/>
        <p:txBody>
          <a:bodyPr/>
          <a:lstStyle/>
          <a:p>
            <a:r>
              <a:rPr lang="en-US"/>
              <a:t>Agent Server: Assistant</a:t>
            </a:r>
          </a:p>
        </p:txBody>
      </p:sp>
      <p:sp>
        <p:nvSpPr>
          <p:cNvPr id="3" name="Content Placeholder 2">
            <a:extLst>
              <a:ext uri="{FF2B5EF4-FFF2-40B4-BE49-F238E27FC236}">
                <a16:creationId xmlns:a16="http://schemas.microsoft.com/office/drawing/2014/main" id="{DFDC5A91-C721-3D92-49CA-8740FAA0CE3E}"/>
              </a:ext>
            </a:extLst>
          </p:cNvPr>
          <p:cNvSpPr>
            <a:spLocks noGrp="1"/>
          </p:cNvSpPr>
          <p:nvPr>
            <p:ph idx="1"/>
          </p:nvPr>
        </p:nvSpPr>
        <p:spPr>
          <a:xfrm>
            <a:off x="288064" y="885687"/>
            <a:ext cx="11699095" cy="2612887"/>
          </a:xfrm>
        </p:spPr>
        <p:txBody>
          <a:bodyPr>
            <a:normAutofit/>
          </a:bodyPr>
          <a:lstStyle/>
          <a:p>
            <a:pPr fontAlgn="t"/>
            <a:r>
              <a:rPr lang="en-US" sz="3200" i="1"/>
              <a:t>Assistants</a:t>
            </a:r>
            <a:r>
              <a:rPr lang="en-US" sz="3200"/>
              <a:t> are an </a:t>
            </a:r>
            <a:r>
              <a:rPr lang="en-US" sz="3200">
                <a:hlinkClick r:id="rId3"/>
              </a:rPr>
              <a:t>Agent Server</a:t>
            </a:r>
            <a:r>
              <a:rPr lang="en-US" sz="3200"/>
              <a:t> concept that allow you to manage configurations (e.g., prompts, LLM selection, tools) separately from your graph’s core logic. </a:t>
            </a:r>
          </a:p>
          <a:p>
            <a:pPr fontAlgn="t"/>
            <a:r>
              <a:rPr lang="en-US" sz="3200"/>
              <a:t>This enables you to create multiple, specialized versions of the same graph architecture with different behavior at runtime. </a:t>
            </a:r>
          </a:p>
        </p:txBody>
      </p:sp>
      <p:pic>
        <p:nvPicPr>
          <p:cNvPr id="4" name="Picture 3" descr="assistant versions">
            <a:extLst>
              <a:ext uri="{FF2B5EF4-FFF2-40B4-BE49-F238E27FC236}">
                <a16:creationId xmlns:a16="http://schemas.microsoft.com/office/drawing/2014/main" id="{3BEBFF7A-09F8-2A62-151F-6275036C77F6}"/>
              </a:ext>
            </a:extLst>
          </p:cNvPr>
          <p:cNvPicPr>
            <a:picLocks noChangeAspect="1"/>
          </p:cNvPicPr>
          <p:nvPr/>
        </p:nvPicPr>
        <p:blipFill>
          <a:blip r:embed="rId4"/>
          <a:stretch>
            <a:fillRect/>
          </a:stretch>
        </p:blipFill>
        <p:spPr>
          <a:xfrm>
            <a:off x="541014" y="3429000"/>
            <a:ext cx="8575992" cy="3253611"/>
          </a:xfrm>
          <a:prstGeom prst="rect">
            <a:avLst/>
          </a:prstGeom>
        </p:spPr>
      </p:pic>
    </p:spTree>
    <p:extLst>
      <p:ext uri="{BB962C8B-B14F-4D97-AF65-F5344CB8AC3E}">
        <p14:creationId xmlns:p14="http://schemas.microsoft.com/office/powerpoint/2010/main" val="201358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3BB76-7E4F-1222-65A5-11180D8F09E7}"/>
              </a:ext>
            </a:extLst>
          </p:cNvPr>
          <p:cNvSpPr>
            <a:spLocks noGrp="1"/>
          </p:cNvSpPr>
          <p:nvPr>
            <p:ph type="title"/>
          </p:nvPr>
        </p:nvSpPr>
        <p:spPr/>
        <p:txBody>
          <a:bodyPr/>
          <a:lstStyle/>
          <a:p>
            <a:r>
              <a:rPr lang="en-US"/>
              <a:t>Assistant</a:t>
            </a:r>
          </a:p>
        </p:txBody>
      </p:sp>
      <p:sp>
        <p:nvSpPr>
          <p:cNvPr id="3" name="Content Placeholder 2">
            <a:extLst>
              <a:ext uri="{FF2B5EF4-FFF2-40B4-BE49-F238E27FC236}">
                <a16:creationId xmlns:a16="http://schemas.microsoft.com/office/drawing/2014/main" id="{1DAB0FAC-9768-E452-E9FB-51343F4F0BE5}"/>
              </a:ext>
            </a:extLst>
          </p:cNvPr>
          <p:cNvSpPr>
            <a:spLocks noGrp="1"/>
          </p:cNvSpPr>
          <p:nvPr>
            <p:ph idx="1"/>
          </p:nvPr>
        </p:nvSpPr>
        <p:spPr/>
        <p:txBody>
          <a:bodyPr>
            <a:normAutofit/>
          </a:bodyPr>
          <a:lstStyle/>
          <a:p>
            <a:r>
              <a:rPr lang="en-US" sz="3200"/>
              <a:t>An assistant is just an </a:t>
            </a:r>
            <a:r>
              <a:rPr lang="en-US" sz="3200" i="1"/>
              <a:t>instance</a:t>
            </a:r>
            <a:r>
              <a:rPr lang="en-US" sz="3200"/>
              <a:t> of a graph with a specific configuration.  </a:t>
            </a:r>
          </a:p>
          <a:p>
            <a:r>
              <a:rPr lang="en-US" sz="3200"/>
              <a:t>Multiple assistants can reference the same graph but can contain different configurations (e.g. prompts, models, tools). </a:t>
            </a:r>
          </a:p>
        </p:txBody>
      </p:sp>
      <p:sp>
        <p:nvSpPr>
          <p:cNvPr id="6" name="TextBox 5">
            <a:extLst>
              <a:ext uri="{FF2B5EF4-FFF2-40B4-BE49-F238E27FC236}">
                <a16:creationId xmlns:a16="http://schemas.microsoft.com/office/drawing/2014/main" id="{C3144584-AB20-32E9-46FE-A32673B0DBCC}"/>
              </a:ext>
            </a:extLst>
          </p:cNvPr>
          <p:cNvSpPr txBox="1"/>
          <p:nvPr/>
        </p:nvSpPr>
        <p:spPr>
          <a:xfrm>
            <a:off x="533872" y="2833744"/>
            <a:ext cx="10552517" cy="36933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a:latin typeface="Consolas" panose="020B0609020204030204" pitchFamily="49" charset="0"/>
              </a:rPr>
              <a:t>assistant = await </a:t>
            </a:r>
            <a:r>
              <a:rPr lang="en-US" err="1">
                <a:latin typeface="Consolas" panose="020B0609020204030204" pitchFamily="49" charset="0"/>
              </a:rPr>
              <a:t>client.assistants.create</a:t>
            </a:r>
            <a:r>
              <a:rPr lang="en-US">
                <a:latin typeface="Consolas" panose="020B0609020204030204" pitchFamily="49" charset="0"/>
              </a:rPr>
              <a:t>(</a:t>
            </a:r>
          </a:p>
          <a:p>
            <a:pPr>
              <a:buNone/>
            </a:pPr>
            <a:r>
              <a:rPr lang="en-US">
                <a:latin typeface="Consolas" panose="020B0609020204030204" pitchFamily="49" charset="0"/>
              </a:rPr>
              <a:t>        “</a:t>
            </a:r>
            <a:r>
              <a:rPr lang="en-US" err="1">
                <a:latin typeface="Consolas" panose="020B0609020204030204" pitchFamily="49" charset="0"/>
              </a:rPr>
              <a:t>writing_agent</a:t>
            </a:r>
            <a:r>
              <a:rPr lang="en-US">
                <a:latin typeface="Consolas" panose="020B0609020204030204" pitchFamily="49" charset="0"/>
              </a:rPr>
              <a:t>",</a:t>
            </a:r>
          </a:p>
          <a:p>
            <a:pPr>
              <a:buNone/>
            </a:pPr>
            <a:r>
              <a:rPr lang="en-US">
                <a:latin typeface="Consolas" panose="020B0609020204030204" pitchFamily="49" charset="0"/>
              </a:rPr>
              <a:t>        context={"</a:t>
            </a:r>
            <a:r>
              <a:rPr lang="en-US" err="1">
                <a:latin typeface="Consolas" panose="020B0609020204030204" pitchFamily="49" charset="0"/>
              </a:rPr>
              <a:t>model_name</a:t>
            </a:r>
            <a:r>
              <a:rPr lang="en-US">
                <a:latin typeface="Consolas" panose="020B0609020204030204" pitchFamily="49" charset="0"/>
              </a:rPr>
              <a:t>": "</a:t>
            </a:r>
            <a:r>
              <a:rPr lang="en-US" err="1">
                <a:latin typeface="Consolas" panose="020B0609020204030204" pitchFamily="49" charset="0"/>
              </a:rPr>
              <a:t>openai</a:t>
            </a:r>
            <a:r>
              <a:rPr lang="en-US">
                <a:latin typeface="Consolas" panose="020B0609020204030204" pitchFamily="49" charset="0"/>
              </a:rPr>
              <a:t>"},</a:t>
            </a:r>
          </a:p>
          <a:p>
            <a:pPr>
              <a:buNone/>
            </a:pPr>
            <a:r>
              <a:rPr lang="en-US">
                <a:latin typeface="Consolas" panose="020B0609020204030204" pitchFamily="49" charset="0"/>
              </a:rPr>
              <a:t>        name=“Blog Writer"</a:t>
            </a:r>
          </a:p>
          <a:p>
            <a:pPr>
              <a:buNone/>
            </a:pPr>
            <a:r>
              <a:rPr lang="en-US">
                <a:latin typeface="Consolas" panose="020B0609020204030204" pitchFamily="49" charset="0"/>
              </a:rPr>
              <a:t>    )</a:t>
            </a:r>
          </a:p>
          <a:p>
            <a:pPr>
              <a:buNone/>
            </a:pPr>
            <a:endParaRPr lang="en-US">
              <a:latin typeface="Consolas" panose="020B0609020204030204" pitchFamily="49" charset="0"/>
            </a:endParaRPr>
          </a:p>
          <a:p>
            <a:r>
              <a:rPr lang="en-US">
                <a:latin typeface="Consolas" panose="020B0609020204030204" pitchFamily="49" charset="0"/>
              </a:rPr>
              <a:t>    result = await </a:t>
            </a:r>
            <a:r>
              <a:rPr lang="en-US" err="1">
                <a:latin typeface="Consolas" panose="020B0609020204030204" pitchFamily="49" charset="0"/>
              </a:rPr>
              <a:t>client.runs.wait</a:t>
            </a:r>
            <a:r>
              <a:rPr lang="en-US">
                <a:latin typeface="Consolas" panose="020B0609020204030204" pitchFamily="49" charset="0"/>
              </a:rPr>
              <a:t>(</a:t>
            </a:r>
          </a:p>
          <a:p>
            <a:r>
              <a:rPr lang="en-US">
                <a:latin typeface="Consolas" panose="020B0609020204030204" pitchFamily="49" charset="0"/>
              </a:rPr>
              <a:t>        thread["</a:t>
            </a:r>
            <a:r>
              <a:rPr lang="en-US" err="1">
                <a:latin typeface="Consolas" panose="020B0609020204030204" pitchFamily="49" charset="0"/>
              </a:rPr>
              <a:t>thread_id</a:t>
            </a:r>
            <a:r>
              <a:rPr lang="en-US">
                <a:latin typeface="Consolas" panose="020B0609020204030204" pitchFamily="49" charset="0"/>
              </a:rPr>
              <a:t>"],</a:t>
            </a:r>
          </a:p>
          <a:p>
            <a:r>
              <a:rPr lang="en-US">
                <a:latin typeface="Consolas" panose="020B0609020204030204" pitchFamily="49" charset="0"/>
              </a:rPr>
              <a:t>        assistant["</a:t>
            </a:r>
            <a:r>
              <a:rPr lang="en-US" err="1">
                <a:latin typeface="Consolas" panose="020B0609020204030204" pitchFamily="49" charset="0"/>
              </a:rPr>
              <a:t>assistant_id</a:t>
            </a:r>
            <a:r>
              <a:rPr lang="en-US">
                <a:latin typeface="Consolas" panose="020B0609020204030204" pitchFamily="49" charset="0"/>
              </a:rPr>
              <a:t>"],</a:t>
            </a:r>
          </a:p>
          <a:p>
            <a:r>
              <a:rPr lang="en-US">
                <a:latin typeface="Consolas" panose="020B0609020204030204" pitchFamily="49" charset="0"/>
              </a:rPr>
              <a:t>        input={</a:t>
            </a:r>
          </a:p>
          <a:p>
            <a:r>
              <a:rPr lang="en-US">
                <a:latin typeface="Consolas" panose="020B0609020204030204" pitchFamily="49" charset="0"/>
              </a:rPr>
              <a:t>            "messages": [ ... ]</a:t>
            </a:r>
          </a:p>
          <a:p>
            <a:r>
              <a:rPr lang="en-US">
                <a:latin typeface="Consolas" panose="020B0609020204030204" pitchFamily="49" charset="0"/>
              </a:rPr>
              <a:t>        },</a:t>
            </a:r>
          </a:p>
          <a:p>
            <a:r>
              <a:rPr lang="en-US">
                <a:latin typeface="Consolas" panose="020B0609020204030204" pitchFamily="49" charset="0"/>
              </a:rPr>
              <a:t>    )</a:t>
            </a:r>
          </a:p>
        </p:txBody>
      </p:sp>
    </p:spTree>
    <p:extLst>
      <p:ext uri="{BB962C8B-B14F-4D97-AF65-F5344CB8AC3E}">
        <p14:creationId xmlns:p14="http://schemas.microsoft.com/office/powerpoint/2010/main" val="12780184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B1E5-9148-A329-199D-F9A83C9D51DE}"/>
              </a:ext>
            </a:extLst>
          </p:cNvPr>
          <p:cNvSpPr>
            <a:spLocks noGrp="1"/>
          </p:cNvSpPr>
          <p:nvPr>
            <p:ph type="title"/>
          </p:nvPr>
        </p:nvSpPr>
        <p:spPr/>
        <p:txBody>
          <a:bodyPr/>
          <a:lstStyle/>
          <a:p>
            <a:r>
              <a:rPr lang="en-US" dirty="0" err="1"/>
              <a:t>Langgraph</a:t>
            </a:r>
            <a:r>
              <a:rPr lang="en-US" dirty="0"/>
              <a:t> store</a:t>
            </a:r>
          </a:p>
        </p:txBody>
      </p:sp>
      <p:sp>
        <p:nvSpPr>
          <p:cNvPr id="3" name="Content Placeholder 2">
            <a:extLst>
              <a:ext uri="{FF2B5EF4-FFF2-40B4-BE49-F238E27FC236}">
                <a16:creationId xmlns:a16="http://schemas.microsoft.com/office/drawing/2014/main" id="{4113DBB9-0702-6B1C-6047-458097F0427E}"/>
              </a:ext>
            </a:extLst>
          </p:cNvPr>
          <p:cNvSpPr>
            <a:spLocks noGrp="1"/>
          </p:cNvSpPr>
          <p:nvPr>
            <p:ph idx="1"/>
          </p:nvPr>
        </p:nvSpPr>
        <p:spPr/>
        <p:txBody>
          <a:bodyPr>
            <a:normAutofit/>
          </a:bodyPr>
          <a:lstStyle/>
          <a:p>
            <a:r>
              <a:rPr lang="en-US" sz="3200" b="1" dirty="0"/>
              <a:t>Store</a:t>
            </a:r>
            <a:r>
              <a:rPr lang="en-US" sz="3200" dirty="0"/>
              <a:t> is the </a:t>
            </a:r>
            <a:r>
              <a:rPr lang="en-US" sz="3200" b="1" dirty="0"/>
              <a:t>long-term memory layer</a:t>
            </a:r>
            <a:r>
              <a:rPr lang="en-US" sz="3200" dirty="0"/>
              <a:t>: a persistent key-{</a:t>
            </a:r>
            <a:r>
              <a:rPr lang="en-US" sz="3200" dirty="0" err="1"/>
              <a:t>value|document</a:t>
            </a:r>
            <a:r>
              <a:rPr lang="en-US" sz="3200" dirty="0"/>
              <a:t>} store that survives across threads and conversations, unlike thread state/checkpoints which are scoped to runs or threads. </a:t>
            </a:r>
          </a:p>
          <a:p>
            <a:r>
              <a:rPr lang="en-US" sz="3200" dirty="0"/>
              <a:t>Agent Server stores long-term memory in </a:t>
            </a:r>
            <a:r>
              <a:rPr lang="en-US" sz="3200" b="1" dirty="0"/>
              <a:t>PostgreSQL by default</a:t>
            </a:r>
            <a:r>
              <a:rPr lang="en-US" sz="3200" dirty="0"/>
              <a:t> and can use a custom store implementation instead.</a:t>
            </a:r>
          </a:p>
          <a:p>
            <a:r>
              <a:rPr lang="en-US" sz="3200" dirty="0"/>
              <a:t>When you deploy on Agent Server, the server </a:t>
            </a:r>
            <a:r>
              <a:rPr lang="en-US" sz="3200" b="1" dirty="0"/>
              <a:t>injects</a:t>
            </a:r>
            <a:r>
              <a:rPr lang="en-US" sz="3200" dirty="0"/>
              <a:t> the configured store into graph execution.  Completely decoupled from the code.</a:t>
            </a:r>
          </a:p>
          <a:p>
            <a:r>
              <a:rPr lang="en-US" sz="3200" b="1" dirty="0">
                <a:solidFill>
                  <a:srgbClr val="FFFF00"/>
                </a:solidFill>
              </a:rPr>
              <a:t>Do not configure the store in your graph code</a:t>
            </a:r>
            <a:r>
              <a:rPr lang="en-US" sz="3200" dirty="0">
                <a:solidFill>
                  <a:srgbClr val="FFFF00"/>
                </a:solidFill>
              </a:rPr>
              <a:t> </a:t>
            </a:r>
            <a:r>
              <a:rPr lang="en-US" sz="3200" dirty="0"/>
              <a:t>for Agent Server, because the server manages it for runtime operations.</a:t>
            </a:r>
          </a:p>
        </p:txBody>
      </p:sp>
    </p:spTree>
    <p:extLst>
      <p:ext uri="{BB962C8B-B14F-4D97-AF65-F5344CB8AC3E}">
        <p14:creationId xmlns:p14="http://schemas.microsoft.com/office/powerpoint/2010/main" val="11324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320D2-C6F6-E7EE-FD91-7DD0C744D1AF}"/>
              </a:ext>
            </a:extLst>
          </p:cNvPr>
          <p:cNvSpPr>
            <a:spLocks noGrp="1"/>
          </p:cNvSpPr>
          <p:nvPr>
            <p:ph type="title"/>
          </p:nvPr>
        </p:nvSpPr>
        <p:spPr/>
        <p:txBody>
          <a:bodyPr/>
          <a:lstStyle/>
          <a:p>
            <a:r>
              <a:rPr lang="en-US" dirty="0" err="1"/>
              <a:t>Langgraph</a:t>
            </a:r>
            <a:r>
              <a:rPr lang="en-US" dirty="0"/>
              <a:t> store</a:t>
            </a:r>
          </a:p>
        </p:txBody>
      </p:sp>
      <p:sp>
        <p:nvSpPr>
          <p:cNvPr id="3" name="Content Placeholder 2">
            <a:extLst>
              <a:ext uri="{FF2B5EF4-FFF2-40B4-BE49-F238E27FC236}">
                <a16:creationId xmlns:a16="http://schemas.microsoft.com/office/drawing/2014/main" id="{FD0E8EAA-5F2B-99DF-419F-36100627D002}"/>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noAutofit/>
          </a:bodyPr>
          <a:lstStyle/>
          <a:p>
            <a:pPr marL="0" indent="0">
              <a:lnSpc>
                <a:spcPct val="100000"/>
              </a:lnSpc>
              <a:spcBef>
                <a:spcPts val="200"/>
              </a:spcBef>
              <a:buNone/>
            </a:pPr>
            <a:r>
              <a:rPr lang="en-US" sz="1800">
                <a:latin typeface="Consolas" panose="020B0609020204030204" pitchFamily="49" charset="0"/>
              </a:rPr>
              <a:t># Writing to store    </a:t>
            </a:r>
          </a:p>
          <a:p>
            <a:pPr marL="0" indent="0">
              <a:lnSpc>
                <a:spcPct val="100000"/>
              </a:lnSpc>
              <a:spcBef>
                <a:spcPts val="200"/>
              </a:spcBef>
              <a:buNone/>
            </a:pPr>
            <a:r>
              <a:rPr lang="en-US" sz="1800">
                <a:latin typeface="Consolas" panose="020B0609020204030204" pitchFamily="49" charset="0"/>
              </a:rPr>
              <a:t>namespace = ["users", "user123"]</a:t>
            </a:r>
          </a:p>
          <a:p>
            <a:pPr marL="0" indent="0">
              <a:lnSpc>
                <a:spcPct val="100000"/>
              </a:lnSpc>
              <a:spcBef>
                <a:spcPts val="200"/>
              </a:spcBef>
              <a:buNone/>
            </a:pPr>
            <a:r>
              <a:rPr lang="en-US" sz="1800">
                <a:latin typeface="Consolas" panose="020B0609020204030204" pitchFamily="49" charset="0"/>
              </a:rPr>
              <a:t>key = "profile“</a:t>
            </a:r>
          </a:p>
          <a:p>
            <a:pPr marL="0" indent="0">
              <a:lnSpc>
                <a:spcPct val="100000"/>
              </a:lnSpc>
              <a:spcBef>
                <a:spcPts val="200"/>
              </a:spcBef>
              <a:buNone/>
            </a:pPr>
            <a:endParaRPr lang="en-US" sz="1800">
              <a:latin typeface="Consolas" panose="020B0609020204030204" pitchFamily="49" charset="0"/>
            </a:endParaRPr>
          </a:p>
          <a:p>
            <a:pPr marL="0" indent="0">
              <a:lnSpc>
                <a:spcPct val="100000"/>
              </a:lnSpc>
              <a:spcBef>
                <a:spcPts val="200"/>
              </a:spcBef>
              <a:buNone/>
            </a:pPr>
            <a:r>
              <a:rPr lang="en-US" sz="1800">
                <a:latin typeface="Consolas" panose="020B0609020204030204" pitchFamily="49" charset="0"/>
              </a:rPr>
              <a:t># Put / </a:t>
            </a:r>
            <a:r>
              <a:rPr lang="en-US" sz="1800" err="1">
                <a:latin typeface="Consolas" panose="020B0609020204030204" pitchFamily="49" charset="0"/>
              </a:rPr>
              <a:t>upsert</a:t>
            </a:r>
            <a:r>
              <a:rPr lang="en-US" sz="1800">
                <a:latin typeface="Consolas" panose="020B0609020204030204" pitchFamily="49" charset="0"/>
              </a:rPr>
              <a:t> a document</a:t>
            </a:r>
          </a:p>
          <a:p>
            <a:pPr marL="0" indent="0">
              <a:lnSpc>
                <a:spcPct val="100000"/>
              </a:lnSpc>
              <a:spcBef>
                <a:spcPts val="200"/>
              </a:spcBef>
              <a:buNone/>
            </a:pPr>
            <a:r>
              <a:rPr lang="en-US" sz="1800">
                <a:latin typeface="Consolas" panose="020B0609020204030204" pitchFamily="49" charset="0"/>
              </a:rPr>
              <a:t>await </a:t>
            </a:r>
            <a:r>
              <a:rPr lang="en-US" sz="1800" err="1">
                <a:latin typeface="Consolas" panose="020B0609020204030204" pitchFamily="49" charset="0"/>
              </a:rPr>
              <a:t>client.store.put_item</a:t>
            </a:r>
            <a:r>
              <a:rPr lang="en-US" sz="1800">
                <a:latin typeface="Consolas" panose="020B0609020204030204" pitchFamily="49" charset="0"/>
              </a:rPr>
              <a:t>(</a:t>
            </a:r>
          </a:p>
          <a:p>
            <a:pPr marL="0" indent="0">
              <a:lnSpc>
                <a:spcPct val="100000"/>
              </a:lnSpc>
              <a:spcBef>
                <a:spcPts val="200"/>
              </a:spcBef>
              <a:buNone/>
            </a:pPr>
            <a:r>
              <a:rPr lang="en-US" sz="1800">
                <a:latin typeface="Consolas" panose="020B0609020204030204" pitchFamily="49" charset="0"/>
              </a:rPr>
              <a:t>     namespace,</a:t>
            </a:r>
          </a:p>
          <a:p>
            <a:pPr marL="0" indent="0">
              <a:lnSpc>
                <a:spcPct val="100000"/>
              </a:lnSpc>
              <a:spcBef>
                <a:spcPts val="200"/>
              </a:spcBef>
              <a:buNone/>
            </a:pPr>
            <a:r>
              <a:rPr lang="en-US" sz="1800">
                <a:latin typeface="Consolas" panose="020B0609020204030204" pitchFamily="49" charset="0"/>
              </a:rPr>
              <a:t>     key,</a:t>
            </a:r>
          </a:p>
          <a:p>
            <a:pPr marL="0" indent="0">
              <a:lnSpc>
                <a:spcPct val="100000"/>
              </a:lnSpc>
              <a:spcBef>
                <a:spcPts val="200"/>
              </a:spcBef>
              <a:buNone/>
            </a:pPr>
            <a:r>
              <a:rPr lang="en-US" sz="1800">
                <a:latin typeface="Consolas" panose="020B0609020204030204" pitchFamily="49" charset="0"/>
              </a:rPr>
              <a:t>     {</a:t>
            </a:r>
          </a:p>
          <a:p>
            <a:pPr marL="0" indent="0">
              <a:lnSpc>
                <a:spcPct val="100000"/>
              </a:lnSpc>
              <a:spcBef>
                <a:spcPts val="200"/>
              </a:spcBef>
              <a:buNone/>
            </a:pPr>
            <a:r>
              <a:rPr lang="en-US" sz="1800">
                <a:latin typeface="Consolas" panose="020B0609020204030204" pitchFamily="49" charset="0"/>
              </a:rPr>
              <a:t>            "name": “Ahmed",</a:t>
            </a:r>
          </a:p>
          <a:p>
            <a:pPr marL="0" indent="0">
              <a:lnSpc>
                <a:spcPct val="100000"/>
              </a:lnSpc>
              <a:spcBef>
                <a:spcPts val="200"/>
              </a:spcBef>
              <a:buNone/>
            </a:pPr>
            <a:r>
              <a:rPr lang="en-US" sz="1800">
                <a:latin typeface="Consolas" panose="020B0609020204030204" pitchFamily="49" charset="0"/>
              </a:rPr>
              <a:t>            "preferences": {</a:t>
            </a:r>
          </a:p>
          <a:p>
            <a:pPr marL="0" indent="0">
              <a:lnSpc>
                <a:spcPct val="100000"/>
              </a:lnSpc>
              <a:spcBef>
                <a:spcPts val="200"/>
              </a:spcBef>
              <a:buNone/>
            </a:pPr>
            <a:r>
              <a:rPr lang="en-US" sz="1800">
                <a:latin typeface="Consolas" panose="020B0609020204030204" pitchFamily="49" charset="0"/>
              </a:rPr>
              <a:t>                "tone": "concise",</a:t>
            </a:r>
          </a:p>
          <a:p>
            <a:pPr marL="0" indent="0">
              <a:lnSpc>
                <a:spcPct val="100000"/>
              </a:lnSpc>
              <a:spcBef>
                <a:spcPts val="200"/>
              </a:spcBef>
              <a:buNone/>
            </a:pPr>
            <a:r>
              <a:rPr lang="en-US" sz="1800">
                <a:latin typeface="Consolas" panose="020B0609020204030204" pitchFamily="49" charset="0"/>
              </a:rPr>
              <a:t>                "language": "</a:t>
            </a:r>
            <a:r>
              <a:rPr lang="en-US" sz="1800" err="1">
                <a:latin typeface="Consolas" panose="020B0609020204030204" pitchFamily="49" charset="0"/>
              </a:rPr>
              <a:t>en</a:t>
            </a:r>
            <a:r>
              <a:rPr lang="en-US" sz="1800">
                <a:latin typeface="Consolas" panose="020B0609020204030204" pitchFamily="49" charset="0"/>
              </a:rPr>
              <a:t>"</a:t>
            </a:r>
          </a:p>
          <a:p>
            <a:pPr marL="0" indent="0">
              <a:lnSpc>
                <a:spcPct val="100000"/>
              </a:lnSpc>
              <a:spcBef>
                <a:spcPts val="200"/>
              </a:spcBef>
              <a:buNone/>
            </a:pPr>
            <a:r>
              <a:rPr lang="en-US" sz="1800">
                <a:latin typeface="Consolas" panose="020B0609020204030204" pitchFamily="49" charset="0"/>
              </a:rPr>
              <a:t>            }</a:t>
            </a:r>
          </a:p>
          <a:p>
            <a:pPr marL="0" indent="0">
              <a:lnSpc>
                <a:spcPct val="100000"/>
              </a:lnSpc>
              <a:spcBef>
                <a:spcPts val="200"/>
              </a:spcBef>
              <a:buNone/>
            </a:pPr>
            <a:r>
              <a:rPr lang="en-US" sz="1800">
                <a:latin typeface="Consolas" panose="020B0609020204030204" pitchFamily="49" charset="0"/>
              </a:rPr>
              <a:t>      }</a:t>
            </a:r>
          </a:p>
          <a:p>
            <a:pPr marL="0" indent="0">
              <a:lnSpc>
                <a:spcPct val="100000"/>
              </a:lnSpc>
              <a:spcBef>
                <a:spcPts val="200"/>
              </a:spcBef>
              <a:buNone/>
            </a:pPr>
            <a:r>
              <a:rPr lang="en-US" sz="1800">
                <a:latin typeface="Consolas" panose="020B0609020204030204" pitchFamily="49" charset="0"/>
              </a:rPr>
              <a:t>)</a:t>
            </a:r>
          </a:p>
          <a:p>
            <a:pPr marL="0" indent="0">
              <a:buNone/>
            </a:pPr>
            <a:endParaRPr lang="en-US" sz="1800">
              <a:latin typeface="Consolas" panose="020B0609020204030204" pitchFamily="49" charset="0"/>
            </a:endParaRPr>
          </a:p>
        </p:txBody>
      </p:sp>
      <p:sp>
        <p:nvSpPr>
          <p:cNvPr id="5" name="TextBox 4">
            <a:extLst>
              <a:ext uri="{FF2B5EF4-FFF2-40B4-BE49-F238E27FC236}">
                <a16:creationId xmlns:a16="http://schemas.microsoft.com/office/drawing/2014/main" id="{47347B65-4ACC-02D0-AF0A-C459C162BC62}"/>
              </a:ext>
            </a:extLst>
          </p:cNvPr>
          <p:cNvSpPr txBox="1"/>
          <p:nvPr/>
        </p:nvSpPr>
        <p:spPr>
          <a:xfrm>
            <a:off x="4969564" y="1130852"/>
            <a:ext cx="6982078" cy="563231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None/>
            </a:pPr>
            <a:r>
              <a:rPr lang="en-US" sz="1800">
                <a:latin typeface="Consolas" panose="020B0609020204030204" pitchFamily="49" charset="0"/>
              </a:rPr>
              <a:t>    # Read it back</a:t>
            </a:r>
          </a:p>
          <a:p>
            <a:pPr marL="0" indent="0">
              <a:buNone/>
            </a:pPr>
            <a:endParaRPr lang="en-US" sz="1800">
              <a:latin typeface="Consolas" panose="020B0609020204030204" pitchFamily="49" charset="0"/>
            </a:endParaRPr>
          </a:p>
          <a:p>
            <a:pPr marL="0" indent="0">
              <a:buNone/>
            </a:pPr>
            <a:r>
              <a:rPr lang="en-US" sz="1800">
                <a:latin typeface="Consolas" panose="020B0609020204030204" pitchFamily="49" charset="0"/>
              </a:rPr>
              <a:t>    item = await </a:t>
            </a:r>
            <a:r>
              <a:rPr lang="en-US" sz="1800" err="1">
                <a:latin typeface="Consolas" panose="020B0609020204030204" pitchFamily="49" charset="0"/>
              </a:rPr>
              <a:t>client.store.get_item</a:t>
            </a:r>
            <a:r>
              <a:rPr lang="en-US" sz="1800">
                <a:latin typeface="Consolas" panose="020B0609020204030204" pitchFamily="49" charset="0"/>
              </a:rPr>
              <a:t>(namespace, key)</a:t>
            </a:r>
          </a:p>
          <a:p>
            <a:pPr marL="0" indent="0">
              <a:buNone/>
            </a:pPr>
            <a:r>
              <a:rPr lang="en-US" sz="1800">
                <a:latin typeface="Consolas" panose="020B0609020204030204" pitchFamily="49" charset="0"/>
              </a:rPr>
              <a:t>    print("GET:", item)</a:t>
            </a:r>
          </a:p>
          <a:p>
            <a:pPr marL="0" indent="0">
              <a:buNone/>
            </a:pPr>
            <a:br>
              <a:rPr lang="en-US" sz="1800">
                <a:latin typeface="Consolas" panose="020B0609020204030204" pitchFamily="49" charset="0"/>
              </a:rPr>
            </a:br>
            <a:endParaRPr lang="en-US" sz="1800">
              <a:latin typeface="Consolas" panose="020B0609020204030204" pitchFamily="49" charset="0"/>
            </a:endParaRPr>
          </a:p>
          <a:p>
            <a:pPr marL="0" indent="0">
              <a:buNone/>
            </a:pPr>
            <a:r>
              <a:rPr lang="en-US" sz="1800">
                <a:latin typeface="Consolas" panose="020B0609020204030204" pitchFamily="49" charset="0"/>
              </a:rPr>
              <a:t>    # Search under a namespace prefix</a:t>
            </a:r>
          </a:p>
          <a:p>
            <a:pPr marL="0" indent="0">
              <a:buNone/>
            </a:pPr>
            <a:r>
              <a:rPr lang="en-US" sz="1800">
                <a:latin typeface="Consolas" panose="020B0609020204030204" pitchFamily="49" charset="0"/>
              </a:rPr>
              <a:t>    results = await </a:t>
            </a:r>
            <a:r>
              <a:rPr lang="en-US" sz="1800" err="1">
                <a:latin typeface="Consolas" panose="020B0609020204030204" pitchFamily="49" charset="0"/>
              </a:rPr>
              <a:t>client.store.search_items</a:t>
            </a:r>
            <a:r>
              <a:rPr lang="en-US" sz="1800">
                <a:latin typeface="Consolas" panose="020B0609020204030204" pitchFamily="49" charset="0"/>
              </a:rPr>
              <a:t>(</a:t>
            </a:r>
          </a:p>
          <a:p>
            <a:pPr marL="0" indent="0">
              <a:buNone/>
            </a:pPr>
            <a:r>
              <a:rPr lang="en-US" sz="1800">
                <a:latin typeface="Consolas" panose="020B0609020204030204" pitchFamily="49" charset="0"/>
              </a:rPr>
              <a:t>        ["users"],</a:t>
            </a:r>
          </a:p>
          <a:p>
            <a:pPr marL="0" indent="0">
              <a:buNone/>
            </a:pPr>
            <a:r>
              <a:rPr lang="en-US" sz="1800">
                <a:latin typeface="Consolas" panose="020B0609020204030204" pitchFamily="49" charset="0"/>
              </a:rPr>
              <a:t>        filter={"</a:t>
            </a:r>
            <a:r>
              <a:rPr lang="en-US" sz="1800" err="1">
                <a:latin typeface="Consolas" panose="020B0609020204030204" pitchFamily="49" charset="0"/>
              </a:rPr>
              <a:t>preferences.language</a:t>
            </a:r>
            <a:r>
              <a:rPr lang="en-US" sz="1800">
                <a:latin typeface="Consolas" panose="020B0609020204030204" pitchFamily="49" charset="0"/>
              </a:rPr>
              <a:t>": "</a:t>
            </a:r>
            <a:r>
              <a:rPr lang="en-US" sz="1800" err="1">
                <a:latin typeface="Consolas" panose="020B0609020204030204" pitchFamily="49" charset="0"/>
              </a:rPr>
              <a:t>en</a:t>
            </a:r>
            <a:r>
              <a:rPr lang="en-US" sz="1800">
                <a:latin typeface="Consolas" panose="020B0609020204030204" pitchFamily="49" charset="0"/>
              </a:rPr>
              <a:t>"},</a:t>
            </a:r>
          </a:p>
          <a:p>
            <a:pPr marL="0" indent="0">
              <a:buNone/>
            </a:pPr>
            <a:r>
              <a:rPr lang="en-US" sz="1800">
                <a:latin typeface="Consolas" panose="020B0609020204030204" pitchFamily="49" charset="0"/>
              </a:rPr>
              <a:t>        query="concise tone"</a:t>
            </a:r>
          </a:p>
          <a:p>
            <a:pPr marL="0" indent="0">
              <a:buNone/>
            </a:pPr>
            <a:r>
              <a:rPr lang="en-US" sz="1800">
                <a:latin typeface="Consolas" panose="020B0609020204030204" pitchFamily="49" charset="0"/>
              </a:rPr>
              <a:t>    )</a:t>
            </a:r>
          </a:p>
          <a:p>
            <a:pPr marL="0" indent="0">
              <a:buNone/>
            </a:pPr>
            <a:endParaRPr lang="en-US" sz="1800">
              <a:latin typeface="Consolas" panose="020B0609020204030204" pitchFamily="49" charset="0"/>
            </a:endParaRPr>
          </a:p>
          <a:p>
            <a:pPr marL="0" indent="0">
              <a:buNone/>
            </a:pPr>
            <a:r>
              <a:rPr lang="en-US" sz="1800">
                <a:latin typeface="Consolas" panose="020B0609020204030204" pitchFamily="49" charset="0"/>
              </a:rPr>
              <a:t>    print("SEARCH:", results)</a:t>
            </a:r>
          </a:p>
          <a:p>
            <a:pPr marL="0" indent="0">
              <a:buNone/>
            </a:pPr>
            <a:br>
              <a:rPr lang="en-US" sz="1800">
                <a:latin typeface="Consolas" panose="020B0609020204030204" pitchFamily="49" charset="0"/>
              </a:rPr>
            </a:br>
            <a:endParaRPr lang="en-US" sz="1800">
              <a:latin typeface="Consolas" panose="020B0609020204030204" pitchFamily="49" charset="0"/>
            </a:endParaRPr>
          </a:p>
          <a:p>
            <a:pPr marL="0" indent="0">
              <a:buNone/>
            </a:pPr>
            <a:r>
              <a:rPr lang="en-US" sz="1800">
                <a:latin typeface="Consolas" panose="020B0609020204030204" pitchFamily="49" charset="0"/>
              </a:rPr>
              <a:t>    # List namespaces</a:t>
            </a:r>
          </a:p>
          <a:p>
            <a:pPr marL="0" indent="0">
              <a:buNone/>
            </a:pPr>
            <a:r>
              <a:rPr lang="en-US" sz="1800">
                <a:latin typeface="Consolas" panose="020B0609020204030204" pitchFamily="49" charset="0"/>
              </a:rPr>
              <a:t>    namespaces = await </a:t>
            </a:r>
            <a:r>
              <a:rPr lang="en-US" sz="1800" err="1">
                <a:latin typeface="Consolas" panose="020B0609020204030204" pitchFamily="49" charset="0"/>
              </a:rPr>
              <a:t>client.store.list_namespaces</a:t>
            </a:r>
            <a:r>
              <a:rPr lang="en-US" sz="1800">
                <a:latin typeface="Consolas" panose="020B0609020204030204" pitchFamily="49" charset="0"/>
              </a:rPr>
              <a:t>()</a:t>
            </a:r>
          </a:p>
          <a:p>
            <a:pPr marL="0" indent="0">
              <a:buNone/>
            </a:pPr>
            <a:r>
              <a:rPr lang="en-US" sz="1800">
                <a:latin typeface="Consolas" panose="020B0609020204030204" pitchFamily="49" charset="0"/>
              </a:rPr>
              <a:t>    </a:t>
            </a:r>
          </a:p>
          <a:p>
            <a:pPr marL="0" indent="0">
              <a:buNone/>
            </a:pPr>
            <a:r>
              <a:rPr lang="en-US">
                <a:latin typeface="Consolas" panose="020B0609020204030204" pitchFamily="49" charset="0"/>
              </a:rPr>
              <a:t>    </a:t>
            </a:r>
            <a:r>
              <a:rPr lang="en-US" sz="1800">
                <a:latin typeface="Consolas" panose="020B0609020204030204" pitchFamily="49" charset="0"/>
              </a:rPr>
              <a:t>print("NAMESPACES:", namespaces)</a:t>
            </a:r>
          </a:p>
        </p:txBody>
      </p:sp>
    </p:spTree>
    <p:extLst>
      <p:ext uri="{BB962C8B-B14F-4D97-AF65-F5344CB8AC3E}">
        <p14:creationId xmlns:p14="http://schemas.microsoft.com/office/powerpoint/2010/main" val="37422188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3AB6A-FD3C-41F9-F5D3-CEADD71D36D8}"/>
              </a:ext>
            </a:extLst>
          </p:cNvPr>
          <p:cNvSpPr>
            <a:spLocks noGrp="1"/>
          </p:cNvSpPr>
          <p:nvPr>
            <p:ph type="title"/>
          </p:nvPr>
        </p:nvSpPr>
        <p:spPr/>
        <p:txBody>
          <a:bodyPr/>
          <a:lstStyle/>
          <a:p>
            <a:r>
              <a:rPr lang="en-US" dirty="0" err="1"/>
              <a:t>Langgraph</a:t>
            </a:r>
            <a:r>
              <a:rPr lang="en-US" dirty="0"/>
              <a:t> store</a:t>
            </a:r>
          </a:p>
        </p:txBody>
      </p:sp>
      <p:sp>
        <p:nvSpPr>
          <p:cNvPr id="3" name="Content Placeholder 2">
            <a:extLst>
              <a:ext uri="{FF2B5EF4-FFF2-40B4-BE49-F238E27FC236}">
                <a16:creationId xmlns:a16="http://schemas.microsoft.com/office/drawing/2014/main" id="{EF02E29B-9E71-408A-8E42-8F0A2ED3EC43}"/>
              </a:ext>
            </a:extLst>
          </p:cNvPr>
          <p:cNvSpPr>
            <a:spLocks noGrp="1"/>
          </p:cNvSpPr>
          <p:nvPr>
            <p:ph idx="1"/>
          </p:nvPr>
        </p:nvSpPr>
        <p:spPr/>
        <p:txBody>
          <a:bodyPr>
            <a:normAutofit/>
          </a:bodyPr>
          <a:lstStyle/>
          <a:p>
            <a:r>
              <a:rPr lang="en-US" sz="3200"/>
              <a:t>Long-term memory is stored as JSON documents under a </a:t>
            </a:r>
            <a:r>
              <a:rPr lang="en-US" sz="3200" b="1"/>
              <a:t>namespace + key</a:t>
            </a:r>
            <a:r>
              <a:rPr lang="en-US" sz="3200"/>
              <a:t> model, and search can work within namespace prefixes with filters and semantic ranking. </a:t>
            </a:r>
          </a:p>
          <a:p>
            <a:r>
              <a:rPr lang="en-US" sz="3200"/>
              <a:t>A very good pattern is to include </a:t>
            </a:r>
            <a:r>
              <a:rPr lang="en-US" sz="3200" b="1"/>
              <a:t>tenant ID</a:t>
            </a:r>
            <a:r>
              <a:rPr lang="en-US" sz="3200"/>
              <a:t> in the namespace, so memories don’t leak across users.</a:t>
            </a:r>
          </a:p>
          <a:p>
            <a:pPr lvl="1"/>
            <a:r>
              <a:rPr lang="en-US" sz="3200">
                <a:solidFill>
                  <a:srgbClr val="FFC000"/>
                </a:solidFill>
                <a:latin typeface="Consolas" panose="020B0609020204030204" pitchFamily="49" charset="0"/>
              </a:rPr>
              <a:t>("</a:t>
            </a:r>
            <a:r>
              <a:rPr lang="en-US" sz="3200" err="1">
                <a:solidFill>
                  <a:srgbClr val="FFC000"/>
                </a:solidFill>
                <a:latin typeface="Consolas" panose="020B0609020204030204" pitchFamily="49" charset="0"/>
              </a:rPr>
              <a:t>tenant_a</a:t>
            </a:r>
            <a:r>
              <a:rPr lang="en-US" sz="3200">
                <a:solidFill>
                  <a:srgbClr val="FFC000"/>
                </a:solidFill>
                <a:latin typeface="Consolas" panose="020B0609020204030204" pitchFamily="49" charset="0"/>
              </a:rPr>
              <a:t>", "customers", "c42")</a:t>
            </a:r>
          </a:p>
          <a:p>
            <a:pPr fontAlgn="t"/>
            <a:r>
              <a:rPr lang="en-US" sz="3200"/>
              <a:t>This gives you:</a:t>
            </a:r>
          </a:p>
          <a:p>
            <a:pPr lvl="1" fontAlgn="t"/>
            <a:r>
              <a:rPr lang="en-US" sz="3200"/>
              <a:t>data isolation</a:t>
            </a:r>
          </a:p>
          <a:p>
            <a:pPr lvl="1" fontAlgn="t"/>
            <a:r>
              <a:rPr lang="en-US" sz="3200"/>
              <a:t>cleaner search boundaries</a:t>
            </a:r>
          </a:p>
          <a:p>
            <a:pPr lvl="1" fontAlgn="t"/>
            <a:r>
              <a:rPr lang="en-US" sz="3200"/>
              <a:t>easier multi-tenant enforcement.</a:t>
            </a:r>
          </a:p>
          <a:p>
            <a:endParaRPr lang="en-US" sz="3200"/>
          </a:p>
        </p:txBody>
      </p:sp>
    </p:spTree>
    <p:extLst>
      <p:ext uri="{BB962C8B-B14F-4D97-AF65-F5344CB8AC3E}">
        <p14:creationId xmlns:p14="http://schemas.microsoft.com/office/powerpoint/2010/main" val="13577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E00D7-2097-25F6-8984-C3E6AD9F10BD}"/>
              </a:ext>
            </a:extLst>
          </p:cNvPr>
          <p:cNvSpPr>
            <a:spLocks noGrp="1"/>
          </p:cNvSpPr>
          <p:nvPr>
            <p:ph type="title"/>
          </p:nvPr>
        </p:nvSpPr>
        <p:spPr/>
        <p:txBody>
          <a:bodyPr/>
          <a:lstStyle/>
          <a:p>
            <a:r>
              <a:rPr lang="en-US" dirty="0" err="1"/>
              <a:t>Langgraph.JSON</a:t>
            </a:r>
            <a:endParaRPr lang="en-US" dirty="0"/>
          </a:p>
        </p:txBody>
      </p:sp>
      <p:sp>
        <p:nvSpPr>
          <p:cNvPr id="3" name="Content Placeholder 2">
            <a:extLst>
              <a:ext uri="{FF2B5EF4-FFF2-40B4-BE49-F238E27FC236}">
                <a16:creationId xmlns:a16="http://schemas.microsoft.com/office/drawing/2014/main" id="{F86080F8-F6E5-06B9-081A-E70716C5E911}"/>
              </a:ext>
            </a:extLst>
          </p:cNvPr>
          <p:cNvSpPr>
            <a:spLocks noGrp="1"/>
          </p:cNvSpPr>
          <p:nvPr>
            <p:ph idx="1"/>
          </p:nvPr>
        </p:nvSpPr>
        <p:spPr/>
        <p:txBody>
          <a:bodyPr>
            <a:noAutofit/>
          </a:bodyPr>
          <a:lstStyle/>
          <a:p>
            <a:r>
              <a:rPr lang="en-US" sz="3200" dirty="0" err="1"/>
              <a:t>langgraph.json</a:t>
            </a:r>
            <a:r>
              <a:rPr lang="en-US" sz="3200" dirty="0"/>
              <a:t> is the </a:t>
            </a:r>
            <a:r>
              <a:rPr lang="en-US" sz="3200" b="1" dirty="0"/>
              <a:t>configuration file that defines how a LangGraph application should be built and run by the LangGraph CLI / Agent Server</a:t>
            </a:r>
            <a:r>
              <a:rPr lang="en-US" sz="3200" dirty="0"/>
              <a:t>. In practice, it tells the runtime:</a:t>
            </a:r>
          </a:p>
          <a:p>
            <a:pPr lvl="1"/>
            <a:r>
              <a:rPr lang="en-US" sz="3200" dirty="0"/>
              <a:t>which graphs exist </a:t>
            </a:r>
          </a:p>
          <a:p>
            <a:pPr lvl="1"/>
            <a:r>
              <a:rPr lang="en-US" sz="3200" dirty="0"/>
              <a:t>how to load them </a:t>
            </a:r>
          </a:p>
          <a:p>
            <a:pPr lvl="1"/>
            <a:r>
              <a:rPr lang="en-US" sz="3200" dirty="0"/>
              <a:t>what dependencies to install </a:t>
            </a:r>
          </a:p>
          <a:p>
            <a:pPr lvl="1"/>
            <a:r>
              <a:rPr lang="en-US" sz="3200" dirty="0"/>
              <a:t>how to configure the server and runtime</a:t>
            </a:r>
          </a:p>
          <a:p>
            <a:r>
              <a:rPr lang="en-US" sz="3200" dirty="0"/>
              <a:t>At runtime, LangGraph starts an </a:t>
            </a:r>
            <a:r>
              <a:rPr lang="en-US" sz="3200" b="1" dirty="0"/>
              <a:t>Agent Server</a:t>
            </a:r>
            <a:r>
              <a:rPr lang="en-US" sz="3200" dirty="0"/>
              <a:t> that runs graphs, which exposes API endpoints for runs, threads, assistants, etc. based on </a:t>
            </a:r>
            <a:r>
              <a:rPr lang="en-US" sz="3200" dirty="0" err="1"/>
              <a:t>langgraph.json</a:t>
            </a:r>
            <a:endParaRPr lang="en-US" sz="3200" dirty="0"/>
          </a:p>
        </p:txBody>
      </p:sp>
    </p:spTree>
    <p:extLst>
      <p:ext uri="{BB962C8B-B14F-4D97-AF65-F5344CB8AC3E}">
        <p14:creationId xmlns:p14="http://schemas.microsoft.com/office/powerpoint/2010/main" val="323311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84BB8-7952-53E3-C139-188E37FA7951}"/>
              </a:ext>
            </a:extLst>
          </p:cNvPr>
          <p:cNvSpPr>
            <a:spLocks noGrp="1"/>
          </p:cNvSpPr>
          <p:nvPr>
            <p:ph type="title"/>
          </p:nvPr>
        </p:nvSpPr>
        <p:spPr/>
        <p:txBody>
          <a:bodyPr/>
          <a:lstStyle/>
          <a:p>
            <a:r>
              <a:rPr lang="en-US" dirty="0" err="1"/>
              <a:t>Langgraph.jSON</a:t>
            </a:r>
            <a:endParaRPr lang="en-US" dirty="0"/>
          </a:p>
        </p:txBody>
      </p:sp>
      <p:sp>
        <p:nvSpPr>
          <p:cNvPr id="5" name="Content Placeholder 4">
            <a:extLst>
              <a:ext uri="{FF2B5EF4-FFF2-40B4-BE49-F238E27FC236}">
                <a16:creationId xmlns:a16="http://schemas.microsoft.com/office/drawing/2014/main" id="{D12D397D-2B3F-1F67-2F45-F57546617F9F}"/>
              </a:ext>
            </a:extLst>
          </p:cNvPr>
          <p:cNvSpPr txBox="1">
            <a:spLocks noGrp="1"/>
          </p:cNvSpPr>
          <p:nvPr>
            <p:ph idx="1"/>
          </p:nvPr>
        </p:nvSpPr>
        <p:spPr>
          <a:prstGeom prst="rect">
            <a:avLst/>
          </a:prstGeom>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wrap="square">
            <a:spAutoFit/>
          </a:bodyPr>
          <a:lstStyle/>
          <a:p>
            <a:pPr>
              <a:buNone/>
            </a:pPr>
            <a:r>
              <a:rPr lang="en-US" sz="2800">
                <a:latin typeface="Consolas" panose="020B0609020204030204" pitchFamily="49" charset="0"/>
              </a:rPr>
              <a:t>{</a:t>
            </a:r>
          </a:p>
          <a:p>
            <a:pPr>
              <a:buNone/>
            </a:pPr>
            <a:r>
              <a:rPr lang="en-US" sz="2800">
                <a:latin typeface="Consolas" panose="020B0609020204030204" pitchFamily="49" charset="0"/>
              </a:rPr>
              <a:t>  "dependencies": ["./", "</a:t>
            </a:r>
            <a:r>
              <a:rPr lang="en-US" sz="2800" err="1">
                <a:latin typeface="Consolas" panose="020B0609020204030204" pitchFamily="49" charset="0"/>
              </a:rPr>
              <a:t>langchain_openai</a:t>
            </a:r>
            <a:r>
              <a:rPr lang="en-US" sz="2800">
                <a:latin typeface="Consolas" panose="020B0609020204030204" pitchFamily="49" charset="0"/>
              </a:rPr>
              <a:t>"],</a:t>
            </a:r>
          </a:p>
          <a:p>
            <a:pPr>
              <a:buNone/>
            </a:pPr>
            <a:r>
              <a:rPr lang="en-US" sz="2800">
                <a:latin typeface="Consolas" panose="020B0609020204030204" pitchFamily="49" charset="0"/>
              </a:rPr>
              <a:t>  "graphs": {</a:t>
            </a:r>
          </a:p>
          <a:p>
            <a:pPr>
              <a:buNone/>
            </a:pPr>
            <a:r>
              <a:rPr lang="en-US" sz="2800">
                <a:latin typeface="Consolas" panose="020B0609020204030204" pitchFamily="49" charset="0"/>
              </a:rPr>
              <a:t>    "</a:t>
            </a:r>
            <a:r>
              <a:rPr lang="en-US" sz="2800" b="1">
                <a:latin typeface="Consolas" panose="020B0609020204030204" pitchFamily="49" charset="0"/>
              </a:rPr>
              <a:t>research</a:t>
            </a:r>
            <a:r>
              <a:rPr lang="en-US" sz="2800">
                <a:latin typeface="Consolas" panose="020B0609020204030204" pitchFamily="49" charset="0"/>
              </a:rPr>
              <a:t>": "./</a:t>
            </a:r>
            <a:r>
              <a:rPr lang="en-US" sz="2800" err="1">
                <a:latin typeface="Consolas" panose="020B0609020204030204" pitchFamily="49" charset="0"/>
              </a:rPr>
              <a:t>my_agent</a:t>
            </a:r>
            <a:r>
              <a:rPr lang="en-US" sz="2800">
                <a:latin typeface="Consolas" panose="020B0609020204030204" pitchFamily="49" charset="0"/>
              </a:rPr>
              <a:t>/</a:t>
            </a:r>
            <a:r>
              <a:rPr lang="en-US" sz="2800" err="1">
                <a:latin typeface="Consolas" panose="020B0609020204030204" pitchFamily="49" charset="0"/>
              </a:rPr>
              <a:t>research.py:graph</a:t>
            </a:r>
            <a:r>
              <a:rPr lang="en-US" sz="2800">
                <a:latin typeface="Consolas" panose="020B0609020204030204" pitchFamily="49" charset="0"/>
              </a:rPr>
              <a:t>",</a:t>
            </a:r>
          </a:p>
          <a:p>
            <a:pPr>
              <a:buNone/>
            </a:pPr>
            <a:r>
              <a:rPr lang="en-US" sz="2800">
                <a:latin typeface="Consolas" panose="020B0609020204030204" pitchFamily="49" charset="0"/>
              </a:rPr>
              <a:t>    "</a:t>
            </a:r>
            <a:r>
              <a:rPr lang="en-US" sz="2800" b="1" err="1">
                <a:latin typeface="Consolas" panose="020B0609020204030204" pitchFamily="49" charset="0"/>
              </a:rPr>
              <a:t>sql</a:t>
            </a:r>
            <a:r>
              <a:rPr lang="en-US" sz="2800">
                <a:latin typeface="Consolas" panose="020B0609020204030204" pitchFamily="49" charset="0"/>
              </a:rPr>
              <a:t>": "./</a:t>
            </a:r>
            <a:r>
              <a:rPr lang="en-US" sz="2800" err="1">
                <a:latin typeface="Consolas" panose="020B0609020204030204" pitchFamily="49" charset="0"/>
              </a:rPr>
              <a:t>my_agent</a:t>
            </a:r>
            <a:r>
              <a:rPr lang="en-US" sz="2800">
                <a:latin typeface="Consolas" panose="020B0609020204030204" pitchFamily="49" charset="0"/>
              </a:rPr>
              <a:t>/</a:t>
            </a:r>
            <a:r>
              <a:rPr lang="en-US" sz="2800" err="1">
                <a:latin typeface="Consolas" panose="020B0609020204030204" pitchFamily="49" charset="0"/>
              </a:rPr>
              <a:t>sql.py:graph</a:t>
            </a:r>
            <a:r>
              <a:rPr lang="en-US" sz="2800">
                <a:latin typeface="Consolas" panose="020B0609020204030204" pitchFamily="49" charset="0"/>
              </a:rPr>
              <a:t>",</a:t>
            </a:r>
          </a:p>
          <a:p>
            <a:pPr>
              <a:buNone/>
            </a:pPr>
            <a:r>
              <a:rPr lang="en-US" sz="2800">
                <a:latin typeface="Consolas" panose="020B0609020204030204" pitchFamily="49" charset="0"/>
              </a:rPr>
              <a:t>    "</a:t>
            </a:r>
            <a:r>
              <a:rPr lang="en-US" sz="2800" b="1">
                <a:latin typeface="Consolas" panose="020B0609020204030204" pitchFamily="49" charset="0"/>
              </a:rPr>
              <a:t>writer</a:t>
            </a:r>
            <a:r>
              <a:rPr lang="en-US" sz="2800">
                <a:latin typeface="Consolas" panose="020B0609020204030204" pitchFamily="49" charset="0"/>
              </a:rPr>
              <a:t>": "./</a:t>
            </a:r>
            <a:r>
              <a:rPr lang="en-US" sz="2800" err="1">
                <a:latin typeface="Consolas" panose="020B0609020204030204" pitchFamily="49" charset="0"/>
              </a:rPr>
              <a:t>my_agent</a:t>
            </a:r>
            <a:r>
              <a:rPr lang="en-US" sz="2800">
                <a:latin typeface="Consolas" panose="020B0609020204030204" pitchFamily="49" charset="0"/>
              </a:rPr>
              <a:t>/</a:t>
            </a:r>
            <a:r>
              <a:rPr lang="en-US" sz="2800" err="1">
                <a:latin typeface="Consolas" panose="020B0609020204030204" pitchFamily="49" charset="0"/>
              </a:rPr>
              <a:t>writer.py:graph</a:t>
            </a:r>
            <a:r>
              <a:rPr lang="en-US" sz="2800">
                <a:latin typeface="Consolas" panose="020B0609020204030204" pitchFamily="49" charset="0"/>
              </a:rPr>
              <a:t>",</a:t>
            </a:r>
          </a:p>
          <a:p>
            <a:pPr>
              <a:buNone/>
            </a:pPr>
            <a:r>
              <a:rPr lang="en-US" sz="2800">
                <a:latin typeface="Consolas" panose="020B0609020204030204" pitchFamily="49" charset="0"/>
              </a:rPr>
              <a:t>    "</a:t>
            </a:r>
            <a:r>
              <a:rPr lang="en-US" sz="2800" b="1">
                <a:latin typeface="Consolas" panose="020B0609020204030204" pitchFamily="49" charset="0"/>
              </a:rPr>
              <a:t>supervisor</a:t>
            </a:r>
            <a:r>
              <a:rPr lang="en-US" sz="2800">
                <a:latin typeface="Consolas" panose="020B0609020204030204" pitchFamily="49" charset="0"/>
              </a:rPr>
              <a:t>": "./</a:t>
            </a:r>
            <a:r>
              <a:rPr lang="en-US" sz="2800" err="1">
                <a:latin typeface="Consolas" panose="020B0609020204030204" pitchFamily="49" charset="0"/>
              </a:rPr>
              <a:t>my_agent</a:t>
            </a:r>
            <a:r>
              <a:rPr lang="en-US" sz="2800">
                <a:latin typeface="Consolas" panose="020B0609020204030204" pitchFamily="49" charset="0"/>
              </a:rPr>
              <a:t>/</a:t>
            </a:r>
            <a:r>
              <a:rPr lang="en-US" sz="2800" err="1">
                <a:latin typeface="Consolas" panose="020B0609020204030204" pitchFamily="49" charset="0"/>
              </a:rPr>
              <a:t>supervisor.py:graph</a:t>
            </a:r>
            <a:r>
              <a:rPr lang="en-US" sz="2800">
                <a:latin typeface="Consolas" panose="020B0609020204030204" pitchFamily="49" charset="0"/>
              </a:rPr>
              <a:t>"</a:t>
            </a:r>
          </a:p>
          <a:p>
            <a:pPr>
              <a:buNone/>
            </a:pPr>
            <a:r>
              <a:rPr lang="en-US" sz="2800">
                <a:latin typeface="Consolas" panose="020B0609020204030204" pitchFamily="49" charset="0"/>
              </a:rPr>
              <a:t>  },</a:t>
            </a:r>
          </a:p>
          <a:p>
            <a:pPr>
              <a:buNone/>
            </a:pPr>
            <a:r>
              <a:rPr lang="en-US" sz="2800">
                <a:latin typeface="Consolas" panose="020B0609020204030204" pitchFamily="49" charset="0"/>
              </a:rPr>
              <a:t>  "env": "./.env"</a:t>
            </a:r>
          </a:p>
          <a:p>
            <a:pPr>
              <a:buNone/>
            </a:pPr>
            <a:r>
              <a:rPr lang="en-US" sz="2800">
                <a:latin typeface="Consolas" panose="020B0609020204030204" pitchFamily="49" charset="0"/>
              </a:rPr>
              <a:t>}</a:t>
            </a:r>
          </a:p>
        </p:txBody>
      </p:sp>
    </p:spTree>
    <p:extLst>
      <p:ext uri="{BB962C8B-B14F-4D97-AF65-F5344CB8AC3E}">
        <p14:creationId xmlns:p14="http://schemas.microsoft.com/office/powerpoint/2010/main" val="1384744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B4CF0-F0E7-7B7C-2C43-3FE327EE7483}"/>
              </a:ext>
            </a:extLst>
          </p:cNvPr>
          <p:cNvSpPr>
            <a:spLocks noGrp="1"/>
          </p:cNvSpPr>
          <p:nvPr>
            <p:ph type="title"/>
          </p:nvPr>
        </p:nvSpPr>
        <p:spPr/>
        <p:txBody>
          <a:bodyPr/>
          <a:lstStyle/>
          <a:p>
            <a:r>
              <a:rPr lang="en-US"/>
              <a:t>Dependencies</a:t>
            </a:r>
          </a:p>
        </p:txBody>
      </p:sp>
      <p:sp>
        <p:nvSpPr>
          <p:cNvPr id="3" name="Content Placeholder 2">
            <a:extLst>
              <a:ext uri="{FF2B5EF4-FFF2-40B4-BE49-F238E27FC236}">
                <a16:creationId xmlns:a16="http://schemas.microsoft.com/office/drawing/2014/main" id="{6B169B8F-155E-B626-5263-09C90FF6B172}"/>
              </a:ext>
            </a:extLst>
          </p:cNvPr>
          <p:cNvSpPr>
            <a:spLocks noGrp="1"/>
          </p:cNvSpPr>
          <p:nvPr>
            <p:ph idx="1"/>
          </p:nvPr>
        </p:nvSpPr>
        <p:spPr/>
        <p:txBody>
          <a:bodyPr>
            <a:normAutofit/>
          </a:bodyPr>
          <a:lstStyle/>
          <a:p>
            <a:r>
              <a:rPr lang="en-US" sz="3200" b="1" dirty="0"/>
              <a:t>dependencies</a:t>
            </a:r>
            <a:r>
              <a:rPr lang="en-US" sz="3200" dirty="0"/>
              <a:t> tells the LangGraph CLI / Agent Server </a:t>
            </a:r>
            <a:r>
              <a:rPr lang="en-US" sz="3200" b="1" dirty="0"/>
              <a:t>what packages or local code it needs to install so your graph can import and run successfully</a:t>
            </a:r>
            <a:endParaRPr lang="en-US" sz="3200" dirty="0"/>
          </a:p>
          <a:p>
            <a:r>
              <a:rPr lang="en-US" sz="3200" dirty="0"/>
              <a:t>When you run commands like </a:t>
            </a:r>
            <a:r>
              <a:rPr lang="en-US" sz="3200" dirty="0" err="1"/>
              <a:t>langgraph</a:t>
            </a:r>
            <a:r>
              <a:rPr lang="en-US" sz="3200" dirty="0"/>
              <a:t> dev, </a:t>
            </a:r>
            <a:r>
              <a:rPr lang="en-US" sz="3200" dirty="0" err="1"/>
              <a:t>langgraph</a:t>
            </a:r>
            <a:r>
              <a:rPr lang="en-US" sz="3200" dirty="0"/>
              <a:t> build, or </a:t>
            </a:r>
            <a:r>
              <a:rPr lang="en-US" sz="3200" dirty="0" err="1"/>
              <a:t>langgraph</a:t>
            </a:r>
            <a:r>
              <a:rPr lang="en-US" sz="3200" dirty="0"/>
              <a:t> up, the CLI reads </a:t>
            </a:r>
            <a:r>
              <a:rPr lang="en-US" sz="3200" dirty="0" err="1"/>
              <a:t>langgraph.json</a:t>
            </a:r>
            <a:r>
              <a:rPr lang="en-US" sz="3200" dirty="0"/>
              <a:t> and uses dependencies to prepare the runtime environment for your graph server.</a:t>
            </a:r>
          </a:p>
          <a:p>
            <a:r>
              <a:rPr lang="en-US" sz="3200" dirty="0"/>
              <a:t>Basically, it determines </a:t>
            </a:r>
            <a:r>
              <a:rPr lang="en-US" sz="3200" b="1" dirty="0"/>
              <a:t>what Python packages and local project code should be installed inside the server environment</a:t>
            </a:r>
            <a:r>
              <a:rPr lang="en-US" sz="3200" dirty="0"/>
              <a:t> before your graph is loaded.</a:t>
            </a:r>
          </a:p>
          <a:p>
            <a:endParaRPr lang="en-US" sz="3200" dirty="0"/>
          </a:p>
        </p:txBody>
      </p:sp>
    </p:spTree>
    <p:extLst>
      <p:ext uri="{BB962C8B-B14F-4D97-AF65-F5344CB8AC3E}">
        <p14:creationId xmlns:p14="http://schemas.microsoft.com/office/powerpoint/2010/main" val="225488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BF328-64F9-CFC7-4A93-8FCF81AF7159}"/>
              </a:ext>
            </a:extLst>
          </p:cNvPr>
          <p:cNvSpPr>
            <a:spLocks noGrp="1"/>
          </p:cNvSpPr>
          <p:nvPr>
            <p:ph type="title"/>
          </p:nvPr>
        </p:nvSpPr>
        <p:spPr/>
        <p:txBody>
          <a:bodyPr/>
          <a:lstStyle/>
          <a:p>
            <a:r>
              <a:rPr lang="en-US"/>
              <a:t>dependencies</a:t>
            </a:r>
          </a:p>
        </p:txBody>
      </p:sp>
      <p:sp>
        <p:nvSpPr>
          <p:cNvPr id="3" name="Content Placeholder 2">
            <a:extLst>
              <a:ext uri="{FF2B5EF4-FFF2-40B4-BE49-F238E27FC236}">
                <a16:creationId xmlns:a16="http://schemas.microsoft.com/office/drawing/2014/main" id="{1C7CBB47-B54B-23CE-7193-6FD3FE441E08}"/>
              </a:ext>
            </a:extLst>
          </p:cNvPr>
          <p:cNvSpPr>
            <a:spLocks noGrp="1"/>
          </p:cNvSpPr>
          <p:nvPr>
            <p:ph idx="1"/>
          </p:nvPr>
        </p:nvSpPr>
        <p:spPr/>
        <p:txBody>
          <a:bodyPr>
            <a:normAutofit/>
          </a:bodyPr>
          <a:lstStyle/>
          <a:p>
            <a:pPr fontAlgn="t"/>
            <a:r>
              <a:rPr lang="en-US" sz="3200" b="1"/>
              <a:t>A single period "."</a:t>
            </a:r>
            <a:br>
              <a:rPr lang="en-US" sz="3200"/>
            </a:br>
            <a:r>
              <a:rPr lang="en-US" sz="3200"/>
              <a:t>This tells the CLI to look for and install the </a:t>
            </a:r>
            <a:r>
              <a:rPr lang="en-US" sz="3200" b="1"/>
              <a:t>current local Python package/project</a:t>
            </a:r>
            <a:r>
              <a:rPr lang="en-US" sz="3200"/>
              <a:t>. </a:t>
            </a:r>
          </a:p>
          <a:p>
            <a:pPr fontAlgn="t"/>
            <a:r>
              <a:rPr lang="en-US" sz="3200" b="1"/>
              <a:t>A local directory path</a:t>
            </a:r>
            <a:r>
              <a:rPr lang="en-US" sz="3200"/>
              <a:t> such as "./" or "./</a:t>
            </a:r>
            <a:r>
              <a:rPr lang="en-US" sz="3200" err="1"/>
              <a:t>my_package</a:t>
            </a:r>
            <a:r>
              <a:rPr lang="en-US" sz="3200"/>
              <a:t>"</a:t>
            </a:r>
            <a:br>
              <a:rPr lang="en-US" sz="3200"/>
            </a:br>
            <a:r>
              <a:rPr lang="en-US" sz="3200"/>
              <a:t>This points to the directory that contains your </a:t>
            </a:r>
            <a:r>
              <a:rPr lang="en-US" sz="3200" err="1"/>
              <a:t>pyproject.toml</a:t>
            </a:r>
            <a:r>
              <a:rPr lang="en-US" sz="3200"/>
              <a:t>, setup.py, or requirements.txt. The docs explicitly say you should point to the </a:t>
            </a:r>
            <a:r>
              <a:rPr lang="en-US" sz="3200" b="1"/>
              <a:t>directory</a:t>
            </a:r>
            <a:r>
              <a:rPr lang="en-US" sz="3200"/>
              <a:t>, not the file itself. </a:t>
            </a:r>
          </a:p>
          <a:p>
            <a:pPr fontAlgn="t"/>
            <a:r>
              <a:rPr lang="en-US" sz="3200" b="1"/>
              <a:t>A Python package name</a:t>
            </a:r>
            <a:r>
              <a:rPr lang="en-US" sz="3200"/>
              <a:t> such as "</a:t>
            </a:r>
            <a:r>
              <a:rPr lang="en-US" sz="3200" err="1"/>
              <a:t>langchain_openai</a:t>
            </a:r>
            <a:r>
              <a:rPr lang="en-US" sz="3200"/>
              <a:t>"</a:t>
            </a:r>
            <a:br>
              <a:rPr lang="en-US" sz="3200"/>
            </a:br>
            <a:r>
              <a:rPr lang="en-US" sz="3200"/>
              <a:t>This installs a package from the Python environment/package index so your graph can import it. </a:t>
            </a:r>
          </a:p>
        </p:txBody>
      </p:sp>
    </p:spTree>
    <p:extLst>
      <p:ext uri="{BB962C8B-B14F-4D97-AF65-F5344CB8AC3E}">
        <p14:creationId xmlns:p14="http://schemas.microsoft.com/office/powerpoint/2010/main" val="1290617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E24557-52D1-0B86-DF8F-A8715C8AB2A4}"/>
              </a:ext>
            </a:extLst>
          </p:cNvPr>
          <p:cNvSpPr>
            <a:spLocks noGrp="1"/>
          </p:cNvSpPr>
          <p:nvPr>
            <p:ph type="title"/>
          </p:nvPr>
        </p:nvSpPr>
        <p:spPr/>
        <p:txBody>
          <a:bodyPr/>
          <a:lstStyle/>
          <a:p>
            <a:r>
              <a:rPr lang="en-US" err="1"/>
              <a:t>Langraph</a:t>
            </a:r>
            <a:r>
              <a:rPr lang="en-US"/>
              <a:t> CLI</a:t>
            </a:r>
          </a:p>
        </p:txBody>
      </p:sp>
      <p:graphicFrame>
        <p:nvGraphicFramePr>
          <p:cNvPr id="6" name="Content Placeholder 5">
            <a:extLst>
              <a:ext uri="{FF2B5EF4-FFF2-40B4-BE49-F238E27FC236}">
                <a16:creationId xmlns:a16="http://schemas.microsoft.com/office/drawing/2014/main" id="{B8A01430-AF53-0751-DDE6-0D31B58EE962}"/>
              </a:ext>
            </a:extLst>
          </p:cNvPr>
          <p:cNvGraphicFramePr>
            <a:graphicFrameLocks noGrp="1"/>
          </p:cNvGraphicFramePr>
          <p:nvPr>
            <p:ph idx="1"/>
            <p:extLst>
              <p:ext uri="{D42A27DB-BD31-4B8C-83A1-F6EECF244321}">
                <p14:modId xmlns:p14="http://schemas.microsoft.com/office/powerpoint/2010/main" val="821052548"/>
              </p:ext>
            </p:extLst>
          </p:nvPr>
        </p:nvGraphicFramePr>
        <p:xfrm>
          <a:off x="239713" y="1130300"/>
          <a:ext cx="11699874" cy="5470895"/>
        </p:xfrm>
        <a:graphic>
          <a:graphicData uri="http://schemas.openxmlformats.org/drawingml/2006/table">
            <a:tbl>
              <a:tblPr firstRow="1">
                <a:tableStyleId>{775DCB02-9BB8-47FD-8907-85C794F793BA}</a:tableStyleId>
              </a:tblPr>
              <a:tblGrid>
                <a:gridCol w="3358507">
                  <a:extLst>
                    <a:ext uri="{9D8B030D-6E8A-4147-A177-3AD203B41FA5}">
                      <a16:colId xmlns:a16="http://schemas.microsoft.com/office/drawing/2014/main" val="2902975358"/>
                    </a:ext>
                  </a:extLst>
                </a:gridCol>
                <a:gridCol w="8341367">
                  <a:extLst>
                    <a:ext uri="{9D8B030D-6E8A-4147-A177-3AD203B41FA5}">
                      <a16:colId xmlns:a16="http://schemas.microsoft.com/office/drawing/2014/main" val="3479329178"/>
                    </a:ext>
                  </a:extLst>
                </a:gridCol>
              </a:tblGrid>
              <a:tr h="231916">
                <a:tc>
                  <a:txBody>
                    <a:bodyPr/>
                    <a:lstStyle/>
                    <a:p>
                      <a:pPr algn="l" fontAlgn="ctr">
                        <a:buNone/>
                      </a:pPr>
                      <a:r>
                        <a:rPr lang="en-US" sz="2800" b="1">
                          <a:solidFill>
                            <a:srgbClr val="111827"/>
                          </a:solidFill>
                          <a:effectLst/>
                        </a:rPr>
                        <a:t>Command</a:t>
                      </a:r>
                    </a:p>
                  </a:txBody>
                  <a:tcPr marL="57979" marR="57979" marT="28990" marB="28990" anchor="ctr"/>
                </a:tc>
                <a:tc>
                  <a:txBody>
                    <a:bodyPr/>
                    <a:lstStyle/>
                    <a:p>
                      <a:pPr algn="l" fontAlgn="ctr">
                        <a:buNone/>
                      </a:pPr>
                      <a:r>
                        <a:rPr lang="en-US" sz="2800" b="1">
                          <a:solidFill>
                            <a:srgbClr val="111827"/>
                          </a:solidFill>
                          <a:effectLst/>
                        </a:rPr>
                        <a:t>What it does</a:t>
                      </a:r>
                    </a:p>
                  </a:txBody>
                  <a:tcPr marL="57979" marR="57979" marT="28990" marB="28990" anchor="ctr"/>
                </a:tc>
                <a:extLst>
                  <a:ext uri="{0D108BD9-81ED-4DB2-BD59-A6C34878D82A}">
                    <a16:rowId xmlns:a16="http://schemas.microsoft.com/office/drawing/2014/main" val="1542696857"/>
                  </a:ext>
                </a:extLst>
              </a:tr>
              <a:tr h="927664">
                <a:tc>
                  <a:txBody>
                    <a:bodyPr/>
                    <a:lstStyle/>
                    <a:p>
                      <a:pPr fontAlgn="ctr">
                        <a:buNone/>
                      </a:pPr>
                      <a:r>
                        <a:rPr lang="en-US" sz="2400" b="0" u="none" strike="noStrike" dirty="0" err="1">
                          <a:solidFill>
                            <a:srgbClr val="111827"/>
                          </a:solidFill>
                          <a:effectLst/>
                          <a:hlinkClick r:id="rId2"/>
                        </a:rPr>
                        <a:t>langgraph</a:t>
                      </a:r>
                      <a:r>
                        <a:rPr lang="en-US" sz="2400" b="0" u="none" strike="noStrike" dirty="0">
                          <a:solidFill>
                            <a:srgbClr val="111827"/>
                          </a:solidFill>
                          <a:effectLst/>
                          <a:hlinkClick r:id="rId2"/>
                        </a:rPr>
                        <a:t> dev</a:t>
                      </a:r>
                      <a:endParaRPr lang="en-US" sz="2400" b="0" dirty="0">
                        <a:effectLst/>
                      </a:endParaRPr>
                    </a:p>
                  </a:txBody>
                  <a:tcPr marL="57979" marR="57979" marT="28990" marB="28990" anchor="ctr"/>
                </a:tc>
                <a:tc>
                  <a:txBody>
                    <a:bodyPr/>
                    <a:lstStyle/>
                    <a:p>
                      <a:pPr fontAlgn="ctr">
                        <a:buNone/>
                      </a:pPr>
                      <a:r>
                        <a:rPr lang="en-US" sz="2400" b="0">
                          <a:effectLst/>
                        </a:rPr>
                        <a:t>Starts a lightweight local dev server, ideal for rapid testing.</a:t>
                      </a:r>
                    </a:p>
                  </a:txBody>
                  <a:tcPr marL="57979" marR="57979" marT="28990" marB="28990" anchor="ctr"/>
                </a:tc>
                <a:extLst>
                  <a:ext uri="{0D108BD9-81ED-4DB2-BD59-A6C34878D82A}">
                    <a16:rowId xmlns:a16="http://schemas.microsoft.com/office/drawing/2014/main" val="1979211234"/>
                  </a:ext>
                </a:extLst>
              </a:tr>
              <a:tr h="927664">
                <a:tc>
                  <a:txBody>
                    <a:bodyPr/>
                    <a:lstStyle/>
                    <a:p>
                      <a:pPr fontAlgn="ctr">
                        <a:buNone/>
                      </a:pPr>
                      <a:r>
                        <a:rPr lang="en-US" sz="2400" b="0" u="none" strike="noStrike" dirty="0" err="1">
                          <a:solidFill>
                            <a:srgbClr val="111827"/>
                          </a:solidFill>
                          <a:effectLst/>
                          <a:hlinkClick r:id="rId3"/>
                        </a:rPr>
                        <a:t>langgraph</a:t>
                      </a:r>
                      <a:r>
                        <a:rPr lang="en-US" sz="2400" b="0" u="none" strike="noStrike" dirty="0">
                          <a:solidFill>
                            <a:srgbClr val="111827"/>
                          </a:solidFill>
                          <a:effectLst/>
                          <a:hlinkClick r:id="rId3"/>
                        </a:rPr>
                        <a:t> build</a:t>
                      </a:r>
                      <a:endParaRPr lang="en-US" sz="2400" b="0" dirty="0">
                        <a:effectLst/>
                      </a:endParaRPr>
                    </a:p>
                  </a:txBody>
                  <a:tcPr marL="57979" marR="57979" marT="28990" marB="28990" anchor="ctr"/>
                </a:tc>
                <a:tc>
                  <a:txBody>
                    <a:bodyPr/>
                    <a:lstStyle/>
                    <a:p>
                      <a:pPr fontAlgn="ctr">
                        <a:buNone/>
                      </a:pPr>
                      <a:r>
                        <a:rPr lang="en-US" sz="2400" b="0" dirty="0">
                          <a:effectLst/>
                        </a:rPr>
                        <a:t>Builds a Docker image of your LangGraph API server for deployment.</a:t>
                      </a:r>
                    </a:p>
                  </a:txBody>
                  <a:tcPr marL="57979" marR="57979" marT="28990" marB="28990" anchor="ctr"/>
                </a:tc>
                <a:extLst>
                  <a:ext uri="{0D108BD9-81ED-4DB2-BD59-A6C34878D82A}">
                    <a16:rowId xmlns:a16="http://schemas.microsoft.com/office/drawing/2014/main" val="3881132065"/>
                  </a:ext>
                </a:extLst>
              </a:tr>
              <a:tr h="927664">
                <a:tc>
                  <a:txBody>
                    <a:bodyPr/>
                    <a:lstStyle/>
                    <a:p>
                      <a:pPr fontAlgn="ctr">
                        <a:buNone/>
                      </a:pPr>
                      <a:r>
                        <a:rPr lang="en-US" sz="2400" b="0" u="none" strike="noStrike" dirty="0" err="1">
                          <a:solidFill>
                            <a:srgbClr val="111827"/>
                          </a:solidFill>
                          <a:effectLst/>
                          <a:hlinkClick r:id="rId4"/>
                        </a:rPr>
                        <a:t>langgraph</a:t>
                      </a:r>
                      <a:r>
                        <a:rPr lang="en-US" sz="2400" b="0" u="none" strike="noStrike" dirty="0">
                          <a:solidFill>
                            <a:srgbClr val="111827"/>
                          </a:solidFill>
                          <a:effectLst/>
                          <a:hlinkClick r:id="rId4"/>
                        </a:rPr>
                        <a:t> deploy</a:t>
                      </a:r>
                      <a:endParaRPr lang="en-US" sz="2400" b="0" dirty="0">
                        <a:effectLst/>
                      </a:endParaRPr>
                    </a:p>
                  </a:txBody>
                  <a:tcPr marL="57979" marR="57979" marT="28990" marB="28990" anchor="ctr"/>
                </a:tc>
                <a:tc>
                  <a:txBody>
                    <a:bodyPr/>
                    <a:lstStyle/>
                    <a:p>
                      <a:pPr fontAlgn="ctr">
                        <a:buNone/>
                      </a:pPr>
                      <a:r>
                        <a:rPr lang="en-US" sz="2400" b="0" dirty="0">
                          <a:effectLst/>
                        </a:rPr>
                        <a:t>Builds and deploys a LangGraph image directly to LangSmith Deployments in a single step.</a:t>
                      </a:r>
                    </a:p>
                  </a:txBody>
                  <a:tcPr marL="57979" marR="57979" marT="28990" marB="28990" anchor="ctr"/>
                </a:tc>
                <a:extLst>
                  <a:ext uri="{0D108BD9-81ED-4DB2-BD59-A6C34878D82A}">
                    <a16:rowId xmlns:a16="http://schemas.microsoft.com/office/drawing/2014/main" val="1881845855"/>
                  </a:ext>
                </a:extLst>
              </a:tr>
              <a:tr h="753727">
                <a:tc>
                  <a:txBody>
                    <a:bodyPr/>
                    <a:lstStyle/>
                    <a:p>
                      <a:pPr fontAlgn="ctr">
                        <a:buNone/>
                      </a:pPr>
                      <a:r>
                        <a:rPr lang="en-US" sz="2400" b="0" u="none" strike="noStrike" dirty="0" err="1">
                          <a:solidFill>
                            <a:srgbClr val="111827"/>
                          </a:solidFill>
                          <a:effectLst/>
                          <a:hlinkClick r:id="rId5"/>
                        </a:rPr>
                        <a:t>langgraph</a:t>
                      </a:r>
                      <a:r>
                        <a:rPr lang="en-US" sz="2400" b="0" u="none" strike="noStrike" dirty="0">
                          <a:solidFill>
                            <a:srgbClr val="111827"/>
                          </a:solidFill>
                          <a:effectLst/>
                          <a:hlinkClick r:id="rId5"/>
                        </a:rPr>
                        <a:t> </a:t>
                      </a:r>
                      <a:r>
                        <a:rPr lang="en-US" sz="2400" b="0" u="none" strike="noStrike" dirty="0" err="1">
                          <a:solidFill>
                            <a:srgbClr val="111827"/>
                          </a:solidFill>
                          <a:effectLst/>
                          <a:hlinkClick r:id="rId5"/>
                        </a:rPr>
                        <a:t>dockerfile</a:t>
                      </a:r>
                      <a:endParaRPr lang="en-US" sz="2400" b="0" dirty="0">
                        <a:effectLst/>
                      </a:endParaRPr>
                    </a:p>
                  </a:txBody>
                  <a:tcPr marL="57979" marR="57979" marT="28990" marB="28990" anchor="ctr"/>
                </a:tc>
                <a:tc>
                  <a:txBody>
                    <a:bodyPr/>
                    <a:lstStyle/>
                    <a:p>
                      <a:pPr fontAlgn="ctr">
                        <a:buNone/>
                      </a:pPr>
                      <a:r>
                        <a:rPr lang="en-US" sz="2400" b="0">
                          <a:effectLst/>
                        </a:rPr>
                        <a:t>Emits a Dockerfile derived from your config for custom builds.</a:t>
                      </a:r>
                    </a:p>
                  </a:txBody>
                  <a:tcPr marL="57979" marR="57979" marT="28990" marB="28990" anchor="ctr"/>
                </a:tc>
                <a:extLst>
                  <a:ext uri="{0D108BD9-81ED-4DB2-BD59-A6C34878D82A}">
                    <a16:rowId xmlns:a16="http://schemas.microsoft.com/office/drawing/2014/main" val="3664744800"/>
                  </a:ext>
                </a:extLst>
              </a:tr>
              <a:tr h="1449476">
                <a:tc>
                  <a:txBody>
                    <a:bodyPr/>
                    <a:lstStyle/>
                    <a:p>
                      <a:pPr fontAlgn="ctr">
                        <a:buNone/>
                      </a:pPr>
                      <a:r>
                        <a:rPr lang="en-US" sz="2400" b="0" u="none" strike="noStrike" dirty="0" err="1">
                          <a:solidFill>
                            <a:srgbClr val="111827"/>
                          </a:solidFill>
                          <a:effectLst/>
                          <a:hlinkClick r:id="rId6"/>
                        </a:rPr>
                        <a:t>langgraph</a:t>
                      </a:r>
                      <a:r>
                        <a:rPr lang="en-US" sz="2400" b="0" u="none" strike="noStrike" dirty="0">
                          <a:solidFill>
                            <a:srgbClr val="111827"/>
                          </a:solidFill>
                          <a:effectLst/>
                          <a:hlinkClick r:id="rId6"/>
                        </a:rPr>
                        <a:t> up</a:t>
                      </a:r>
                      <a:endParaRPr lang="en-US" sz="2400" b="0" dirty="0">
                        <a:effectLst/>
                      </a:endParaRPr>
                    </a:p>
                  </a:txBody>
                  <a:tcPr marL="57979" marR="57979" marT="28990" marB="28990" anchor="ctr"/>
                </a:tc>
                <a:tc>
                  <a:txBody>
                    <a:bodyPr/>
                    <a:lstStyle/>
                    <a:p>
                      <a:pPr fontAlgn="ctr">
                        <a:buNone/>
                      </a:pPr>
                      <a:r>
                        <a:rPr lang="en-US" sz="2400" b="0" dirty="0">
                          <a:effectLst/>
                        </a:rPr>
                        <a:t>Starts the LangGraph API server locally in Docker. Requires Docker running; LangSmith API key for local dev; license for production.</a:t>
                      </a:r>
                    </a:p>
                  </a:txBody>
                  <a:tcPr marL="57979" marR="57979" marT="28990" marB="28990" anchor="ctr"/>
                </a:tc>
                <a:extLst>
                  <a:ext uri="{0D108BD9-81ED-4DB2-BD59-A6C34878D82A}">
                    <a16:rowId xmlns:a16="http://schemas.microsoft.com/office/drawing/2014/main" val="3985155231"/>
                  </a:ext>
                </a:extLst>
              </a:tr>
            </a:tbl>
          </a:graphicData>
        </a:graphic>
      </p:graphicFrame>
    </p:spTree>
    <p:extLst>
      <p:ext uri="{BB962C8B-B14F-4D97-AF65-F5344CB8AC3E}">
        <p14:creationId xmlns:p14="http://schemas.microsoft.com/office/powerpoint/2010/main" val="1275332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57BF-1DAD-769A-BCA5-0C002FE2B6E2}"/>
              </a:ext>
            </a:extLst>
          </p:cNvPr>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fontScale="90000"/>
          </a:bodyPr>
          <a:lstStyle/>
          <a:p>
            <a:r>
              <a:rPr lang="en-US" dirty="0" err="1"/>
              <a:t>Langsmith</a:t>
            </a:r>
            <a:r>
              <a:rPr lang="en-US" dirty="0"/>
              <a:t> Local Development Server</a:t>
            </a:r>
          </a:p>
        </p:txBody>
      </p:sp>
      <p:sp>
        <p:nvSpPr>
          <p:cNvPr id="3" name="Content Placeholder 2">
            <a:extLst>
              <a:ext uri="{FF2B5EF4-FFF2-40B4-BE49-F238E27FC236}">
                <a16:creationId xmlns:a16="http://schemas.microsoft.com/office/drawing/2014/main" id="{4E998DF6-4703-5244-463B-294E598E19C9}"/>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pPr marL="0" indent="0">
              <a:buNone/>
            </a:pPr>
            <a:r>
              <a:rPr lang="en-US" sz="4000" dirty="0">
                <a:latin typeface="Consolas" panose="020B0609020204030204" pitchFamily="49" charset="0"/>
              </a:rPr>
              <a:t>c:\&gt;langgraph dev</a:t>
            </a:r>
          </a:p>
          <a:p>
            <a:pPr marL="0" indent="0">
              <a:buNone/>
            </a:pPr>
            <a:r>
              <a:rPr lang="en-US" sz="4000" dirty="0" err="1">
                <a:latin typeface="Consolas" panose="020B0609020204030204" pitchFamily="49" charset="0"/>
              </a:rPr>
              <a:t>INFO:langgraph_api.cli</a:t>
            </a:r>
            <a:r>
              <a:rPr lang="en-US" sz="4000" dirty="0">
                <a:latin typeface="Consolas" panose="020B0609020204030204" pitchFamily="49" charset="0"/>
              </a:rPr>
              <a:t>:</a:t>
            </a:r>
          </a:p>
          <a:p>
            <a:pPr marL="0" indent="0">
              <a:buNone/>
            </a:pPr>
            <a:endParaRPr lang="en-US" sz="2200" dirty="0">
              <a:latin typeface="Consolas" panose="020B0609020204030204" pitchFamily="49" charset="0"/>
            </a:endParaRPr>
          </a:p>
          <a:p>
            <a:pPr marL="0" indent="0">
              <a:buNone/>
            </a:pPr>
            <a:r>
              <a:rPr lang="en-US" sz="4000" dirty="0">
                <a:latin typeface="Consolas" panose="020B0609020204030204" pitchFamily="49" charset="0"/>
              </a:rPr>
              <a:t>        Welcome to</a:t>
            </a:r>
          </a:p>
          <a:p>
            <a:pPr marL="0" indent="0">
              <a:buNone/>
            </a:pPr>
            <a:endParaRPr lang="en-US" sz="1900" dirty="0">
              <a:latin typeface="Consolas" panose="020B0609020204030204" pitchFamily="49" charset="0"/>
            </a:endParaRPr>
          </a:p>
          <a:p>
            <a:pPr marL="285750" lvl="2" indent="0">
              <a:buNone/>
            </a:pPr>
            <a:r>
              <a:rPr lang="en-US" sz="2400" dirty="0">
                <a:latin typeface="Consolas" panose="020B0609020204030204" pitchFamily="49" charset="0"/>
              </a:rPr>
              <a:t>╦  ┌─┐┌┐┌┌─┐╔═╗┬─┐┌─┐┌─┐┬ ┬</a:t>
            </a:r>
          </a:p>
          <a:p>
            <a:pPr marL="285750" lvl="2" indent="0">
              <a:buNone/>
            </a:pPr>
            <a:r>
              <a:rPr lang="en-US" sz="2400" dirty="0">
                <a:latin typeface="Consolas" panose="020B0609020204030204" pitchFamily="49" charset="0"/>
              </a:rPr>
              <a:t>║  ├─┤││││ ┬║ ╦├┬┘├─┤├─┘├─┤</a:t>
            </a:r>
          </a:p>
          <a:p>
            <a:pPr marL="285750" lvl="2" indent="0">
              <a:buNone/>
            </a:pPr>
            <a:r>
              <a:rPr lang="en-US" sz="2400" dirty="0">
                <a:latin typeface="Consolas" panose="020B0609020204030204" pitchFamily="49" charset="0"/>
              </a:rPr>
              <a:t>╩═╝┴ ┴┘└┘└─┘╚═╝┴└─┴ ┴┴  ┴ ┴</a:t>
            </a:r>
          </a:p>
          <a:p>
            <a:pPr marL="0" indent="0">
              <a:buNone/>
            </a:pPr>
            <a:endParaRPr lang="en-US" sz="1900" dirty="0">
              <a:latin typeface="Consolas" panose="020B0609020204030204" pitchFamily="49" charset="0"/>
            </a:endParaRPr>
          </a:p>
          <a:p>
            <a:pPr marL="0" indent="0">
              <a:buNone/>
            </a:pPr>
            <a:r>
              <a:rPr lang="en-US" dirty="0">
                <a:latin typeface="Consolas" panose="020B0609020204030204" pitchFamily="49" charset="0"/>
              </a:rPr>
              <a:t>- 🚀 API: http://127.0.0.1:2024</a:t>
            </a:r>
          </a:p>
          <a:p>
            <a:pPr marL="0" indent="0">
              <a:buNone/>
            </a:pPr>
            <a:r>
              <a:rPr lang="en-US" dirty="0">
                <a:latin typeface="Consolas" panose="020B0609020204030204" pitchFamily="49" charset="0"/>
              </a:rPr>
              <a:t>- 🎨 Studio UI: https://smith.langchain.com/studio/?baseUrl=http://127.0.0.1:2024</a:t>
            </a:r>
          </a:p>
          <a:p>
            <a:pPr marL="0" indent="0">
              <a:buNone/>
            </a:pPr>
            <a:r>
              <a:rPr lang="en-US" dirty="0">
                <a:latin typeface="Consolas" panose="020B0609020204030204" pitchFamily="49" charset="0"/>
              </a:rPr>
              <a:t>- 📚 API Docs: http://127.0.0.1:2024/docs</a:t>
            </a:r>
          </a:p>
          <a:p>
            <a:pPr marL="0" indent="0">
              <a:buNone/>
            </a:pPr>
            <a:endParaRPr lang="en-US" sz="1900" dirty="0">
              <a:latin typeface="Consolas" panose="020B0609020204030204" pitchFamily="49" charset="0"/>
            </a:endParaRPr>
          </a:p>
          <a:p>
            <a:pPr marL="0" indent="0">
              <a:buNone/>
            </a:pPr>
            <a:r>
              <a:rPr lang="en-US" sz="2900" dirty="0">
                <a:latin typeface="Consolas" panose="020B0609020204030204" pitchFamily="49" charset="0"/>
              </a:rPr>
              <a:t>This in-memory server is designed for development and testing.</a:t>
            </a:r>
          </a:p>
          <a:p>
            <a:pPr marL="0" indent="0">
              <a:buNone/>
            </a:pPr>
            <a:r>
              <a:rPr lang="en-US" sz="2900" dirty="0">
                <a:latin typeface="Consolas" panose="020B0609020204030204" pitchFamily="49" charset="0"/>
              </a:rPr>
              <a:t>For production use, please use LangSmith Deployment.</a:t>
            </a:r>
          </a:p>
        </p:txBody>
      </p:sp>
    </p:spTree>
    <p:extLst>
      <p:ext uri="{BB962C8B-B14F-4D97-AF65-F5344CB8AC3E}">
        <p14:creationId xmlns:p14="http://schemas.microsoft.com/office/powerpoint/2010/main" val="3407071335"/>
      </p:ext>
    </p:extLst>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Human-in-the-Loop</a:t>
            </a:r>
          </a:p>
        </p:txBody>
      </p:sp>
      <p:sp>
        <p:nvSpPr>
          <p:cNvPr id="3" name="Text Placeholder 2"/>
          <p:cNvSpPr>
            <a:spLocks noGrp="1"/>
          </p:cNvSpPr>
          <p:nvPr>
            <p:ph type="body" idx="1"/>
          </p:nvPr>
        </p:nvSpPr>
        <p:spPr/>
        <p:txBody>
          <a:bodyPr/>
          <a:lstStyle/>
          <a:p>
            <a:r>
              <a:t>Gating agent actions with human approval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Human-in-the-Loop?</a:t>
            </a:r>
          </a:p>
        </p:txBody>
      </p:sp>
      <p:sp>
        <p:nvSpPr>
          <p:cNvPr id="3" name="Content Placeholder 2"/>
          <p:cNvSpPr>
            <a:spLocks noGrp="1"/>
          </p:cNvSpPr>
          <p:nvPr>
            <p:ph idx="1"/>
          </p:nvPr>
        </p:nvSpPr>
        <p:spPr/>
        <p:txBody>
          <a:bodyPr/>
          <a:lstStyle/>
          <a:p>
            <a:pPr/>
            <a:r>
              <a:t>Production agents need guardrails for high-stakes actions</a:t>
            </a:r>
          </a:p>
          <a:p>
            <a:pPr/>
            <a:r>
              <a:t>Examples of actions requiring human approval:</a:t>
            </a:r>
          </a:p>
          <a:p>
            <a:pPr lvl="1"/>
            <a:r>
              <a:t>Sending emails or messages</a:t>
            </a:r>
          </a:p>
          <a:p>
            <a:pPr lvl="1"/>
            <a:r>
              <a:t>Making purchases or financial transactions</a:t>
            </a:r>
          </a:p>
          <a:p>
            <a:pPr lvl="1"/>
            <a:r>
              <a:t>Modifying production databases</a:t>
            </a:r>
          </a:p>
          <a:p>
            <a:pPr lvl="1"/>
            <a:r>
              <a:t>Deploying code changes</a:t>
            </a:r>
          </a:p>
          <a:p>
            <a:pPr/>
            <a:r>
              <a:t>LangGraph provides two interrupt mechanisms:</a:t>
            </a:r>
          </a:p>
          <a:p>
            <a:pPr lvl="1"/>
            <a:r>
              <a:t>interrupt_before / interrupt_after (static, compile-time)</a:t>
            </a:r>
          </a:p>
          <a:p>
            <a:pPr lvl="1"/>
            <a:r>
              <a:t>interrupt() function (dynamic, inside node code)</a:t>
            </a:r>
          </a:p>
          <a:p>
            <a:pPr/>
            <a:r>
              <a:t>Both require a checkpointer to save state at the pause point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interrupt_before: Gate Tool Execution</a:t>
            </a:r>
          </a:p>
        </p:txBody>
      </p:sp>
      <p:sp>
        <p:nvSpPr>
          <p:cNvPr id="3" name="Content Placeholder 2"/>
          <p:cNvSpPr>
            <a:spLocks noGrp="1"/>
          </p:cNvSpPr>
          <p:nvPr>
            <p:ph idx="1"/>
          </p:nvPr>
        </p:nvSpPr>
        <p:spPr/>
        <p:txBody>
          <a:bodyPr/>
          <a:lstStyle/>
          <a:p>
            <a:pPr/>
            <a:r>
              <a:t>Pause the graph BEFORE a specific node executes</a:t>
            </a:r>
          </a:p>
          <a:p>
            <a:pPr/>
            <a:r>
              <a:t>graph = builder.compile(</a:t>
            </a:r>
          </a:p>
          <a:p>
            <a:pPr lvl="1"/>
            <a:r>
              <a:t>checkpointer=MemorySaver(),</a:t>
            </a:r>
          </a:p>
          <a:p>
            <a:pPr lvl="1"/>
            <a:r>
              <a:t>interrupt_before=['tools']  # Pause before tools run</a:t>
            </a:r>
          </a:p>
          <a:p>
            <a:pPr/>
            <a:r>
              <a:t>)</a:t>
            </a:r>
          </a:p>
          <a:p>
            <a:pPr/>
          </a:p>
          <a:p>
            <a:pPr/>
            <a:r>
              <a:t>When the LLM decides to call a tool, execution stops</a:t>
            </a:r>
          </a:p>
          <a:p>
            <a:pPr/>
            <a:r>
              <a:t>Use get_state(config) to inspect what's pending</a:t>
            </a:r>
          </a:p>
          <a:p>
            <a:pPr/>
            <a:r>
              <a:t>Resume with graph.invoke(None, config)  # Approve</a:t>
            </a:r>
          </a:p>
          <a:p>
            <a:pPr/>
            <a:r>
              <a:t>Or update_state() to reject/modify the action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Approve and Reject Patterns</a:t>
            </a:r>
          </a:p>
        </p:txBody>
      </p:sp>
      <p:sp>
        <p:nvSpPr>
          <p:cNvPr id="3" name="Content Placeholder 2"/>
          <p:cNvSpPr>
            <a:spLocks noGrp="1"/>
          </p:cNvSpPr>
          <p:nvPr>
            <p:ph idx="1"/>
          </p:nvPr>
        </p:nvSpPr>
        <p:spPr/>
        <p:txBody>
          <a:bodyPr/>
          <a:lstStyle/>
          <a:p>
            <a:pPr/>
            <a:r>
              <a:t>APPROVE: Resume execution from pause point</a:t>
            </a:r>
          </a:p>
          <a:p>
            <a:pPr lvl="1"/>
            <a:r>
              <a:t>result = graph.invoke(None, config)</a:t>
            </a:r>
          </a:p>
          <a:p>
            <a:pPr/>
          </a:p>
          <a:p>
            <a:pPr/>
            <a:r>
              <a:t>REJECT: Update state to override the action</a:t>
            </a:r>
          </a:p>
          <a:p>
            <a:pPr lvl="1"/>
            <a:r>
              <a:t>graph.update_state(</a:t>
            </a:r>
          </a:p>
          <a:p>
            <a:pPr lvl="1"/>
            <a:r>
              <a:t>config,</a:t>
            </a:r>
          </a:p>
          <a:p>
            <a:pPr lvl="1"/>
            <a:r>
              <a:t>{'messages': [ToolMessage(</a:t>
            </a:r>
          </a:p>
          <a:p>
            <a:pPr lvl="1"/>
            <a:r>
              <a:t>content='Action denied by reviewer',</a:t>
            </a:r>
          </a:p>
          <a:p>
            <a:pPr lvl="1"/>
            <a:r>
              <a:t>tool_call_id=tool_call_id</a:t>
            </a:r>
          </a:p>
          <a:p>
            <a:pPr lvl="1"/>
            <a:r>
              <a:t>)]},</a:t>
            </a:r>
          </a:p>
          <a:p>
            <a:pPr lvl="1"/>
            <a:r>
              <a:t>as_node='tools'  # Act as the tools node</a:t>
            </a:r>
          </a:p>
          <a:p>
            <a:pPr lvl="1"/>
            <a:r>
              <a:t>)</a:t>
            </a:r>
          </a:p>
          <a:p>
            <a:pPr lvl="1"/>
            <a:r>
              <a:t>result = graph.invoke(None, config)  # Resume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Human-in-the-Loop</a:t>
            </a:r>
          </a:p>
        </p:txBody>
      </p:sp>
      <p:sp>
        <p:nvSpPr>
          <p:cNvPr id="3" name="Content Placeholder 2"/>
          <p:cNvSpPr>
            <a:spLocks noGrp="1"/>
          </p:cNvSpPr>
          <p:nvPr>
            <p:ph idx="1"/>
          </p:nvPr>
        </p:nvSpPr>
        <p:spPr/>
        <p:txBody>
          <a:bodyPr/>
          <a:lstStyle/>
          <a:p>
            <a:pPr/>
            <a:r>
              <a:t>DEMO (Human-in-the-Loop)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Multi-Agent Systems</a:t>
            </a:r>
          </a:p>
        </p:txBody>
      </p:sp>
      <p:sp>
        <p:nvSpPr>
          <p:cNvPr id="3" name="Text Placeholder 2"/>
          <p:cNvSpPr>
            <a:spLocks noGrp="1"/>
          </p:cNvSpPr>
          <p:nvPr>
            <p:ph type="body" idx="1"/>
          </p:nvPr>
        </p:nvSpPr>
        <p:spPr/>
        <p:txBody>
          <a:bodyPr/>
          <a:lstStyle/>
          <a:p>
            <a:r>
              <a:t>Coordinating multiple specialized agents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Multi-Agent Architecture Patterns</a:t>
            </a:r>
          </a:p>
        </p:txBody>
      </p:sp>
      <p:sp>
        <p:nvSpPr>
          <p:cNvPr id="3" name="Content Placeholder 2"/>
          <p:cNvSpPr>
            <a:spLocks noGrp="1"/>
          </p:cNvSpPr>
          <p:nvPr>
            <p:ph idx="1"/>
          </p:nvPr>
        </p:nvSpPr>
        <p:spPr/>
        <p:txBody>
          <a:bodyPr/>
          <a:lstStyle/>
          <a:p>
            <a:pPr/>
            <a:r>
              <a:t>Five official patterns (from LangGraph docs):</a:t>
            </a:r>
          </a:p>
          <a:p>
            <a:pPr lvl="1"/>
            <a:r>
              <a:t>Subagents: Supervisor coordinates specialist agents as tools</a:t>
            </a:r>
          </a:p>
          <a:p>
            <a:pPr lvl="1"/>
            <a:r>
              <a:t>Handoffs: Agents transfer control via Command primitive</a:t>
            </a:r>
          </a:p>
          <a:p>
            <a:pPr lvl="1"/>
            <a:r>
              <a:t>Skills: Specialized prompts loaded on-demand</a:t>
            </a:r>
          </a:p>
          <a:p>
            <a:pPr lvl="1"/>
            <a:r>
              <a:t>Router: Classify input, route to specialist</a:t>
            </a:r>
          </a:p>
          <a:p>
            <a:pPr lvl="1"/>
            <a:r>
              <a:t>Custom Workflow: Bespoke LangGraph graph</a:t>
            </a:r>
          </a:p>
          <a:p>
            <a:pPr/>
          </a:p>
          <a:p>
            <a:pPr/>
            <a:r>
              <a:t>When to use multi-agent over single agent:</a:t>
            </a:r>
          </a:p>
          <a:p>
            <a:pPr lvl="1"/>
            <a:r>
              <a:t>Too many tools → poor tool selection</a:t>
            </a:r>
          </a:p>
          <a:p>
            <a:pPr lvl="1"/>
            <a:r>
              <a:t>Domain-specific knowledge requiring long prompts</a:t>
            </a:r>
          </a:p>
          <a:p>
            <a:pPr lvl="1"/>
            <a:r>
              <a:t>Sequential constraints (unlock capabilities after conditions)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Supervisor Pattern</a:t>
            </a:r>
          </a:p>
        </p:txBody>
      </p:sp>
      <p:sp>
        <p:nvSpPr>
          <p:cNvPr id="3" name="Content Placeholder 2"/>
          <p:cNvSpPr>
            <a:spLocks noGrp="1"/>
          </p:cNvSpPr>
          <p:nvPr>
            <p:ph idx="1"/>
          </p:nvPr>
        </p:nvSpPr>
        <p:spPr/>
        <p:txBody>
          <a:bodyPr/>
          <a:lstStyle/>
          <a:p>
            <a:pPr/>
            <a:r>
              <a:t>A coordinator agent routes tasks to specialists</a:t>
            </a:r>
          </a:p>
          <a:p>
            <a:pPr/>
          </a:p>
          <a:p>
            <a:pPr/>
            <a:r>
              <a:t>User → Supervisor → Research Agent</a:t>
            </a:r>
          </a:p>
          <a:p>
            <a:pPr/>
            <a:r>
              <a:t>                    → Math Agent</a:t>
            </a:r>
          </a:p>
          <a:p>
            <a:pPr/>
            <a:r>
              <a:t>                    → Writing Agent</a:t>
            </a:r>
          </a:p>
          <a:p>
            <a:pPr/>
          </a:p>
          <a:p>
            <a:pPr/>
            <a:r>
              <a:t>Supervisor: Uses LLM to classify and route</a:t>
            </a:r>
          </a:p>
          <a:p>
            <a:pPr/>
            <a:r>
              <a:t>Specialist: Has own tools and system prompt</a:t>
            </a:r>
          </a:p>
          <a:p>
            <a:pPr/>
            <a:r>
              <a:t>Shared state: Agents communicate via MessagesState</a:t>
            </a:r>
          </a:p>
          <a:p>
            <a:pPr/>
            <a:r>
              <a:t>Routing: Conditional edges based on supervisor decision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Sequential Handoff Pattern</a:t>
            </a:r>
          </a:p>
        </p:txBody>
      </p:sp>
      <p:sp>
        <p:nvSpPr>
          <p:cNvPr id="3" name="Content Placeholder 2"/>
          <p:cNvSpPr>
            <a:spLocks noGrp="1"/>
          </p:cNvSpPr>
          <p:nvPr>
            <p:ph idx="1"/>
          </p:nvPr>
        </p:nvSpPr>
        <p:spPr/>
        <p:txBody>
          <a:bodyPr/>
          <a:lstStyle/>
          <a:p>
            <a:pPr/>
            <a:r>
              <a:t>Agents collaborate in a pipeline</a:t>
            </a:r>
          </a:p>
          <a:p>
            <a:pPr/>
          </a:p>
          <a:p>
            <a:pPr/>
            <a:r>
              <a:t>Researcher → Writer → Editor → END</a:t>
            </a:r>
          </a:p>
          <a:p>
            <a:pPr/>
          </a:p>
          <a:p>
            <a:pPr/>
            <a:r>
              <a:t>Each agent adds to shared state:</a:t>
            </a:r>
          </a:p>
          <a:p>
            <a:pPr lvl="1"/>
            <a:r>
              <a:t>Researcher: Fills 'research_notes' field</a:t>
            </a:r>
          </a:p>
          <a:p>
            <a:pPr lvl="1"/>
            <a:r>
              <a:t>Writer: Uses notes, fills 'draft' field</a:t>
            </a:r>
          </a:p>
          <a:p>
            <a:pPr lvl="1"/>
            <a:r>
              <a:t>Editor: Uses draft, fills 'final_output' field</a:t>
            </a:r>
          </a:p>
          <a:p>
            <a:pPr/>
          </a:p>
          <a:p>
            <a:pPr/>
            <a:r>
              <a:t>Key: Use typed state fields for inter-agent communication</a:t>
            </a:r>
          </a:p>
          <a:p>
            <a:pPr/>
            <a:r>
              <a:t>NOT just messages — structured fields are clearer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Multi-Agent Systems</a:t>
            </a:r>
          </a:p>
        </p:txBody>
      </p:sp>
      <p:sp>
        <p:nvSpPr>
          <p:cNvPr id="3" name="Content Placeholder 2"/>
          <p:cNvSpPr>
            <a:spLocks noGrp="1"/>
          </p:cNvSpPr>
          <p:nvPr>
            <p:ph idx="1"/>
          </p:nvPr>
        </p:nvSpPr>
        <p:spPr/>
        <p:txBody>
          <a:bodyPr/>
          <a:lstStyle/>
          <a:p>
            <a:pPr/>
            <a:r>
              <a:t>DEMO (Multi-Agent Systems)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Plan-and-Execute</a:t>
            </a:r>
          </a:p>
        </p:txBody>
      </p:sp>
      <p:sp>
        <p:nvSpPr>
          <p:cNvPr id="3" name="Text Placeholder 2"/>
          <p:cNvSpPr>
            <a:spLocks noGrp="1"/>
          </p:cNvSpPr>
          <p:nvPr>
            <p:ph type="body" idx="1"/>
          </p:nvPr>
        </p:nvSpPr>
        <p:spPr/>
        <p:txBody>
          <a:bodyPr/>
          <a:lstStyle/>
          <a:p>
            <a:r>
              <a:t>Separating planning from execution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ReAct vs Plan-and-Execute</a:t>
            </a:r>
          </a:p>
        </p:txBody>
      </p:sp>
      <p:sp>
        <p:nvSpPr>
          <p:cNvPr id="3" name="Content Placeholder 2"/>
          <p:cNvSpPr>
            <a:spLocks noGrp="1"/>
          </p:cNvSpPr>
          <p:nvPr>
            <p:ph idx="1"/>
          </p:nvPr>
        </p:nvSpPr>
        <p:spPr/>
        <p:txBody>
          <a:bodyPr/>
          <a:lstStyle/>
          <a:p>
            <a:pPr/>
            <a:r>
              <a:t>ReAct: Think one step at a time</a:t>
            </a:r>
          </a:p>
          <a:p>
            <a:pPr lvl="1"/>
            <a:r>
              <a:t>Thought → Act → Observe → repeat</a:t>
            </a:r>
          </a:p>
          <a:p>
            <a:pPr lvl="1"/>
            <a:r>
              <a:t>Each step requires full LLM reasoning</a:t>
            </a:r>
          </a:p>
          <a:p>
            <a:pPr lvl="1"/>
            <a:r>
              <a:t>May produce sub-optimal trajectories</a:t>
            </a:r>
          </a:p>
          <a:p>
            <a:pPr/>
          </a:p>
          <a:p>
            <a:pPr/>
            <a:r>
              <a:t>Plan-and-Execute: Plan first, then execute</a:t>
            </a:r>
          </a:p>
          <a:p>
            <a:pPr lvl="1"/>
            <a:r>
              <a:t>Planner generates full multi-step plan upfront</a:t>
            </a:r>
          </a:p>
          <a:p>
            <a:pPr lvl="1"/>
            <a:r>
              <a:t>Executor carries out each step (can use smaller model)</a:t>
            </a:r>
          </a:p>
          <a:p>
            <a:pPr lvl="1"/>
            <a:r>
              <a:t>Replanner adjusts remaining steps after each execution</a:t>
            </a:r>
          </a:p>
          <a:p>
            <a:pPr/>
          </a:p>
          <a:p>
            <a:pPr/>
            <a:r>
              <a:t>Benefits: Faster, cheaper, better trajectory quality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Plan-and-Execute Architecture</a:t>
            </a:r>
          </a:p>
        </p:txBody>
      </p:sp>
      <p:sp>
        <p:nvSpPr>
          <p:cNvPr id="3" name="Content Placeholder 2"/>
          <p:cNvSpPr>
            <a:spLocks noGrp="1"/>
          </p:cNvSpPr>
          <p:nvPr>
            <p:ph idx="1"/>
          </p:nvPr>
        </p:nvSpPr>
        <p:spPr/>
        <p:txBody>
          <a:bodyPr/>
          <a:lstStyle/>
          <a:p>
            <a:pPr/>
            <a:r>
              <a:t>State tracks: request, plan, completed steps, response</a:t>
            </a:r>
          </a:p>
          <a:p>
            <a:pPr/>
          </a:p>
          <a:p>
            <a:pPr/>
            <a:r>
              <a:t>START → Planner → Executor → Replanner → ...</a:t>
            </a:r>
          </a:p>
          <a:p>
            <a:pPr/>
            <a:r>
              <a:t>                                    │</a:t>
            </a:r>
          </a:p>
          <a:p>
            <a:pPr/>
            <a:r>
              <a:t>                           Done? → END</a:t>
            </a:r>
          </a:p>
          <a:p>
            <a:pPr/>
            <a:r>
              <a:t>                           No? → Executor (loop)</a:t>
            </a:r>
          </a:p>
          <a:p>
            <a:pPr/>
          </a:p>
          <a:p>
            <a:pPr/>
            <a:r>
              <a:t>Planner: Generates list of steps (structured output)</a:t>
            </a:r>
          </a:p>
          <a:p>
            <a:pPr/>
            <a:r>
              <a:t>Executor: Carries out one step using tools</a:t>
            </a:r>
          </a:p>
          <a:p>
            <a:pPr/>
            <a:r>
              <a:t>Replanner: Reviews progress, adjusts remaining plan</a:t>
            </a:r>
          </a:p>
          <a:p>
            <a:pPr lvl="1"/>
            <a:r>
              <a:t>Can respond directly if task is complete</a:t>
            </a:r>
          </a:p>
          <a:p>
            <a:pPr lvl="1"/>
            <a:r>
              <a:t>Or generate updated plan if more work needed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Plan-and-Execute</a:t>
            </a:r>
          </a:p>
        </p:txBody>
      </p:sp>
      <p:sp>
        <p:nvSpPr>
          <p:cNvPr id="3" name="Content Placeholder 2"/>
          <p:cNvSpPr>
            <a:spLocks noGrp="1"/>
          </p:cNvSpPr>
          <p:nvPr>
            <p:ph idx="1"/>
          </p:nvPr>
        </p:nvSpPr>
        <p:spPr/>
        <p:txBody>
          <a:bodyPr/>
          <a:lstStyle/>
          <a:p>
            <a:pPr/>
            <a:r>
              <a:t>DEMO (Plan-and-Execute)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690FE4800FD249B4F7FA7881F98304" ma:contentTypeVersion="7" ma:contentTypeDescription="Create a new document." ma:contentTypeScope="" ma:versionID="75802e7140972c8b702f8b8cf41cb3b2">
  <xsd:schema xmlns:xsd="http://www.w3.org/2001/XMLSchema" xmlns:xs="http://www.w3.org/2001/XMLSchema" xmlns:p="http://schemas.microsoft.com/office/2006/metadata/properties" xmlns:ns2="d1a07840-519b-4dc5-8d5c-c370d4eda4aa" targetNamespace="http://schemas.microsoft.com/office/2006/metadata/properties" ma:root="true" ma:fieldsID="7dea614b515926d4fe1cdabe58e6c93c" ns2:_="">
    <xsd:import namespace="d1a07840-519b-4dc5-8d5c-c370d4eda4a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a07840-519b-4dc5-8d5c-c370d4eda4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8A7574D-5204-4DEB-8C20-BDEC98BBB30B}">
  <ds:schemaRefs>
    <ds:schemaRef ds:uri="http://schemas.microsoft.com/sharepoint/v3/contenttype/forms"/>
  </ds:schemaRefs>
</ds:datastoreItem>
</file>

<file path=customXml/itemProps2.xml><?xml version="1.0" encoding="utf-8"?>
<ds:datastoreItem xmlns:ds="http://schemas.openxmlformats.org/officeDocument/2006/customXml" ds:itemID="{D36F9E5E-42A7-446E-AF7C-B8AC394EE6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a07840-519b-4dc5-8d5c-c370d4eda4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3EE306-2FD9-45DC-A92F-6A9B943A4366}">
  <ds:schemaRefs>
    <ds:schemaRef ds:uri="http://www.w3.org/XML/1998/namespace"/>
    <ds:schemaRef ds:uri="http://purl.org/dc/dcmitype/"/>
    <ds:schemaRef ds:uri="d0dd9118-6e5f-4512-bff3-ce1cbf7d82a0"/>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Integral</Template>
  <TotalTime>110</TotalTime>
  <Words>4751</Words>
  <Application>Microsoft Office PowerPoint</Application>
  <PresentationFormat>Widescreen</PresentationFormat>
  <Paragraphs>503</Paragraphs>
  <Slides>59</Slides>
  <Notes>13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59</vt:i4>
      </vt:variant>
    </vt:vector>
  </HeadingPairs>
  <TitlesOfParts>
    <vt:vector size="70" baseType="lpstr">
      <vt:lpstr>Aptos</vt:lpstr>
      <vt:lpstr>Arial</vt:lpstr>
      <vt:lpstr>Consolas</vt:lpstr>
      <vt:lpstr>IBM Plex Mono</vt:lpstr>
      <vt:lpstr>Roboto Slab Thin</vt:lpstr>
      <vt:lpstr>Segoe WPC</vt:lpstr>
      <vt:lpstr>Tw Cen MT</vt:lpstr>
      <vt:lpstr>Tw Cen MT Condensed</vt:lpstr>
      <vt:lpstr>Wingdings</vt:lpstr>
      <vt:lpstr>Wingdings 3</vt:lpstr>
      <vt:lpstr>Integral</vt:lpstr>
      <vt:lpstr>Langgraph</vt:lpstr>
      <vt:lpstr>Langgraph</vt:lpstr>
      <vt:lpstr>Langgraph (cont…)</vt:lpstr>
      <vt:lpstr>Langgraph - Multiactor</vt:lpstr>
      <vt:lpstr>Actor coordination</vt:lpstr>
      <vt:lpstr>Graph in langgraph (DAG!)</vt:lpstr>
      <vt:lpstr>Implementing a basic graph</vt:lpstr>
      <vt:lpstr>Graph building blocks</vt:lpstr>
      <vt:lpstr>Creating our first graph</vt:lpstr>
      <vt:lpstr>Conditional Edge</vt:lpstr>
      <vt:lpstr>DEMO (basic graph)</vt:lpstr>
      <vt:lpstr>Reducers</vt:lpstr>
      <vt:lpstr>Reducer patterns</vt:lpstr>
      <vt:lpstr>DEMO (reducers)</vt:lpstr>
      <vt:lpstr>Message reducer</vt:lpstr>
      <vt:lpstr>Reducer for Messages: MessageSState</vt:lpstr>
      <vt:lpstr>Langgraph Helpers</vt:lpstr>
      <vt:lpstr>DEMO (router)</vt:lpstr>
      <vt:lpstr>Agents-Like structure</vt:lpstr>
      <vt:lpstr>Agents in langgraph</vt:lpstr>
      <vt:lpstr>DEMO (Agents)</vt:lpstr>
      <vt:lpstr>DEMO (Agents with Memory)</vt:lpstr>
      <vt:lpstr>subgraphs</vt:lpstr>
      <vt:lpstr>subgraphs</vt:lpstr>
      <vt:lpstr>Subgraph patterns</vt:lpstr>
      <vt:lpstr>Invoking subgraph inside a node</vt:lpstr>
      <vt:lpstr>Add subgraph as node</vt:lpstr>
      <vt:lpstr>Subgraph as node: example</vt:lpstr>
      <vt:lpstr>Subgraph persistence</vt:lpstr>
      <vt:lpstr>Checkpointer inheritance</vt:lpstr>
      <vt:lpstr>Subgraph persistence </vt:lpstr>
      <vt:lpstr>DEMO (Subgraphs)</vt:lpstr>
      <vt:lpstr>Langgraph streaming</vt:lpstr>
      <vt:lpstr>Stream_mode="updates"</vt:lpstr>
      <vt:lpstr>Stream_mode=“messages"</vt:lpstr>
      <vt:lpstr>Other streaming modes</vt:lpstr>
      <vt:lpstr>PowerPoint Presentation</vt:lpstr>
      <vt:lpstr>Langraph - Persistence</vt:lpstr>
      <vt:lpstr>Langgraph - durability</vt:lpstr>
      <vt:lpstr>PowerPoint Presentation</vt:lpstr>
      <vt:lpstr>Durability modes in LangGraph</vt:lpstr>
      <vt:lpstr>PowerPoint Presentation</vt:lpstr>
      <vt:lpstr>Tasks</vt:lpstr>
      <vt:lpstr>tasks</vt:lpstr>
      <vt:lpstr>Deployment</vt:lpstr>
      <vt:lpstr>LangSmith Deployment</vt:lpstr>
      <vt:lpstr>Langsmith deployment (cont…)</vt:lpstr>
      <vt:lpstr>Agent Server</vt:lpstr>
      <vt:lpstr>Agent Server: Assistant</vt:lpstr>
      <vt:lpstr>Assistant</vt:lpstr>
      <vt:lpstr>Langgraph store</vt:lpstr>
      <vt:lpstr>Langgraph store</vt:lpstr>
      <vt:lpstr>Langgraph store</vt:lpstr>
      <vt:lpstr>Langgraph.JSON</vt:lpstr>
      <vt:lpstr>Langgraph.jSON</vt:lpstr>
      <vt:lpstr>Dependencies</vt:lpstr>
      <vt:lpstr>dependencies</vt:lpstr>
      <vt:lpstr>Langraph CLI</vt:lpstr>
      <vt:lpstr>Langsmith Local Development Server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Khawaja</dc:creator>
  <cp:lastModifiedBy>Ali Khawaja</cp:lastModifiedBy>
  <cp:revision>1</cp:revision>
  <dcterms:created xsi:type="dcterms:W3CDTF">2026-04-07T12:24:20Z</dcterms:created>
  <dcterms:modified xsi:type="dcterms:W3CDTF">2026-07-05T06:40:48Z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0x01010039690FE4800FD249B4F7FA7881F98304</vt:lpwstr>
  </property>
  <property fmtid="{D5CDD505-2E9C-101B-9397-08002B2CF9AE}" pid="3" name="MediaServiceImageTags">
    <vt:lpwstr/>
  </property>
</Properties>
</file>